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381" r:id="rId2"/>
    <p:sldId id="359" r:id="rId3"/>
    <p:sldId id="360" r:id="rId4"/>
    <p:sldId id="361" r:id="rId5"/>
    <p:sldId id="362" r:id="rId6"/>
    <p:sldId id="364" r:id="rId7"/>
    <p:sldId id="382" r:id="rId8"/>
    <p:sldId id="370" r:id="rId9"/>
    <p:sldId id="371" r:id="rId10"/>
    <p:sldId id="376" r:id="rId11"/>
    <p:sldId id="366" r:id="rId12"/>
    <p:sldId id="368" r:id="rId13"/>
    <p:sldId id="386" r:id="rId14"/>
    <p:sldId id="387" r:id="rId15"/>
    <p:sldId id="377" r:id="rId16"/>
    <p:sldId id="383" r:id="rId17"/>
    <p:sldId id="378" r:id="rId18"/>
    <p:sldId id="388" r:id="rId19"/>
    <p:sldId id="372" r:id="rId20"/>
    <p:sldId id="373" r:id="rId21"/>
    <p:sldId id="374" r:id="rId22"/>
  </p:sldIdLst>
  <p:sldSz cx="12192000" cy="6858000"/>
  <p:notesSz cx="6858000" cy="9144000"/>
  <p:custDataLst>
    <p:tags r:id="rId2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831" autoAdjust="0"/>
    <p:restoredTop sz="94660"/>
  </p:normalViewPr>
  <p:slideViewPr>
    <p:cSldViewPr snapToGrid="0">
      <p:cViewPr varScale="1">
        <p:scale>
          <a:sx n="90" d="100"/>
          <a:sy n="90" d="100"/>
        </p:scale>
        <p:origin x="620" y="72"/>
      </p:cViewPr>
      <p:guideLst>
        <p:guide orient="horz" pos="2160"/>
        <p:guide pos="3840"/>
      </p:guideLst>
    </p:cSldViewPr>
  </p:slideViewPr>
  <p:notesTextViewPr>
    <p:cViewPr>
      <p:scale>
        <a:sx n="1" d="1"/>
        <a:sy n="1" d="1"/>
      </p:scale>
      <p:origin x="0" y="0"/>
    </p:cViewPr>
  </p:notesTextViewPr>
  <p:notesViewPr>
    <p:cSldViewPr>
      <p:cViewPr>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gs" Target="tags/tag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pic>
        <p:nvPicPr>
          <p:cNvPr id="7" name="Picture 2"/>
          <p:cNvPicPr>
            <a:picLocks noChangeAspect="1" noChangeArrowheads="1"/>
          </p:cNvPicPr>
          <p:nvPr userDrawn="1"/>
        </p:nvPicPr>
        <p:blipFill>
          <a:blip r:embed="rId2">
            <a:alphaModFix amt="20000"/>
            <a:extLst>
              <a:ext uri="{BEBA8EAE-BF5A-486C-A8C5-ECC9F3942E4B}">
                <a14:imgProps xmlns:a14="http://schemas.microsoft.com/office/drawing/2010/main">
                  <a14:imgLayer r:embed="rId3">
                    <a14:imgEffect>
                      <a14:artisticBlur radius="0"/>
                    </a14:imgEffect>
                    <a14:imgEffect>
                      <a14:saturation sat="0"/>
                    </a14:imgEffect>
                  </a14:imgLayer>
                </a14:imgProps>
              </a:ext>
              <a:ext uri="{28A0092B-C50C-407E-A947-70E740481C1C}">
                <a14:useLocalDpi xmlns:a14="http://schemas.microsoft.com/office/drawing/2010/main"/>
              </a:ext>
            </a:extLst>
          </a:blip>
          <a:stretch>
            <a:fillRect/>
          </a:stretch>
        </p:blipFill>
        <p:spPr bwMode="auto">
          <a:xfrm>
            <a:off x="18036" y="7162800"/>
            <a:ext cx="12173964" cy="6858000"/>
          </a:xfrm>
          <a:prstGeom prst="rect">
            <a:avLst/>
          </a:prstGeom>
          <a:noFill/>
          <a:extLst>
            <a:ext uri="{909E8E84-426E-40DD-AFC4-6F175D3DCCD1}">
              <a14:hiddenFill xmlns:a14="http://schemas.microsoft.com/office/drawing/2010/main">
                <a:solidFill>
                  <a:srgbClr val="FFFFFF"/>
                </a:solidFill>
              </a14:hiddenFill>
            </a:ext>
          </a:extLst>
        </p:spPr>
      </p:pic>
      <p:sp>
        <p:nvSpPr>
          <p:cNvPr id="8" name="矩形 7"/>
          <p:cNvSpPr/>
          <p:nvPr userDrawn="1"/>
        </p:nvSpPr>
        <p:spPr>
          <a:xfrm>
            <a:off x="-12845144" y="0"/>
            <a:ext cx="12191999" cy="6858000"/>
          </a:xfrm>
          <a:prstGeom prst="rect">
            <a:avLst/>
          </a:prstGeom>
          <a:gradFill>
            <a:gsLst>
              <a:gs pos="0">
                <a:schemeClr val="bg1">
                  <a:lumMod val="85000"/>
                  <a:alpha val="30000"/>
                </a:schemeClr>
              </a:gs>
              <a:gs pos="100000">
                <a:schemeClr val="bg1">
                  <a:lumMod val="50000"/>
                  <a:alpha val="4000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BBC00459-53E5-4412-8876-49D6D1B8833D}" type="datetimeFigureOut">
              <a:rPr lang="zh-CN" altLang="en-US" smtClean="0"/>
              <a:t>2025/10/10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B8FFFC9-3761-4E05-B208-CCAC333BA1D2}" type="slidenum">
              <a:rPr lang="zh-CN" altLang="en-US" smtClean="0"/>
              <a:t>‹#›</a:t>
            </a:fld>
            <a:endParaRPr lang="zh-CN" altLang="en-US"/>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BBC00459-53E5-4412-8876-49D6D1B8833D}" type="datetimeFigureOut">
              <a:rPr lang="zh-CN" altLang="en-US" smtClean="0"/>
              <a:t>2025/10/10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B8FFFC9-3761-4E05-B208-CCAC333BA1D2}" type="slidenum">
              <a:rPr lang="zh-CN" altLang="en-US" smtClean="0"/>
              <a:t>‹#›</a:t>
            </a:fld>
            <a:endParaRPr lang="zh-CN" altLang="en-US"/>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BBC00459-53E5-4412-8876-49D6D1B8833D}" type="datetimeFigureOut">
              <a:rPr lang="zh-CN" altLang="en-US" smtClean="0"/>
              <a:t>2025/10/10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B8FFFC9-3761-4E05-B208-CCAC333BA1D2}" type="slidenum">
              <a:rPr lang="zh-CN" altLang="en-US" smtClean="0"/>
              <a:t>‹#›</a:t>
            </a:fld>
            <a:endParaRPr lang="zh-CN" altLang="en-US"/>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BBC00459-53E5-4412-8876-49D6D1B8833D}" type="datetimeFigureOut">
              <a:rPr lang="zh-CN" altLang="en-US" smtClean="0"/>
              <a:t>2025/10/10</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2B8FFFC9-3761-4E05-B208-CCAC333BA1D2}" type="slidenum">
              <a:rPr lang="zh-CN" altLang="en-US" smtClean="0"/>
              <a:t>‹#›</a:t>
            </a:fld>
            <a:endParaRPr lang="zh-CN" altLang="en-US"/>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BBC00459-53E5-4412-8876-49D6D1B8833D}" type="datetimeFigureOut">
              <a:rPr lang="zh-CN" altLang="en-US" smtClean="0"/>
              <a:t>2025/10/10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2B8FFFC9-3761-4E05-B208-CCAC333BA1D2}" type="slidenum">
              <a:rPr lang="zh-CN" altLang="en-US" smtClean="0"/>
              <a:t>‹#›</a:t>
            </a:fld>
            <a:endParaRPr lang="zh-CN" altLang="en-US"/>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BBC00459-53E5-4412-8876-49D6D1B8833D}" type="datetimeFigureOut">
              <a:rPr lang="zh-CN" altLang="en-US" smtClean="0"/>
              <a:t>2025/10/10</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B8FFFC9-3761-4E05-B208-CCAC333BA1D2}" type="slidenum">
              <a:rPr lang="zh-CN" altLang="en-US" smtClean="0"/>
              <a:t>‹#›</a:t>
            </a:fld>
            <a:endParaRPr lang="zh-CN" altLang="en-US"/>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BBC00459-53E5-4412-8876-49D6D1B8833D}" type="datetimeFigureOut">
              <a:rPr lang="zh-CN" altLang="en-US" smtClean="0"/>
              <a:t>2025/10/10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B8FFFC9-3761-4E05-B208-CCAC333BA1D2}" type="slidenum">
              <a:rPr lang="zh-CN" altLang="en-US" smtClean="0"/>
              <a:t>‹#›</a:t>
            </a:fld>
            <a:endParaRPr lang="zh-CN" altLang="en-US"/>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BBC00459-53E5-4412-8876-49D6D1B8833D}" type="datetimeFigureOut">
              <a:rPr lang="zh-CN" altLang="en-US" smtClean="0"/>
              <a:t>2025/10/10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B8FFFC9-3761-4E05-B208-CCAC333BA1D2}" type="slidenum">
              <a:rPr lang="zh-CN" altLang="en-US" smtClean="0"/>
              <a:t>‹#›</a:t>
            </a:fld>
            <a:endParaRPr lang="zh-CN" altLang="en-US"/>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BBC00459-53E5-4412-8876-49D6D1B8833D}" type="datetimeFigureOut">
              <a:rPr lang="zh-CN" altLang="en-US" smtClean="0"/>
              <a:t>2025/10/10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B8FFFC9-3761-4E05-B208-CCAC333BA1D2}" type="slidenum">
              <a:rPr lang="zh-CN" altLang="en-US" smtClean="0"/>
              <a:t>‹#›</a:t>
            </a:fld>
            <a:endParaRPr lang="zh-CN" altLang="en-US"/>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BBC00459-53E5-4412-8876-49D6D1B8833D}" type="datetimeFigureOut">
              <a:rPr lang="zh-CN" altLang="en-US" smtClean="0"/>
              <a:t>2025/10/10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B8FFFC9-3761-4E05-B208-CCAC333BA1D2}" type="slidenum">
              <a:rPr lang="zh-CN" altLang="en-US" smtClean="0"/>
              <a:t>‹#›</a:t>
            </a:fld>
            <a:endParaRPr lang="zh-CN" altLang="en-US"/>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BC00459-53E5-4412-8876-49D6D1B8833D}" type="datetimeFigureOut">
              <a:rPr lang="zh-CN" altLang="en-US" smtClean="0"/>
              <a:t>2025/10/10</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B8FFFC9-3761-4E05-B208-CCAC333BA1D2}"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9.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13.png"/><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jpe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9.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22.jpeg"/><Relationship Id="rId5" Type="http://schemas.openxmlformats.org/officeDocument/2006/relationships/image" Target="../media/image21.jpeg"/><Relationship Id="rId4" Type="http://schemas.openxmlformats.org/officeDocument/2006/relationships/image" Target="../media/image20.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23.jpg"/><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jpeg"/><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4.png"/><Relationship Id="rId4" Type="http://schemas.openxmlformats.org/officeDocument/2006/relationships/image" Target="../media/image26.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4.jpe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22.jpeg"/><Relationship Id="rId5" Type="http://schemas.openxmlformats.org/officeDocument/2006/relationships/image" Target="../media/image18.png"/><Relationship Id="rId4" Type="http://schemas.openxmlformats.org/officeDocument/2006/relationships/image" Target="../media/image24.jpe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30.jpeg"/><Relationship Id="rId5" Type="http://schemas.openxmlformats.org/officeDocument/2006/relationships/image" Target="../media/image18.png"/><Relationship Id="rId4" Type="http://schemas.openxmlformats.org/officeDocument/2006/relationships/image" Target="../media/image24.jpeg"/></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31.jpg"/><Relationship Id="rId5" Type="http://schemas.openxmlformats.org/officeDocument/2006/relationships/image" Target="../media/image18.png"/><Relationship Id="rId4" Type="http://schemas.openxmlformats.org/officeDocument/2006/relationships/image" Target="../media/image24.jpeg"/></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24.jpeg"/></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4.png"/><Relationship Id="rId4" Type="http://schemas.openxmlformats.org/officeDocument/2006/relationships/image" Target="../media/image33.png"/></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24.jpeg"/></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24.jpeg"/></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36.jpe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35.png"/><Relationship Id="rId4" Type="http://schemas.openxmlformats.org/officeDocument/2006/relationships/image" Target="../media/image24.jpeg"/></Relationships>
</file>

<file path=ppt/slides/_rels/slide21.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24.jpeg"/><Relationship Id="rId7"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图片包含 游戏机, 花, 雏菊, 灯光&#10;&#10;描述已自动生成"/>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a:xfrm flipV="1">
            <a:off x="8933012" y="2536294"/>
            <a:ext cx="3258988" cy="4321705"/>
          </a:xfrm>
          <a:prstGeom prst="rect">
            <a:avLst/>
          </a:prstGeom>
        </p:spPr>
      </p:pic>
      <p:sp>
        <p:nvSpPr>
          <p:cNvPr id="3" name="Rectangle 4"/>
          <p:cNvSpPr txBox="1">
            <a:spLocks noChangeArrowheads="1"/>
          </p:cNvSpPr>
          <p:nvPr/>
        </p:nvSpPr>
        <p:spPr bwMode="auto">
          <a:xfrm>
            <a:off x="3105150" y="3495918"/>
            <a:ext cx="6134100" cy="5509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04" tIns="45702" rIns="91404" bIns="45702" numCol="1" anchor="ctr" anchorCtr="0" compatLnSpc="1"/>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marL="0" marR="0" lvl="0" indent="0" algn="dist" defTabSz="914400" rtl="0" eaLnBrk="1" fontAlgn="base" latinLnBrk="0" hangingPunct="1">
              <a:lnSpc>
                <a:spcPct val="100000"/>
              </a:lnSpc>
              <a:spcBef>
                <a:spcPct val="0"/>
              </a:spcBef>
              <a:spcAft>
                <a:spcPct val="0"/>
              </a:spcAft>
              <a:buClrTx/>
              <a:buSzTx/>
              <a:buFontTx/>
              <a:buNone/>
              <a:defRPr/>
            </a:pPr>
            <a:r>
              <a:rPr kumimoji="0" lang="zh-CN" altLang="en-US" sz="3600" b="0" i="0" u="none" strike="noStrike" kern="1200" cap="none" spc="0" normalizeH="0" baseline="0" noProof="0">
                <a:ln>
                  <a:noFill/>
                </a:ln>
                <a:solidFill>
                  <a:prstClr val="black"/>
                </a:solidFill>
                <a:effectLst/>
                <a:uLnTx/>
                <a:uFillTx/>
                <a:ea typeface="微软雅黑" panose="020B0503020204020204" pitchFamily="34" charset="-122"/>
                <a:cs typeface="+mj-cs"/>
              </a:rPr>
              <a:t>精神价值与时代内涵</a:t>
            </a:r>
          </a:p>
        </p:txBody>
      </p:sp>
      <p:sp>
        <p:nvSpPr>
          <p:cNvPr id="4" name="Rectangle 4"/>
          <p:cNvSpPr txBox="1">
            <a:spLocks noChangeArrowheads="1"/>
          </p:cNvSpPr>
          <p:nvPr/>
        </p:nvSpPr>
        <p:spPr bwMode="auto">
          <a:xfrm>
            <a:off x="3720135" y="4453054"/>
            <a:ext cx="4653712" cy="4670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04" tIns="45702" rIns="91404" bIns="45702" numCol="1" anchor="ctr" anchorCtr="0" compatLnSpc="1"/>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2000" b="0" i="0" u="none" strike="noStrike" kern="1200" cap="none" spc="0" normalizeH="0" baseline="0" noProof="0" dirty="0">
              <a:ln>
                <a:noFill/>
              </a:ln>
              <a:solidFill>
                <a:srgbClr val="D80B18"/>
              </a:solidFill>
              <a:effectLst/>
              <a:uLnTx/>
              <a:uFillTx/>
              <a:ea typeface="微软雅黑" panose="020B0503020204020204" pitchFamily="34" charset="-122"/>
              <a:cs typeface="+mj-cs"/>
            </a:endParaRPr>
          </a:p>
        </p:txBody>
      </p:sp>
      <p:pic>
        <p:nvPicPr>
          <p:cNvPr id="5" name="图片 4"/>
          <p:cNvPicPr>
            <a:picLocks noChangeAspect="1"/>
          </p:cNvPicPr>
          <p:nvPr/>
        </p:nvPicPr>
        <p:blipFill>
          <a:blip r:embed="rId3" cstate="email">
            <a:alphaModFix amt="85000"/>
            <a:biLevel thresh="25000"/>
            <a:extLst>
              <a:ext uri="{28A0092B-C50C-407E-A947-70E740481C1C}">
                <a14:useLocalDpi xmlns:a14="http://schemas.microsoft.com/office/drawing/2010/main"/>
              </a:ext>
            </a:extLst>
          </a:blip>
          <a:stretch>
            <a:fillRect/>
          </a:stretch>
        </p:blipFill>
        <p:spPr>
          <a:xfrm>
            <a:off x="6275248" y="2680814"/>
            <a:ext cx="873739" cy="799288"/>
          </a:xfrm>
          <a:prstGeom prst="rect">
            <a:avLst/>
          </a:prstGeom>
        </p:spPr>
      </p:pic>
      <p:pic>
        <p:nvPicPr>
          <p:cNvPr id="6" name="图片 5"/>
          <p:cNvPicPr>
            <a:picLocks noChangeAspect="1"/>
          </p:cNvPicPr>
          <p:nvPr/>
        </p:nvPicPr>
        <p:blipFill>
          <a:blip r:embed="rId4" cstate="email">
            <a:extLst>
              <a:ext uri="{28A0092B-C50C-407E-A947-70E740481C1C}">
                <a14:useLocalDpi xmlns:a14="http://schemas.microsoft.com/office/drawing/2010/main"/>
              </a:ext>
            </a:extLst>
          </a:blip>
          <a:srcRect/>
          <a:stretch>
            <a:fillRect/>
          </a:stretch>
        </p:blipFill>
        <p:spPr>
          <a:xfrm flipH="1">
            <a:off x="-2" y="2017486"/>
            <a:ext cx="2633652" cy="4840512"/>
          </a:xfrm>
          <a:prstGeom prst="rect">
            <a:avLst/>
          </a:prstGeom>
        </p:spPr>
      </p:pic>
      <p:pic>
        <p:nvPicPr>
          <p:cNvPr id="9" name="图片 8" descr="卡通人物&#10;&#10;低可信度描述已自动生成"/>
          <p:cNvPicPr>
            <a:picLocks noChangeAspect="1"/>
          </p:cNvPicPr>
          <p:nvPr/>
        </p:nvPicPr>
        <p:blipFill>
          <a:blip r:embed="rId5" cstate="email">
            <a:extLst>
              <a:ext uri="{28A0092B-C50C-407E-A947-70E740481C1C}">
                <a14:useLocalDpi xmlns:a14="http://schemas.microsoft.com/office/drawing/2010/main"/>
              </a:ext>
            </a:extLst>
          </a:blip>
          <a:srcRect/>
          <a:stretch>
            <a:fillRect/>
          </a:stretch>
        </p:blipFill>
        <p:spPr>
          <a:xfrm>
            <a:off x="2228720" y="1750458"/>
            <a:ext cx="809860" cy="1138904"/>
          </a:xfrm>
          <a:custGeom>
            <a:avLst/>
            <a:gdLst>
              <a:gd name="connsiteX0" fmla="*/ 644690 w 809860"/>
              <a:gd name="connsiteY0" fmla="*/ 66844 h 1138904"/>
              <a:gd name="connsiteX1" fmla="*/ 669027 w 809860"/>
              <a:gd name="connsiteY1" fmla="*/ 73023 h 1138904"/>
              <a:gd name="connsiteX2" fmla="*/ 649968 w 809860"/>
              <a:gd name="connsiteY2" fmla="*/ 69729 h 1138904"/>
              <a:gd name="connsiteX3" fmla="*/ 304800 w 809860"/>
              <a:gd name="connsiteY3" fmla="*/ 0 h 1138904"/>
              <a:gd name="connsiteX4" fmla="*/ 409575 w 809860"/>
              <a:gd name="connsiteY4" fmla="*/ 19050 h 1138904"/>
              <a:gd name="connsiteX5" fmla="*/ 457200 w 809860"/>
              <a:gd name="connsiteY5" fmla="*/ 28575 h 1138904"/>
              <a:gd name="connsiteX6" fmla="*/ 533400 w 809860"/>
              <a:gd name="connsiteY6" fmla="*/ 47625 h 1138904"/>
              <a:gd name="connsiteX7" fmla="*/ 624499 w 809860"/>
              <a:gd name="connsiteY7" fmla="*/ 65326 h 1138904"/>
              <a:gd name="connsiteX8" fmla="*/ 649968 w 809860"/>
              <a:gd name="connsiteY8" fmla="*/ 69729 h 1138904"/>
              <a:gd name="connsiteX9" fmla="*/ 653805 w 809860"/>
              <a:gd name="connsiteY9" fmla="*/ 71826 h 1138904"/>
              <a:gd name="connsiteX10" fmla="*/ 695325 w 809860"/>
              <a:gd name="connsiteY10" fmla="*/ 85725 h 1138904"/>
              <a:gd name="connsiteX11" fmla="*/ 756294 w 809860"/>
              <a:gd name="connsiteY11" fmla="*/ 102682 h 1138904"/>
              <a:gd name="connsiteX12" fmla="*/ 809860 w 809860"/>
              <a:gd name="connsiteY12" fmla="*/ 117233 h 1138904"/>
              <a:gd name="connsiteX13" fmla="*/ 809860 w 809860"/>
              <a:gd name="connsiteY13" fmla="*/ 1138904 h 1138904"/>
              <a:gd name="connsiteX14" fmla="*/ 390986 w 809860"/>
              <a:gd name="connsiteY14" fmla="*/ 1138904 h 1138904"/>
              <a:gd name="connsiteX15" fmla="*/ 388728 w 809860"/>
              <a:gd name="connsiteY15" fmla="*/ 1138349 h 1138904"/>
              <a:gd name="connsiteX16" fmla="*/ 257175 w 809860"/>
              <a:gd name="connsiteY16" fmla="*/ 1095375 h 1138904"/>
              <a:gd name="connsiteX17" fmla="*/ 85725 w 809860"/>
              <a:gd name="connsiteY17" fmla="*/ 971550 h 1138904"/>
              <a:gd name="connsiteX18" fmla="*/ 9525 w 809860"/>
              <a:gd name="connsiteY18" fmla="*/ 790575 h 1138904"/>
              <a:gd name="connsiteX19" fmla="*/ 0 w 809860"/>
              <a:gd name="connsiteY19" fmla="*/ 542925 h 1138904"/>
              <a:gd name="connsiteX20" fmla="*/ 28575 w 809860"/>
              <a:gd name="connsiteY20" fmla="*/ 342900 h 1138904"/>
              <a:gd name="connsiteX21" fmla="*/ 304800 w 809860"/>
              <a:gd name="connsiteY21" fmla="*/ 0 h 1138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809860" h="1138904">
                <a:moveTo>
                  <a:pt x="644690" y="66844"/>
                </a:moveTo>
                <a:cubicBezTo>
                  <a:pt x="648290" y="64746"/>
                  <a:pt x="703202" y="78019"/>
                  <a:pt x="669027" y="73023"/>
                </a:cubicBezTo>
                <a:lnTo>
                  <a:pt x="649968" y="69729"/>
                </a:lnTo>
                <a:close/>
                <a:moveTo>
                  <a:pt x="304800" y="0"/>
                </a:moveTo>
                <a:cubicBezTo>
                  <a:pt x="322263" y="3175"/>
                  <a:pt x="323688" y="-770"/>
                  <a:pt x="409575" y="19050"/>
                </a:cubicBezTo>
                <a:cubicBezTo>
                  <a:pt x="425350" y="22690"/>
                  <a:pt x="441425" y="24935"/>
                  <a:pt x="457200" y="28575"/>
                </a:cubicBezTo>
                <a:cubicBezTo>
                  <a:pt x="482711" y="34462"/>
                  <a:pt x="507727" y="42490"/>
                  <a:pt x="533400" y="47625"/>
                </a:cubicBezTo>
                <a:cubicBezTo>
                  <a:pt x="572991" y="55543"/>
                  <a:pt x="602626" y="61268"/>
                  <a:pt x="624499" y="65326"/>
                </a:cubicBezTo>
                <a:lnTo>
                  <a:pt x="649968" y="69729"/>
                </a:lnTo>
                <a:lnTo>
                  <a:pt x="653805" y="71826"/>
                </a:lnTo>
                <a:cubicBezTo>
                  <a:pt x="661513" y="74797"/>
                  <a:pt x="674622" y="79255"/>
                  <a:pt x="695325" y="85725"/>
                </a:cubicBezTo>
                <a:cubicBezTo>
                  <a:pt x="716767" y="92426"/>
                  <a:pt x="736916" y="97692"/>
                  <a:pt x="756294" y="102682"/>
                </a:cubicBezTo>
                <a:lnTo>
                  <a:pt x="809860" y="117233"/>
                </a:lnTo>
                <a:lnTo>
                  <a:pt x="809860" y="1138904"/>
                </a:lnTo>
                <a:lnTo>
                  <a:pt x="390986" y="1138904"/>
                </a:lnTo>
                <a:lnTo>
                  <a:pt x="388728" y="1138349"/>
                </a:lnTo>
                <a:cubicBezTo>
                  <a:pt x="343679" y="1127274"/>
                  <a:pt x="299229" y="1114574"/>
                  <a:pt x="257175" y="1095375"/>
                </a:cubicBezTo>
                <a:cubicBezTo>
                  <a:pt x="193045" y="1066098"/>
                  <a:pt x="138779" y="1017972"/>
                  <a:pt x="85725" y="971550"/>
                </a:cubicBezTo>
                <a:cubicBezTo>
                  <a:pt x="23605" y="917195"/>
                  <a:pt x="15998" y="870414"/>
                  <a:pt x="9525" y="790575"/>
                </a:cubicBezTo>
                <a:cubicBezTo>
                  <a:pt x="2849" y="708234"/>
                  <a:pt x="3175" y="625475"/>
                  <a:pt x="0" y="542925"/>
                </a:cubicBezTo>
                <a:cubicBezTo>
                  <a:pt x="4616" y="496768"/>
                  <a:pt x="13208" y="385159"/>
                  <a:pt x="28575" y="342900"/>
                </a:cubicBezTo>
                <a:cubicBezTo>
                  <a:pt x="77403" y="208622"/>
                  <a:pt x="221374" y="90680"/>
                  <a:pt x="304800" y="0"/>
                </a:cubicBezTo>
                <a:close/>
              </a:path>
            </a:pathLst>
          </a:custGeom>
        </p:spPr>
      </p:pic>
      <p:pic>
        <p:nvPicPr>
          <p:cNvPr id="10" name="图片 9" descr="卡通人物&#10;&#10;低可信度描述已自动生成"/>
          <p:cNvPicPr>
            <a:picLocks noChangeAspect="1"/>
          </p:cNvPicPr>
          <p:nvPr/>
        </p:nvPicPr>
        <p:blipFill>
          <a:blip r:embed="rId6" cstate="email">
            <a:extLst>
              <a:ext uri="{28A0092B-C50C-407E-A947-70E740481C1C}">
                <a14:useLocalDpi xmlns:a14="http://schemas.microsoft.com/office/drawing/2010/main"/>
              </a:ext>
            </a:extLst>
          </a:blip>
          <a:srcRect/>
          <a:stretch>
            <a:fillRect/>
          </a:stretch>
        </p:blipFill>
        <p:spPr>
          <a:xfrm>
            <a:off x="3791552" y="1234154"/>
            <a:ext cx="920864" cy="1032608"/>
          </a:xfrm>
          <a:custGeom>
            <a:avLst/>
            <a:gdLst>
              <a:gd name="connsiteX0" fmla="*/ 175240 w 789706"/>
              <a:gd name="connsiteY0" fmla="*/ 0 h 885534"/>
              <a:gd name="connsiteX1" fmla="*/ 413365 w 789706"/>
              <a:gd name="connsiteY1" fmla="*/ 23812 h 885534"/>
              <a:gd name="connsiteX2" fmla="*/ 513378 w 789706"/>
              <a:gd name="connsiteY2" fmla="*/ 42862 h 885534"/>
              <a:gd name="connsiteX3" fmla="*/ 594340 w 789706"/>
              <a:gd name="connsiteY3" fmla="*/ 85725 h 885534"/>
              <a:gd name="connsiteX4" fmla="*/ 665778 w 789706"/>
              <a:gd name="connsiteY4" fmla="*/ 133350 h 885534"/>
              <a:gd name="connsiteX5" fmla="*/ 746740 w 789706"/>
              <a:gd name="connsiteY5" fmla="*/ 223837 h 885534"/>
              <a:gd name="connsiteX6" fmla="*/ 751503 w 789706"/>
              <a:gd name="connsiteY6" fmla="*/ 276225 h 885534"/>
              <a:gd name="connsiteX7" fmla="*/ 761028 w 789706"/>
              <a:gd name="connsiteY7" fmla="*/ 328612 h 885534"/>
              <a:gd name="connsiteX8" fmla="*/ 775315 w 789706"/>
              <a:gd name="connsiteY8" fmla="*/ 390525 h 885534"/>
              <a:gd name="connsiteX9" fmla="*/ 789603 w 789706"/>
              <a:gd name="connsiteY9" fmla="*/ 633412 h 885534"/>
              <a:gd name="connsiteX10" fmla="*/ 722928 w 789706"/>
              <a:gd name="connsiteY10" fmla="*/ 819150 h 885534"/>
              <a:gd name="connsiteX11" fmla="*/ 651490 w 789706"/>
              <a:gd name="connsiteY11" fmla="*/ 866775 h 885534"/>
              <a:gd name="connsiteX12" fmla="*/ 370503 w 789706"/>
              <a:gd name="connsiteY12" fmla="*/ 871537 h 885534"/>
              <a:gd name="connsiteX13" fmla="*/ 32365 w 789706"/>
              <a:gd name="connsiteY13" fmla="*/ 847725 h 885534"/>
              <a:gd name="connsiteX14" fmla="*/ 0 w 789706"/>
              <a:gd name="connsiteY14" fmla="*/ 836068 h 885534"/>
              <a:gd name="connsiteX15" fmla="*/ 0 w 789706"/>
              <a:gd name="connsiteY15" fmla="*/ 5429 h 885534"/>
              <a:gd name="connsiteX16" fmla="*/ 53585 w 789706"/>
              <a:gd name="connsiteY16" fmla="*/ 2184 h 885534"/>
              <a:gd name="connsiteX17" fmla="*/ 175240 w 789706"/>
              <a:gd name="connsiteY17" fmla="*/ 0 h 885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89706" h="885534">
                <a:moveTo>
                  <a:pt x="175240" y="0"/>
                </a:moveTo>
                <a:cubicBezTo>
                  <a:pt x="254792" y="6629"/>
                  <a:pt x="334319" y="12039"/>
                  <a:pt x="413365" y="23812"/>
                </a:cubicBezTo>
                <a:cubicBezTo>
                  <a:pt x="446932" y="28811"/>
                  <a:pt x="481268" y="31877"/>
                  <a:pt x="513378" y="42862"/>
                </a:cubicBezTo>
                <a:cubicBezTo>
                  <a:pt x="542270" y="52746"/>
                  <a:pt x="568083" y="70135"/>
                  <a:pt x="594340" y="85725"/>
                </a:cubicBezTo>
                <a:cubicBezTo>
                  <a:pt x="618948" y="100336"/>
                  <a:pt x="642671" y="116464"/>
                  <a:pt x="665778" y="133350"/>
                </a:cubicBezTo>
                <a:cubicBezTo>
                  <a:pt x="701149" y="159198"/>
                  <a:pt x="732276" y="180445"/>
                  <a:pt x="746740" y="223837"/>
                </a:cubicBezTo>
                <a:cubicBezTo>
                  <a:pt x="752285" y="240472"/>
                  <a:pt x="749134" y="258851"/>
                  <a:pt x="751503" y="276225"/>
                </a:cubicBezTo>
                <a:cubicBezTo>
                  <a:pt x="753901" y="293811"/>
                  <a:pt x="757408" y="311236"/>
                  <a:pt x="761028" y="328612"/>
                </a:cubicBezTo>
                <a:cubicBezTo>
                  <a:pt x="765348" y="349347"/>
                  <a:pt x="773338" y="369437"/>
                  <a:pt x="775315" y="390525"/>
                </a:cubicBezTo>
                <a:cubicBezTo>
                  <a:pt x="782885" y="471273"/>
                  <a:pt x="790699" y="552317"/>
                  <a:pt x="789603" y="633412"/>
                </a:cubicBezTo>
                <a:cubicBezTo>
                  <a:pt x="788217" y="735986"/>
                  <a:pt x="771771" y="741001"/>
                  <a:pt x="722928" y="819150"/>
                </a:cubicBezTo>
                <a:cubicBezTo>
                  <a:pt x="699115" y="835025"/>
                  <a:pt x="679439" y="860617"/>
                  <a:pt x="651490" y="866775"/>
                </a:cubicBezTo>
                <a:cubicBezTo>
                  <a:pt x="518437" y="896091"/>
                  <a:pt x="476866" y="885719"/>
                  <a:pt x="370503" y="871537"/>
                </a:cubicBezTo>
                <a:cubicBezTo>
                  <a:pt x="343722" y="870421"/>
                  <a:pt x="102326" y="867076"/>
                  <a:pt x="32365" y="847725"/>
                </a:cubicBezTo>
                <a:lnTo>
                  <a:pt x="0" y="836068"/>
                </a:lnTo>
                <a:lnTo>
                  <a:pt x="0" y="5429"/>
                </a:lnTo>
                <a:lnTo>
                  <a:pt x="53585" y="2184"/>
                </a:lnTo>
                <a:cubicBezTo>
                  <a:pt x="94137" y="1456"/>
                  <a:pt x="134759" y="1588"/>
                  <a:pt x="175240" y="0"/>
                </a:cubicBezTo>
                <a:close/>
              </a:path>
            </a:pathLst>
          </a:custGeom>
        </p:spPr>
      </p:pic>
      <p:pic>
        <p:nvPicPr>
          <p:cNvPr id="11" name="图片 10"/>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2925806" y="1749842"/>
            <a:ext cx="6340390" cy="1572904"/>
          </a:xfrm>
          <a:prstGeom prst="rect">
            <a:avLst/>
          </a:prstGeom>
        </p:spPr>
      </p:pic>
      <p:sp>
        <p:nvSpPr>
          <p:cNvPr id="12" name="Rectangle 4"/>
          <p:cNvSpPr txBox="1">
            <a:spLocks noChangeArrowheads="1"/>
          </p:cNvSpPr>
          <p:nvPr/>
        </p:nvSpPr>
        <p:spPr bwMode="auto">
          <a:xfrm>
            <a:off x="8342301" y="166086"/>
            <a:ext cx="3690041" cy="5509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04" tIns="45702" rIns="91404" bIns="45702" numCol="1" anchor="ctr" anchorCtr="0" compatLnSpc="1"/>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rgbClr val="C00000"/>
                </a:solidFill>
                <a:effectLst/>
                <a:uLnTx/>
                <a:uFillTx/>
                <a:ea typeface="微软雅黑" panose="020B0503020204020204" pitchFamily="34" charset="-122"/>
                <a:cs typeface="+mj-cs"/>
              </a:rPr>
              <a:t>学党史  悟精神  办实事  开新局</a:t>
            </a:r>
            <a:endParaRPr kumimoji="0" lang="zh-CN" altLang="zh-CN" sz="1800" b="0" i="0" u="none" strike="noStrike" kern="1200" cap="none" spc="0" normalizeH="0" baseline="0" noProof="0" dirty="0">
              <a:ln>
                <a:noFill/>
              </a:ln>
              <a:solidFill>
                <a:srgbClr val="C00000"/>
              </a:solidFill>
              <a:effectLst/>
              <a:uLnTx/>
              <a:uFillTx/>
              <a:ea typeface="微软雅黑" panose="020B0503020204020204" pitchFamily="34" charset="-122"/>
              <a:cs typeface="+mj-cs"/>
            </a:endParaRPr>
          </a:p>
        </p:txBody>
      </p:sp>
      <p:cxnSp>
        <p:nvCxnSpPr>
          <p:cNvPr id="13" name="直接连接符 12"/>
          <p:cNvCxnSpPr/>
          <p:nvPr/>
        </p:nvCxnSpPr>
        <p:spPr>
          <a:xfrm flipH="1">
            <a:off x="7890647" y="441551"/>
            <a:ext cx="622068" cy="0"/>
          </a:xfrm>
          <a:prstGeom prst="line">
            <a:avLst/>
          </a:prstGeom>
          <a:ln>
            <a:solidFill>
              <a:srgbClr val="C00000"/>
            </a:solidFill>
            <a:prstDash val="dash"/>
          </a:ln>
        </p:spPr>
        <p:style>
          <a:lnRef idx="1">
            <a:schemeClr val="accent1"/>
          </a:lnRef>
          <a:fillRef idx="0">
            <a:schemeClr val="accent1"/>
          </a:fillRef>
          <a:effectRef idx="0">
            <a:schemeClr val="accent1"/>
          </a:effectRef>
          <a:fontRef idx="minor">
            <a:schemeClr val="tx1"/>
          </a:fontRef>
        </p:style>
      </p:cxnSp>
      <p:sp>
        <p:nvSpPr>
          <p:cNvPr id="14" name="矩形 13"/>
          <p:cNvSpPr/>
          <p:nvPr/>
        </p:nvSpPr>
        <p:spPr>
          <a:xfrm>
            <a:off x="6079835" y="5719832"/>
            <a:ext cx="184730" cy="533288"/>
          </a:xfrm>
          <a:prstGeom prst="rect">
            <a:avLst/>
          </a:prstGeom>
        </p:spPr>
        <p:txBody>
          <a:bodyPr wrap="none">
            <a:spAutoFit/>
          </a:bodyPr>
          <a:lstStyle/>
          <a:p>
            <a:pPr marL="342900" lvl="0" indent="-342900" algn="ctr" fontAlgn="base">
              <a:lnSpc>
                <a:spcPct val="110000"/>
              </a:lnSpc>
              <a:spcBef>
                <a:spcPct val="0"/>
              </a:spcBef>
              <a:spcAft>
                <a:spcPct val="0"/>
              </a:spcAft>
            </a:pPr>
            <a:endParaRPr lang="en-US" altLang="zh-CN" sz="2800" b="1" kern="0" dirty="0">
              <a:solidFill>
                <a:srgbClr val="0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619002681"/>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4"/>
          <p:cNvSpPr txBox="1">
            <a:spLocks noChangeArrowheads="1"/>
          </p:cNvSpPr>
          <p:nvPr/>
        </p:nvSpPr>
        <p:spPr bwMode="auto">
          <a:xfrm>
            <a:off x="8342301" y="166086"/>
            <a:ext cx="3690041" cy="5509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04" tIns="45702" rIns="91404" bIns="45702" numCol="1" anchor="ctr" anchorCtr="0" compatLnSpc="1"/>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rgbClr val="C00000"/>
                </a:solidFill>
                <a:effectLst/>
                <a:uLnTx/>
                <a:uFillTx/>
                <a:ea typeface="微软雅黑" panose="020B0503020204020204" pitchFamily="34" charset="-122"/>
                <a:cs typeface="+mj-cs"/>
              </a:rPr>
              <a:t>学党史  悟精神  办实事  开新局</a:t>
            </a:r>
            <a:endParaRPr kumimoji="0" lang="zh-CN" altLang="zh-CN" sz="1800" b="0" i="0" u="none" strike="noStrike" kern="1200" cap="none" spc="0" normalizeH="0" baseline="0" noProof="0" dirty="0">
              <a:ln>
                <a:noFill/>
              </a:ln>
              <a:solidFill>
                <a:srgbClr val="C00000"/>
              </a:solidFill>
              <a:effectLst/>
              <a:uLnTx/>
              <a:uFillTx/>
              <a:ea typeface="微软雅黑" panose="020B0503020204020204" pitchFamily="34" charset="-122"/>
              <a:cs typeface="+mj-cs"/>
            </a:endParaRPr>
          </a:p>
        </p:txBody>
      </p:sp>
      <p:cxnSp>
        <p:nvCxnSpPr>
          <p:cNvPr id="23" name="直接连接符 22"/>
          <p:cNvCxnSpPr/>
          <p:nvPr/>
        </p:nvCxnSpPr>
        <p:spPr>
          <a:xfrm flipH="1">
            <a:off x="7890647" y="441551"/>
            <a:ext cx="622068" cy="0"/>
          </a:xfrm>
          <a:prstGeom prst="line">
            <a:avLst/>
          </a:prstGeom>
          <a:ln>
            <a:solidFill>
              <a:srgbClr val="C00000"/>
            </a:solidFill>
            <a:prstDash val="dash"/>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4274955" y="1750458"/>
            <a:ext cx="7054786" cy="719890"/>
          </a:xfrm>
          <a:prstGeom prst="rect">
            <a:avLst/>
          </a:prstGeom>
          <a:noFill/>
          <a:ln w="19050" cap="rnd">
            <a:gradFill>
              <a:gsLst>
                <a:gs pos="41000">
                  <a:srgbClr val="DAC4B6"/>
                </a:gs>
                <a:gs pos="0">
                  <a:schemeClr val="bg1">
                    <a:alpha val="0"/>
                  </a:schemeClr>
                </a:gs>
                <a:gs pos="100000">
                  <a:schemeClr val="accent2">
                    <a:lumMod val="50000"/>
                  </a:schemeClr>
                </a:gs>
              </a:gsLst>
              <a:lin ang="0" scaled="0"/>
            </a:gra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25" name="矩形 24"/>
          <p:cNvSpPr/>
          <p:nvPr/>
        </p:nvSpPr>
        <p:spPr>
          <a:xfrm>
            <a:off x="4274955" y="2601358"/>
            <a:ext cx="7054786" cy="719890"/>
          </a:xfrm>
          <a:prstGeom prst="rect">
            <a:avLst/>
          </a:prstGeom>
          <a:noFill/>
          <a:ln w="19050" cap="rnd">
            <a:gradFill>
              <a:gsLst>
                <a:gs pos="41000">
                  <a:srgbClr val="DAC4B6"/>
                </a:gs>
                <a:gs pos="0">
                  <a:schemeClr val="bg1">
                    <a:alpha val="0"/>
                  </a:schemeClr>
                </a:gs>
                <a:gs pos="100000">
                  <a:schemeClr val="accent2">
                    <a:lumMod val="50000"/>
                  </a:schemeClr>
                </a:gs>
              </a:gsLst>
              <a:lin ang="0" scaled="0"/>
            </a:gra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26" name="矩形 25"/>
          <p:cNvSpPr/>
          <p:nvPr/>
        </p:nvSpPr>
        <p:spPr>
          <a:xfrm>
            <a:off x="4274955" y="3452258"/>
            <a:ext cx="7054786" cy="719890"/>
          </a:xfrm>
          <a:prstGeom prst="rect">
            <a:avLst/>
          </a:prstGeom>
          <a:noFill/>
          <a:ln w="19050" cap="rnd">
            <a:gradFill>
              <a:gsLst>
                <a:gs pos="41000">
                  <a:srgbClr val="DAC4B6"/>
                </a:gs>
                <a:gs pos="0">
                  <a:schemeClr val="bg1">
                    <a:alpha val="0"/>
                  </a:schemeClr>
                </a:gs>
                <a:gs pos="100000">
                  <a:schemeClr val="accent2">
                    <a:lumMod val="50000"/>
                  </a:schemeClr>
                </a:gs>
              </a:gsLst>
              <a:lin ang="0" scaled="0"/>
            </a:gra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28" name="矩形 27"/>
          <p:cNvSpPr/>
          <p:nvPr/>
        </p:nvSpPr>
        <p:spPr>
          <a:xfrm>
            <a:off x="4274955" y="4303158"/>
            <a:ext cx="7054786" cy="719890"/>
          </a:xfrm>
          <a:prstGeom prst="rect">
            <a:avLst/>
          </a:prstGeom>
          <a:noFill/>
          <a:ln w="19050" cap="rnd">
            <a:gradFill>
              <a:gsLst>
                <a:gs pos="41000">
                  <a:srgbClr val="DAC4B6"/>
                </a:gs>
                <a:gs pos="0">
                  <a:schemeClr val="bg1">
                    <a:alpha val="0"/>
                  </a:schemeClr>
                </a:gs>
                <a:gs pos="100000">
                  <a:schemeClr val="accent2">
                    <a:lumMod val="50000"/>
                  </a:schemeClr>
                </a:gs>
              </a:gsLst>
              <a:lin ang="0" scaled="0"/>
            </a:gra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29" name="文本框 28"/>
          <p:cNvSpPr txBox="1"/>
          <p:nvPr/>
        </p:nvSpPr>
        <p:spPr>
          <a:xfrm>
            <a:off x="5549255" y="4422488"/>
            <a:ext cx="4883182" cy="492443"/>
          </a:xfrm>
          <a:prstGeom prst="rect">
            <a:avLst/>
          </a:prstGeom>
          <a:noFill/>
        </p:spPr>
        <p:txBody>
          <a:bodyPr wrap="square">
            <a:spAutoFit/>
          </a:bodyPr>
          <a:lstStyle/>
          <a:p>
            <a:pPr marL="0" marR="0" lvl="0" indent="0" algn="just" defTabSz="914400" rtl="0" eaLnBrk="1" fontAlgn="auto" latinLnBrk="0" hangingPunct="1">
              <a:lnSpc>
                <a:spcPct val="100000"/>
              </a:lnSpc>
              <a:spcBef>
                <a:spcPct val="0"/>
              </a:spcBef>
              <a:spcAft>
                <a:spcPct val="0"/>
              </a:spcAft>
              <a:buClrTx/>
              <a:buSzTx/>
              <a:buFontTx/>
              <a:buNone/>
              <a:defRPr/>
            </a:pPr>
            <a:r>
              <a:rPr lang="zh-CN" altLang="en-US" sz="2600" kern="100" dirty="0">
                <a:solidFill>
                  <a:prstClr val="black"/>
                </a:solidFill>
                <a:latin typeface="等线" panose="02010600030101010101" charset="-122"/>
                <a:ea typeface="微软雅黑" panose="020B0503020204020204" pitchFamily="34" charset="-122"/>
                <a:cs typeface="Times New Roman" panose="02020603050405020304" pitchFamily="18" charset="0"/>
              </a:rPr>
              <a:t>践行传承：走好新的赶考之路</a:t>
            </a:r>
            <a:endParaRPr kumimoji="0" lang="zh-CN" altLang="zh-CN" sz="2600" b="0" i="0" u="none" strike="noStrike" kern="100" cap="none" spc="0" normalizeH="0" baseline="0" noProof="0" dirty="0">
              <a:ln>
                <a:noFill/>
              </a:ln>
              <a:solidFill>
                <a:prstClr val="black"/>
              </a:solidFill>
              <a:effectLst/>
              <a:uLnTx/>
              <a:uFillTx/>
              <a:latin typeface="等线" panose="02010600030101010101" charset="-122"/>
              <a:ea typeface="等线" panose="02010600030101010101" charset="-122"/>
              <a:cs typeface="Times New Roman" panose="02020603050405020304" pitchFamily="18" charset="0"/>
            </a:endParaRPr>
          </a:p>
        </p:txBody>
      </p:sp>
      <p:sp>
        <p:nvSpPr>
          <p:cNvPr id="31" name="文本框 30"/>
          <p:cNvSpPr txBox="1"/>
          <p:nvPr/>
        </p:nvSpPr>
        <p:spPr>
          <a:xfrm>
            <a:off x="5560406" y="1878406"/>
            <a:ext cx="4883182" cy="492443"/>
          </a:xfrm>
          <a:prstGeom prst="rect">
            <a:avLst/>
          </a:prstGeom>
          <a:noFill/>
        </p:spPr>
        <p:txBody>
          <a:bodyPr wrap="square">
            <a:spAutoFit/>
          </a:bodyPr>
          <a:lstStyle/>
          <a:p>
            <a:pPr marL="0" marR="0" lvl="0" indent="0" algn="just" defTabSz="914400" rtl="0" eaLnBrk="1" fontAlgn="auto" latinLnBrk="0" hangingPunct="1">
              <a:lnSpc>
                <a:spcPct val="100000"/>
              </a:lnSpc>
              <a:spcBef>
                <a:spcPct val="0"/>
              </a:spcBef>
              <a:spcAft>
                <a:spcPct val="0"/>
              </a:spcAft>
              <a:buClrTx/>
              <a:buSzTx/>
              <a:buFontTx/>
              <a:buNone/>
              <a:defRPr/>
            </a:pPr>
            <a:r>
              <a:rPr kumimoji="0" lang="zh-CN" altLang="en-US" sz="2600" b="0" i="0" u="none" strike="noStrike" kern="100" cap="none" spc="0" normalizeH="0" baseline="0" noProof="0" dirty="0">
                <a:ln>
                  <a:noFill/>
                </a:ln>
                <a:solidFill>
                  <a:prstClr val="black"/>
                </a:solidFill>
                <a:effectLst/>
                <a:uLnTx/>
                <a:uFillTx/>
                <a:latin typeface="等线" panose="02010600030101010101" charset="-122"/>
                <a:ea typeface="微软雅黑" panose="020B0503020204020204" pitchFamily="34" charset="-122"/>
                <a:cs typeface="Times New Roman" panose="02020603050405020304" pitchFamily="18" charset="0"/>
              </a:rPr>
              <a:t>历史回眸：新中国从这里走来</a:t>
            </a:r>
          </a:p>
        </p:txBody>
      </p:sp>
      <p:sp>
        <p:nvSpPr>
          <p:cNvPr id="36" name="文本框 35"/>
          <p:cNvSpPr txBox="1"/>
          <p:nvPr/>
        </p:nvSpPr>
        <p:spPr>
          <a:xfrm>
            <a:off x="5560406" y="2726433"/>
            <a:ext cx="5549222" cy="492443"/>
          </a:xfrm>
          <a:prstGeom prst="rect">
            <a:avLst/>
          </a:prstGeom>
          <a:noFill/>
        </p:spPr>
        <p:txBody>
          <a:bodyPr wrap="square">
            <a:spAutoFit/>
          </a:bodyPr>
          <a:lstStyle/>
          <a:p>
            <a:pPr marL="0" marR="0" lvl="0" indent="0" algn="just" defTabSz="914400" rtl="0" eaLnBrk="1" fontAlgn="auto" latinLnBrk="0" hangingPunct="1">
              <a:lnSpc>
                <a:spcPct val="100000"/>
              </a:lnSpc>
              <a:spcBef>
                <a:spcPct val="0"/>
              </a:spcBef>
              <a:spcAft>
                <a:spcPct val="0"/>
              </a:spcAft>
              <a:buClrTx/>
              <a:buSzTx/>
              <a:buFontTx/>
              <a:buNone/>
              <a:defRPr/>
            </a:pPr>
            <a:r>
              <a:rPr kumimoji="0" lang="zh-CN" altLang="en-US" sz="2600" b="0" i="0" u="none" strike="noStrike" kern="100" cap="none" spc="0" normalizeH="0" baseline="0" noProof="0" dirty="0">
                <a:ln>
                  <a:noFill/>
                </a:ln>
                <a:solidFill>
                  <a:prstClr val="black"/>
                </a:solidFill>
                <a:effectLst/>
                <a:uLnTx/>
                <a:uFillTx/>
                <a:latin typeface="等线" panose="02010600030101010101" charset="-122"/>
                <a:ea typeface="微软雅黑" panose="020B0503020204020204" pitchFamily="34" charset="-122"/>
                <a:cs typeface="Times New Roman" panose="02020603050405020304" pitchFamily="18" charset="0"/>
              </a:rPr>
              <a:t>内涵解析：西柏坡精神的</a:t>
            </a:r>
            <a:r>
              <a:rPr lang="zh-CN" altLang="en-US" sz="2600" kern="100" dirty="0">
                <a:solidFill>
                  <a:prstClr val="black"/>
                </a:solidFill>
                <a:latin typeface="等线" panose="02010600030101010101" charset="-122"/>
                <a:ea typeface="微软雅黑" panose="020B0503020204020204" pitchFamily="34" charset="-122"/>
                <a:cs typeface="Times New Roman" panose="02020603050405020304" pitchFamily="18" charset="0"/>
              </a:rPr>
              <a:t>核心要义</a:t>
            </a:r>
            <a:endParaRPr kumimoji="0" lang="zh-CN" altLang="en-US" sz="2600" b="0" i="0" u="none" strike="noStrike" kern="100" cap="none" spc="0" normalizeH="0" baseline="0" noProof="0" dirty="0">
              <a:ln>
                <a:noFill/>
              </a:ln>
              <a:solidFill>
                <a:prstClr val="black"/>
              </a:solidFill>
              <a:effectLst/>
              <a:uLnTx/>
              <a:uFillTx/>
              <a:latin typeface="等线" panose="02010600030101010101" charset="-122"/>
              <a:ea typeface="微软雅黑" panose="020B0503020204020204" pitchFamily="34" charset="-122"/>
              <a:cs typeface="Times New Roman" panose="02020603050405020304" pitchFamily="18" charset="0"/>
            </a:endParaRPr>
          </a:p>
        </p:txBody>
      </p:sp>
      <p:sp>
        <p:nvSpPr>
          <p:cNvPr id="37" name="文本框 36"/>
          <p:cNvSpPr txBox="1"/>
          <p:nvPr/>
        </p:nvSpPr>
        <p:spPr>
          <a:xfrm>
            <a:off x="5560406" y="3574460"/>
            <a:ext cx="5960558" cy="492443"/>
          </a:xfrm>
          <a:prstGeom prst="rect">
            <a:avLst/>
          </a:prstGeom>
          <a:noFill/>
        </p:spPr>
        <p:txBody>
          <a:bodyPr wrap="square">
            <a:spAutoFit/>
          </a:bodyPr>
          <a:lstStyle/>
          <a:p>
            <a:pPr marL="0" marR="0" lvl="0" indent="0" algn="just" defTabSz="914400" rtl="0" eaLnBrk="1" fontAlgn="auto" latinLnBrk="0" hangingPunct="1">
              <a:lnSpc>
                <a:spcPct val="100000"/>
              </a:lnSpc>
              <a:spcBef>
                <a:spcPct val="0"/>
              </a:spcBef>
              <a:spcAft>
                <a:spcPct val="0"/>
              </a:spcAft>
              <a:buClrTx/>
              <a:buSzTx/>
              <a:buFontTx/>
              <a:buNone/>
              <a:defRPr/>
            </a:pPr>
            <a:r>
              <a:rPr kumimoji="0" lang="zh-CN" altLang="en-US" sz="2600" b="0" i="0" u="none" strike="noStrike" kern="100" cap="none" spc="0" normalizeH="0" baseline="0" noProof="0" dirty="0">
                <a:ln>
                  <a:noFill/>
                </a:ln>
                <a:solidFill>
                  <a:prstClr val="black"/>
                </a:solidFill>
                <a:effectLst/>
                <a:uLnTx/>
                <a:uFillTx/>
                <a:latin typeface="等线" panose="02010600030101010101" charset="-122"/>
                <a:ea typeface="微软雅黑" panose="020B0503020204020204" pitchFamily="34" charset="-122"/>
                <a:cs typeface="Times New Roman" panose="02020603050405020304" pitchFamily="18" charset="0"/>
              </a:rPr>
              <a:t>当代价值：</a:t>
            </a:r>
            <a:r>
              <a:rPr lang="zh-CN" altLang="en-US" sz="2600" kern="100" dirty="0">
                <a:solidFill>
                  <a:prstClr val="black"/>
                </a:solidFill>
                <a:latin typeface="等线" panose="02010600030101010101" charset="-122"/>
                <a:ea typeface="微软雅黑" panose="020B0503020204020204" pitchFamily="34" charset="-122"/>
                <a:cs typeface="Times New Roman" panose="02020603050405020304" pitchFamily="18" charset="0"/>
              </a:rPr>
              <a:t>永不过时的精神财富</a:t>
            </a:r>
            <a:endParaRPr kumimoji="0" lang="zh-CN" altLang="en-US" sz="2600" b="0" i="0" u="none" strike="noStrike" kern="100" cap="none" spc="0" normalizeH="0" baseline="0" noProof="0" dirty="0">
              <a:ln>
                <a:noFill/>
              </a:ln>
              <a:solidFill>
                <a:prstClr val="black"/>
              </a:solidFill>
              <a:effectLst/>
              <a:uLnTx/>
              <a:uFillTx/>
              <a:latin typeface="等线" panose="02010600030101010101" charset="-122"/>
              <a:ea typeface="微软雅黑" panose="020B0503020204020204" pitchFamily="34" charset="-122"/>
              <a:cs typeface="Times New Roman" panose="02020603050405020304" pitchFamily="18" charset="0"/>
            </a:endParaRPr>
          </a:p>
        </p:txBody>
      </p:sp>
      <p:sp>
        <p:nvSpPr>
          <p:cNvPr id="38" name="矩形: 圆角 37"/>
          <p:cNvSpPr/>
          <p:nvPr/>
        </p:nvSpPr>
        <p:spPr>
          <a:xfrm>
            <a:off x="4475326" y="1804478"/>
            <a:ext cx="684000" cy="684000"/>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C00000"/>
              </a:solidFill>
              <a:effectLst/>
              <a:uLnTx/>
              <a:uFillTx/>
              <a:latin typeface="+mj-ea"/>
              <a:ea typeface="思源宋体 Heavy"/>
              <a:cs typeface="+mn-cs"/>
            </a:endParaRPr>
          </a:p>
        </p:txBody>
      </p:sp>
      <p:sp>
        <p:nvSpPr>
          <p:cNvPr id="39" name="矩形: 圆角 38"/>
          <p:cNvSpPr/>
          <p:nvPr/>
        </p:nvSpPr>
        <p:spPr>
          <a:xfrm>
            <a:off x="4475326" y="2655378"/>
            <a:ext cx="684000" cy="684000"/>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C00000"/>
              </a:solidFill>
              <a:effectLst/>
              <a:uLnTx/>
              <a:uFillTx/>
              <a:latin typeface="+mj-ea"/>
              <a:ea typeface="思源宋体 Heavy"/>
              <a:cs typeface="+mn-cs"/>
            </a:endParaRPr>
          </a:p>
        </p:txBody>
      </p:sp>
      <p:sp>
        <p:nvSpPr>
          <p:cNvPr id="40" name="矩形: 圆角 39"/>
          <p:cNvSpPr/>
          <p:nvPr/>
        </p:nvSpPr>
        <p:spPr>
          <a:xfrm>
            <a:off x="4475326" y="3506278"/>
            <a:ext cx="684000" cy="684000"/>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C00000"/>
              </a:solidFill>
              <a:effectLst/>
              <a:uLnTx/>
              <a:uFillTx/>
              <a:latin typeface="+mj-ea"/>
              <a:ea typeface="思源宋体 Heavy"/>
              <a:cs typeface="+mn-cs"/>
            </a:endParaRPr>
          </a:p>
        </p:txBody>
      </p:sp>
      <p:sp>
        <p:nvSpPr>
          <p:cNvPr id="42" name="矩形: 圆角 41"/>
          <p:cNvSpPr/>
          <p:nvPr/>
        </p:nvSpPr>
        <p:spPr>
          <a:xfrm>
            <a:off x="4475326" y="4357178"/>
            <a:ext cx="684000" cy="684000"/>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C00000"/>
              </a:solidFill>
              <a:effectLst/>
              <a:uLnTx/>
              <a:uFillTx/>
              <a:latin typeface="+mj-ea"/>
              <a:ea typeface="思源宋体 Heavy"/>
              <a:cs typeface="+mn-cs"/>
            </a:endParaRPr>
          </a:p>
        </p:txBody>
      </p:sp>
      <p:sp>
        <p:nvSpPr>
          <p:cNvPr id="44" name="文本框 43"/>
          <p:cNvSpPr txBox="1"/>
          <p:nvPr/>
        </p:nvSpPr>
        <p:spPr>
          <a:xfrm>
            <a:off x="4466178" y="1883021"/>
            <a:ext cx="702296"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zh-CN" altLang="en-US" sz="2800" b="1" i="0" u="none" strike="noStrike" kern="1200" cap="none" spc="0" normalizeH="0" baseline="0" noProof="0">
                <a:ln>
                  <a:noFill/>
                </a:ln>
                <a:solidFill>
                  <a:srgbClr val="FFC000">
                    <a:lumMod val="20000"/>
                    <a:lumOff val="80000"/>
                  </a:srgbClr>
                </a:solidFill>
                <a:effectLst/>
                <a:uLnTx/>
                <a:uFillTx/>
                <a:latin typeface="+mj-ea"/>
                <a:ea typeface="思源宋体 Heavy"/>
                <a:cs typeface="+mn-cs"/>
              </a:rPr>
              <a:t>壹</a:t>
            </a:r>
          </a:p>
        </p:txBody>
      </p:sp>
      <p:sp>
        <p:nvSpPr>
          <p:cNvPr id="45" name="文本框 44"/>
          <p:cNvSpPr txBox="1"/>
          <p:nvPr/>
        </p:nvSpPr>
        <p:spPr>
          <a:xfrm>
            <a:off x="4466178" y="2733921"/>
            <a:ext cx="702296"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zh-CN" altLang="en-US" sz="2800" b="1" i="0" u="none" strike="noStrike" kern="1200" cap="none" spc="0" normalizeH="0" baseline="0" noProof="0">
                <a:ln>
                  <a:noFill/>
                </a:ln>
                <a:solidFill>
                  <a:srgbClr val="FFC000">
                    <a:lumMod val="20000"/>
                    <a:lumOff val="80000"/>
                  </a:srgbClr>
                </a:solidFill>
                <a:effectLst/>
                <a:uLnTx/>
                <a:uFillTx/>
                <a:latin typeface="+mj-ea"/>
                <a:ea typeface="思源宋体 Heavy"/>
                <a:cs typeface="+mn-cs"/>
              </a:rPr>
              <a:t>贰</a:t>
            </a:r>
          </a:p>
        </p:txBody>
      </p:sp>
      <p:sp>
        <p:nvSpPr>
          <p:cNvPr id="46" name="文本框 45"/>
          <p:cNvSpPr txBox="1"/>
          <p:nvPr/>
        </p:nvSpPr>
        <p:spPr>
          <a:xfrm>
            <a:off x="4466178" y="3584821"/>
            <a:ext cx="702296"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zh-CN" altLang="en-US" sz="2800" b="1" i="0" u="none" strike="noStrike" kern="1200" cap="none" spc="0" normalizeH="0" baseline="0" noProof="0">
                <a:ln>
                  <a:noFill/>
                </a:ln>
                <a:solidFill>
                  <a:srgbClr val="FFC000">
                    <a:lumMod val="20000"/>
                    <a:lumOff val="80000"/>
                  </a:srgbClr>
                </a:solidFill>
                <a:effectLst/>
                <a:uLnTx/>
                <a:uFillTx/>
                <a:latin typeface="+mj-ea"/>
                <a:ea typeface="思源宋体 Heavy"/>
                <a:cs typeface="+mn-cs"/>
              </a:rPr>
              <a:t>叁</a:t>
            </a:r>
          </a:p>
        </p:txBody>
      </p:sp>
      <p:sp>
        <p:nvSpPr>
          <p:cNvPr id="47" name="文本框 46"/>
          <p:cNvSpPr txBox="1"/>
          <p:nvPr/>
        </p:nvSpPr>
        <p:spPr>
          <a:xfrm>
            <a:off x="4466178" y="4431797"/>
            <a:ext cx="702296"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zh-CN" altLang="en-US" sz="2800" b="1" i="0" u="none" strike="noStrike" kern="1200" cap="none" spc="0" normalizeH="0" baseline="0" noProof="0">
                <a:ln>
                  <a:noFill/>
                </a:ln>
                <a:solidFill>
                  <a:srgbClr val="FFC000">
                    <a:lumMod val="20000"/>
                    <a:lumOff val="80000"/>
                  </a:srgbClr>
                </a:solidFill>
                <a:effectLst/>
                <a:uLnTx/>
                <a:uFillTx/>
                <a:latin typeface="+mj-ea"/>
                <a:ea typeface="思源宋体 Heavy"/>
                <a:cs typeface="+mn-cs"/>
              </a:rPr>
              <a:t>肆</a:t>
            </a:r>
          </a:p>
        </p:txBody>
      </p:sp>
      <p:sp>
        <p:nvSpPr>
          <p:cNvPr id="48" name="文本框 47"/>
          <p:cNvSpPr txBox="1"/>
          <p:nvPr/>
        </p:nvSpPr>
        <p:spPr>
          <a:xfrm>
            <a:off x="1082372" y="1740057"/>
            <a:ext cx="2469048" cy="1446550"/>
          </a:xfrm>
          <a:prstGeom prst="rect">
            <a:avLst/>
          </a:prstGeom>
          <a:noFill/>
        </p:spPr>
        <p:txBody>
          <a:bodyPr wrap="square" rtlCol="0">
            <a:spAutoFit/>
          </a:bodyPr>
          <a:lstStyle/>
          <a:p>
            <a:pPr marL="0" marR="0" lvl="0" indent="0" algn="dist" defTabSz="914400" rtl="0" eaLnBrk="1" fontAlgn="auto" latinLnBrk="0" hangingPunct="1">
              <a:lnSpc>
                <a:spcPct val="100000"/>
              </a:lnSpc>
              <a:spcBef>
                <a:spcPct val="0"/>
              </a:spcBef>
              <a:spcAft>
                <a:spcPct val="0"/>
              </a:spcAft>
              <a:buClrTx/>
              <a:buSzTx/>
              <a:buFontTx/>
              <a:buNone/>
              <a:defRPr/>
            </a:pPr>
            <a:r>
              <a:rPr kumimoji="0" lang="zh-CN" altLang="en-US" sz="8800" b="1" i="0" u="none" strike="noStrike" kern="1200" cap="none" spc="0" normalizeH="0" baseline="0" noProof="0">
                <a:ln w="15240">
                  <a:solidFill>
                    <a:prstClr val="white"/>
                  </a:solidFill>
                </a:ln>
                <a:blipFill>
                  <a:blip r:embed="rId2"/>
                  <a:stretch>
                    <a:fillRect/>
                  </a:stretch>
                </a:blipFill>
                <a:effectLst>
                  <a:outerShdw blurRad="25400" dist="25400" dir="5400000" algn="t" rotWithShape="0">
                    <a:prstClr val="black">
                      <a:alpha val="50000"/>
                    </a:prstClr>
                  </a:outerShdw>
                </a:effectLst>
                <a:uLnTx/>
                <a:uFillTx/>
                <a:latin typeface="汉仪尚巍手书W" panose="00020600040101010101" pitchFamily="18" charset="-122"/>
                <a:ea typeface="汉仪尚巍手书W" panose="00020600040101010101" pitchFamily="18" charset="-122"/>
                <a:cs typeface="+mn-cs"/>
              </a:rPr>
              <a:t>目录</a:t>
            </a:r>
          </a:p>
        </p:txBody>
      </p:sp>
      <p:sp>
        <p:nvSpPr>
          <p:cNvPr id="49" name="圆角矩形 35"/>
          <p:cNvSpPr/>
          <p:nvPr/>
        </p:nvSpPr>
        <p:spPr>
          <a:xfrm>
            <a:off x="1264384" y="3269476"/>
            <a:ext cx="2105025" cy="357187"/>
          </a:xfrm>
          <a:prstGeom prst="roundRect">
            <a:avLst>
              <a:gd name="adj" fmla="val 30000"/>
            </a:avLst>
          </a:prstGeom>
          <a:solidFill>
            <a:srgbClr val="D8050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50" name="矩形 49"/>
          <p:cNvSpPr/>
          <p:nvPr/>
        </p:nvSpPr>
        <p:spPr>
          <a:xfrm>
            <a:off x="1428623" y="3278792"/>
            <a:ext cx="1776546" cy="338554"/>
          </a:xfrm>
          <a:prstGeom prst="rect">
            <a:avLst/>
          </a:prstGeom>
        </p:spPr>
        <p:txBody>
          <a:bodyPr wrap="square">
            <a:spAutoFit/>
          </a:bodyPr>
          <a:lstStyle/>
          <a:p>
            <a:pPr marL="0" marR="0" lvl="0" indent="0" algn="dist" defTabSz="914400" rtl="0" eaLnBrk="1" fontAlgn="auto" latinLnBrk="0" hangingPunct="1">
              <a:lnSpc>
                <a:spcPct val="100000"/>
              </a:lnSpc>
              <a:spcBef>
                <a:spcPct val="0"/>
              </a:spcBef>
              <a:spcAft>
                <a:spcPct val="0"/>
              </a:spcAft>
              <a:buClrTx/>
              <a:buSzTx/>
              <a:buFontTx/>
              <a:buNone/>
              <a:defRPr/>
            </a:pPr>
            <a:r>
              <a:rPr kumimoji="0" lang="en-US" altLang="zh-CN" sz="1600" b="0" i="0" u="none" strike="noStrike" kern="1200" cap="none" spc="0" normalizeH="0" baseline="0" noProof="0">
                <a:ln>
                  <a:noFill/>
                </a:ln>
                <a:solidFill>
                  <a:prstClr val="white"/>
                </a:solidFill>
                <a:effectLst/>
                <a:uLnTx/>
                <a:uFillTx/>
                <a:latin typeface="思源宋體 Heavy" panose="02020900000000000000" pitchFamily="18" charset="-128"/>
                <a:ea typeface="思源宋體 Heavy" panose="02020900000000000000" pitchFamily="18" charset="-128"/>
                <a:cs typeface="+mn-cs"/>
              </a:rPr>
              <a:t>DIRECTORY</a:t>
            </a:r>
            <a:endParaRPr kumimoji="0" lang="zh-CN" altLang="en-US" sz="1600" b="0" i="0" u="none" strike="noStrike" kern="1200" cap="none" spc="0" normalizeH="0" baseline="0" noProof="0">
              <a:ln>
                <a:noFill/>
              </a:ln>
              <a:solidFill>
                <a:prstClr val="white"/>
              </a:solidFill>
              <a:effectLst/>
              <a:uLnTx/>
              <a:uFillTx/>
              <a:latin typeface="思源宋體 Heavy" panose="02020900000000000000" pitchFamily="18" charset="-128"/>
              <a:ea typeface="思源宋體 Heavy" panose="02020900000000000000" pitchFamily="18" charset="-128"/>
              <a:cs typeface="+mn-cs"/>
            </a:endParaRPr>
          </a:p>
        </p:txBody>
      </p:sp>
      <p:pic>
        <p:nvPicPr>
          <p:cNvPr id="51" name="图片 50"/>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5545836"/>
            <a:ext cx="12192000" cy="1312164"/>
          </a:xfrm>
          <a:prstGeom prst="rect">
            <a:avLst/>
          </a:prstGeom>
        </p:spPr>
      </p:pic>
      <p:pic>
        <p:nvPicPr>
          <p:cNvPr id="52" name="图片 51"/>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flipH="1">
            <a:off x="9359900" y="3391931"/>
            <a:ext cx="2832100" cy="3469609"/>
          </a:xfrm>
          <a:prstGeom prst="rect">
            <a:avLst/>
          </a:prstGeom>
        </p:spPr>
      </p:pic>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descr="图片包含 游戏机, 花, 雏菊, 灯光&#10;&#10;描述已自动生成">
            <a:extLst>
              <a:ext uri="{FF2B5EF4-FFF2-40B4-BE49-F238E27FC236}">
                <a16:creationId xmlns:a16="http://schemas.microsoft.com/office/drawing/2014/main" id="{28CB138F-BAED-8EBF-FA3B-CD736AFE941B}"/>
              </a:ext>
            </a:extLst>
          </p:cNvPr>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a:xfrm rot="10800000" flipV="1">
            <a:off x="-16879" y="0"/>
            <a:ext cx="5380318" cy="7134776"/>
          </a:xfrm>
          <a:prstGeom prst="rect">
            <a:avLst/>
          </a:prstGeom>
        </p:spPr>
      </p:pic>
      <p:sp>
        <p:nvSpPr>
          <p:cNvPr id="22" name="Rectangle 4"/>
          <p:cNvSpPr txBox="1">
            <a:spLocks noChangeArrowheads="1"/>
          </p:cNvSpPr>
          <p:nvPr/>
        </p:nvSpPr>
        <p:spPr bwMode="auto">
          <a:xfrm>
            <a:off x="8342301" y="166086"/>
            <a:ext cx="3690041" cy="5509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04" tIns="45702" rIns="91404" bIns="45702" numCol="1" anchor="ctr" anchorCtr="0" compatLnSpc="1"/>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rgbClr val="C00000"/>
                </a:solidFill>
                <a:effectLst/>
                <a:uLnTx/>
                <a:uFillTx/>
                <a:ea typeface="微软雅黑" panose="020B0503020204020204" pitchFamily="34" charset="-122"/>
                <a:cs typeface="+mj-cs"/>
              </a:rPr>
              <a:t>历史回眸：新中国从这里走来</a:t>
            </a:r>
          </a:p>
        </p:txBody>
      </p:sp>
      <p:cxnSp>
        <p:nvCxnSpPr>
          <p:cNvPr id="23" name="直接连接符 22"/>
          <p:cNvCxnSpPr/>
          <p:nvPr/>
        </p:nvCxnSpPr>
        <p:spPr>
          <a:xfrm flipH="1">
            <a:off x="7890647" y="441551"/>
            <a:ext cx="622068" cy="0"/>
          </a:xfrm>
          <a:prstGeom prst="line">
            <a:avLst/>
          </a:prstGeom>
          <a:ln>
            <a:solidFill>
              <a:srgbClr val="C00000"/>
            </a:solidFill>
            <a:prstDash val="dash"/>
          </a:ln>
        </p:spPr>
        <p:style>
          <a:lnRef idx="1">
            <a:schemeClr val="accent1"/>
          </a:lnRef>
          <a:fillRef idx="0">
            <a:schemeClr val="accent1"/>
          </a:fillRef>
          <a:effectRef idx="0">
            <a:schemeClr val="accent1"/>
          </a:effectRef>
          <a:fontRef idx="minor">
            <a:schemeClr val="tx1"/>
          </a:fontRef>
        </p:style>
      </p:cxnSp>
      <p:pic>
        <p:nvPicPr>
          <p:cNvPr id="53" name="图片 52" descr="图片包含 游戏机, 花, 雏菊, 灯光&#10;&#10;描述已自动生成"/>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flipV="1">
            <a:off x="10023968" y="3982997"/>
            <a:ext cx="2168032" cy="2875000"/>
          </a:xfrm>
          <a:prstGeom prst="rect">
            <a:avLst/>
          </a:prstGeom>
        </p:spPr>
      </p:pic>
      <p:pic>
        <p:nvPicPr>
          <p:cNvPr id="2" name="图片 1"/>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4325863" y="2874216"/>
            <a:ext cx="6956139" cy="1109568"/>
          </a:xfrm>
          <a:prstGeom prst="rect">
            <a:avLst/>
          </a:prstGeom>
        </p:spPr>
      </p:pic>
      <p:pic>
        <p:nvPicPr>
          <p:cNvPr id="3" name="图片 2"/>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6290313" y="1888037"/>
            <a:ext cx="2487384" cy="1444877"/>
          </a:xfrm>
          <a:prstGeom prst="rect">
            <a:avLst/>
          </a:prstGeom>
        </p:spPr>
      </p:pic>
      <p:pic>
        <p:nvPicPr>
          <p:cNvPr id="4" name="图片 3">
            <a:extLst>
              <a:ext uri="{FF2B5EF4-FFF2-40B4-BE49-F238E27FC236}">
                <a16:creationId xmlns:a16="http://schemas.microsoft.com/office/drawing/2014/main" id="{2B110D8E-E685-69D8-7C70-8142747ABF6D}"/>
              </a:ext>
            </a:extLst>
          </p:cNvPr>
          <p:cNvPicPr>
            <a:picLocks noChangeAspect="1"/>
          </p:cNvPicPr>
          <p:nvPr/>
        </p:nvPicPr>
        <p:blipFill>
          <a:blip r:embed="rId6" cstate="email">
            <a:extLst>
              <a:ext uri="{28A0092B-C50C-407E-A947-70E740481C1C}">
                <a14:useLocalDpi xmlns:a14="http://schemas.microsoft.com/office/drawing/2010/main"/>
              </a:ext>
            </a:extLst>
          </a:blip>
          <a:srcRect/>
          <a:stretch>
            <a:fillRect/>
          </a:stretch>
        </p:blipFill>
        <p:spPr>
          <a:xfrm flipH="1">
            <a:off x="-16880" y="-1162937"/>
            <a:ext cx="4460490" cy="8198143"/>
          </a:xfrm>
          <a:prstGeom prst="rect">
            <a:avLst/>
          </a:prstGeom>
        </p:spPr>
      </p:pic>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4"/>
          <p:cNvSpPr txBox="1">
            <a:spLocks noChangeArrowheads="1"/>
          </p:cNvSpPr>
          <p:nvPr/>
        </p:nvSpPr>
        <p:spPr bwMode="auto">
          <a:xfrm>
            <a:off x="8342301" y="166086"/>
            <a:ext cx="3690041" cy="5509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04" tIns="45702" rIns="91404" bIns="45702" numCol="1" anchor="ctr" anchorCtr="0" compatLnSpc="1"/>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rgbClr val="C00000"/>
                </a:solidFill>
                <a:effectLst/>
                <a:uLnTx/>
                <a:uFillTx/>
                <a:ea typeface="微软雅黑" panose="020B0503020204020204" pitchFamily="34" charset="-122"/>
                <a:cs typeface="+mj-cs"/>
              </a:rPr>
              <a:t>历史回眸：新中国从这里走来</a:t>
            </a:r>
          </a:p>
        </p:txBody>
      </p:sp>
      <p:cxnSp>
        <p:nvCxnSpPr>
          <p:cNvPr id="23" name="直接连接符 22"/>
          <p:cNvCxnSpPr/>
          <p:nvPr/>
        </p:nvCxnSpPr>
        <p:spPr>
          <a:xfrm flipH="1">
            <a:off x="7890647" y="441551"/>
            <a:ext cx="622068" cy="0"/>
          </a:xfrm>
          <a:prstGeom prst="line">
            <a:avLst/>
          </a:prstGeom>
          <a:ln>
            <a:solidFill>
              <a:srgbClr val="C00000"/>
            </a:solidFill>
            <a:prstDash val="dash"/>
          </a:ln>
        </p:spPr>
        <p:style>
          <a:lnRef idx="1">
            <a:schemeClr val="accent1"/>
          </a:lnRef>
          <a:fillRef idx="0">
            <a:schemeClr val="accent1"/>
          </a:fillRef>
          <a:effectRef idx="0">
            <a:schemeClr val="accent1"/>
          </a:effectRef>
          <a:fontRef idx="minor">
            <a:schemeClr val="tx1"/>
          </a:fontRef>
        </p:style>
      </p:cxnSp>
      <p:pic>
        <p:nvPicPr>
          <p:cNvPr id="51" name="图片 50"/>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5545836"/>
            <a:ext cx="12192000" cy="1312164"/>
          </a:xfrm>
          <a:prstGeom prst="rect">
            <a:avLst/>
          </a:prstGeom>
        </p:spPr>
      </p:pic>
      <p:pic>
        <p:nvPicPr>
          <p:cNvPr id="52" name="图片 51"/>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flipH="1">
            <a:off x="9982200" y="4154312"/>
            <a:ext cx="2209800" cy="2707228"/>
          </a:xfrm>
          <a:prstGeom prst="rect">
            <a:avLst/>
          </a:prstGeom>
        </p:spPr>
      </p:pic>
      <p:sp>
        <p:nvSpPr>
          <p:cNvPr id="66" name="文本框 65"/>
          <p:cNvSpPr txBox="1"/>
          <p:nvPr/>
        </p:nvSpPr>
        <p:spPr>
          <a:xfrm>
            <a:off x="1461404" y="231054"/>
            <a:ext cx="4143804" cy="523220"/>
          </a:xfrm>
          <a:prstGeom prst="rect">
            <a:avLst/>
          </a:prstGeom>
          <a:noFill/>
        </p:spPr>
        <p:txBody>
          <a:bodyPr wrap="square" rtlCol="0">
            <a:spAutoFit/>
          </a:bodyPr>
          <a:lstStyle/>
          <a:p>
            <a:pPr marL="0" marR="0" lvl="0" indent="0" defTabSz="914400" rtl="0" eaLnBrk="1" fontAlgn="auto" latinLnBrk="0" hangingPunct="1">
              <a:lnSpc>
                <a:spcPct val="100000"/>
              </a:lnSpc>
              <a:spcBef>
                <a:spcPct val="0"/>
              </a:spcBef>
              <a:spcAft>
                <a:spcPct val="0"/>
              </a:spcAft>
              <a:buClrTx/>
              <a:buSzTx/>
              <a:buFontTx/>
              <a:buNone/>
              <a:defRPr/>
            </a:pPr>
            <a:r>
              <a:rPr kumimoji="0" lang="zh-CN" altLang="en-US" sz="2800" b="0" i="0" u="none" strike="noStrike" kern="1200" cap="none" spc="0" normalizeH="0" baseline="0" noProof="0">
                <a:ln>
                  <a:noFill/>
                </a:ln>
                <a:solidFill>
                  <a:srgbClr val="C00000"/>
                </a:solidFill>
                <a:effectLst/>
                <a:uLnTx/>
                <a:uFillTx/>
                <a:latin typeface="+mn-ea"/>
                <a:cs typeface="阿里巴巴普惠体 H" panose="00020600040101010101" pitchFamily="18" charset="-122"/>
              </a:rPr>
              <a:t>新中国从这里走来</a:t>
            </a:r>
          </a:p>
        </p:txBody>
      </p:sp>
      <p:sp>
        <p:nvSpPr>
          <p:cNvPr id="67" name="文本框 66"/>
          <p:cNvSpPr txBox="1"/>
          <p:nvPr/>
        </p:nvSpPr>
        <p:spPr>
          <a:xfrm>
            <a:off x="4561416" y="3340527"/>
            <a:ext cx="6576484" cy="1308884"/>
          </a:xfrm>
          <a:prstGeom prst="rect">
            <a:avLst/>
          </a:prstGeom>
          <a:noFill/>
        </p:spPr>
        <p:txBody>
          <a:bodyPr wrap="square" rtlCol="0">
            <a:spAutoFit/>
          </a:bodyPr>
          <a:lstStyle/>
          <a:p>
            <a:pPr>
              <a:lnSpc>
                <a:spcPct val="150000"/>
              </a:lnSpc>
            </a:pPr>
            <a:r>
              <a:rPr lang="zh-CN" altLang="en-US" sz="2800" dirty="0">
                <a:latin typeface="+mn-ea"/>
              </a:rPr>
              <a:t>这是作家阎涛在西柏坡纪实</a:t>
            </a:r>
            <a:r>
              <a:rPr lang="en-US" altLang="zh-CN" sz="2800" dirty="0">
                <a:latin typeface="+mn-ea"/>
              </a:rPr>
              <a:t>《</a:t>
            </a:r>
            <a:r>
              <a:rPr lang="zh-CN" altLang="en-US" sz="2800" dirty="0">
                <a:latin typeface="+mn-ea"/>
              </a:rPr>
              <a:t>东行漫记</a:t>
            </a:r>
            <a:r>
              <a:rPr lang="en-US" altLang="zh-CN" sz="2800" dirty="0">
                <a:latin typeface="+mn-ea"/>
              </a:rPr>
              <a:t>》</a:t>
            </a:r>
            <a:r>
              <a:rPr lang="zh-CN" altLang="en-US" sz="2800" dirty="0">
                <a:latin typeface="+mn-ea"/>
              </a:rPr>
              <a:t>中的一句对西柏坡的概括</a:t>
            </a:r>
          </a:p>
        </p:txBody>
      </p:sp>
      <p:pic>
        <p:nvPicPr>
          <p:cNvPr id="69" name="图片 68"/>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rot="5400000">
            <a:off x="1097305" y="2188001"/>
            <a:ext cx="2845515" cy="2117318"/>
          </a:xfrm>
          <a:custGeom>
            <a:avLst/>
            <a:gdLst>
              <a:gd name="connsiteX0" fmla="*/ 0 w 3595845"/>
              <a:gd name="connsiteY0" fmla="*/ 2675631 h 2675631"/>
              <a:gd name="connsiteX1" fmla="*/ 0 w 3595845"/>
              <a:gd name="connsiteY1" fmla="*/ 0 h 2675631"/>
              <a:gd name="connsiteX2" fmla="*/ 3595845 w 3595845"/>
              <a:gd name="connsiteY2" fmla="*/ 0 h 2675631"/>
              <a:gd name="connsiteX3" fmla="*/ 3595845 w 3595845"/>
              <a:gd name="connsiteY3" fmla="*/ 2675631 h 2675631"/>
            </a:gdLst>
            <a:ahLst/>
            <a:cxnLst>
              <a:cxn ang="0">
                <a:pos x="connsiteX0" y="connsiteY0"/>
              </a:cxn>
              <a:cxn ang="0">
                <a:pos x="connsiteX1" y="connsiteY1"/>
              </a:cxn>
              <a:cxn ang="0">
                <a:pos x="connsiteX2" y="connsiteY2"/>
              </a:cxn>
              <a:cxn ang="0">
                <a:pos x="connsiteX3" y="connsiteY3"/>
              </a:cxn>
            </a:cxnLst>
            <a:rect l="l" t="t" r="r" b="b"/>
            <a:pathLst>
              <a:path w="3595845" h="2675631">
                <a:moveTo>
                  <a:pt x="0" y="2675631"/>
                </a:moveTo>
                <a:lnTo>
                  <a:pt x="0" y="0"/>
                </a:lnTo>
                <a:lnTo>
                  <a:pt x="3595845" y="0"/>
                </a:lnTo>
                <a:lnTo>
                  <a:pt x="3595845" y="2675631"/>
                </a:lnTo>
                <a:close/>
              </a:path>
            </a:pathLst>
          </a:custGeom>
          <a:noFill/>
          <a:effectLst>
            <a:outerShdw blurRad="190500" dist="152400" dir="2700000" algn="tl" rotWithShape="0">
              <a:prstClr val="black">
                <a:alpha val="28000"/>
              </a:prstClr>
            </a:outerShdw>
          </a:effectLst>
          <a:extLst>
            <a:ext uri="{909E8E84-426E-40DD-AFC4-6F175D3DCCD1}">
              <a14:hiddenFill xmlns:a14="http://schemas.microsoft.com/office/drawing/2010/main">
                <a:solidFill>
                  <a:srgbClr val="FFFFFF"/>
                </a:solidFill>
              </a14:hiddenFill>
            </a:ext>
          </a:extLst>
        </p:spPr>
      </p:pic>
      <p:pic>
        <p:nvPicPr>
          <p:cNvPr id="4" name="图片 3"/>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4412578" y="2029073"/>
            <a:ext cx="6956139" cy="1115665"/>
          </a:xfrm>
          <a:prstGeom prst="rect">
            <a:avLst/>
          </a:prstGeom>
        </p:spPr>
      </p:pic>
      <p:pic>
        <p:nvPicPr>
          <p:cNvPr id="5" name="图片 4"/>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4129089" y="1542029"/>
            <a:ext cx="566977" cy="524301"/>
          </a:xfrm>
          <a:prstGeom prst="rect">
            <a:avLst/>
          </a:prstGeom>
        </p:spPr>
      </p:pic>
      <p:pic>
        <p:nvPicPr>
          <p:cNvPr id="2" name="图片 1">
            <a:extLst>
              <a:ext uri="{FF2B5EF4-FFF2-40B4-BE49-F238E27FC236}">
                <a16:creationId xmlns:a16="http://schemas.microsoft.com/office/drawing/2014/main" id="{506651BE-F0D3-E010-D037-F0412FFFD8F0}"/>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585901" y="377337"/>
            <a:ext cx="646232" cy="256054"/>
          </a:xfrm>
          <a:prstGeom prst="rect">
            <a:avLst/>
          </a:prstGeom>
        </p:spPr>
      </p:pic>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 name="图片 50"/>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5545836"/>
            <a:ext cx="12192000" cy="1312164"/>
          </a:xfrm>
          <a:prstGeom prst="rect">
            <a:avLst/>
          </a:prstGeom>
        </p:spPr>
      </p:pic>
      <p:pic>
        <p:nvPicPr>
          <p:cNvPr id="52" name="图片 51"/>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flipH="1">
            <a:off x="9982200" y="4154312"/>
            <a:ext cx="2209800" cy="2707228"/>
          </a:xfrm>
          <a:prstGeom prst="rect">
            <a:avLst/>
          </a:prstGeom>
        </p:spPr>
      </p:pic>
      <p:sp>
        <p:nvSpPr>
          <p:cNvPr id="66" name="文本框 65"/>
          <p:cNvSpPr txBox="1"/>
          <p:nvPr/>
        </p:nvSpPr>
        <p:spPr>
          <a:xfrm>
            <a:off x="1461404" y="231054"/>
            <a:ext cx="4143804" cy="523220"/>
          </a:xfrm>
          <a:prstGeom prst="rect">
            <a:avLst/>
          </a:prstGeom>
          <a:noFill/>
        </p:spPr>
        <p:txBody>
          <a:bodyPr wrap="square" rtlCol="0">
            <a:spAutoFit/>
          </a:bodyPr>
          <a:lstStyle/>
          <a:p>
            <a:pPr marL="0" marR="0" lvl="0" indent="0" defTabSz="914400" rtl="0" eaLnBrk="1" fontAlgn="auto" latinLnBrk="0" hangingPunct="1">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rgbClr val="C00000"/>
                </a:solidFill>
                <a:effectLst/>
                <a:uLnTx/>
                <a:uFillTx/>
                <a:latin typeface="+mn-ea"/>
                <a:cs typeface="阿里巴巴普惠体 H" panose="00020600040101010101" pitchFamily="18" charset="-122"/>
              </a:rPr>
              <a:t>西柏坡</a:t>
            </a:r>
          </a:p>
        </p:txBody>
      </p:sp>
      <p:sp>
        <p:nvSpPr>
          <p:cNvPr id="36" name="标题 1"/>
          <p:cNvSpPr txBox="1"/>
          <p:nvPr/>
        </p:nvSpPr>
        <p:spPr>
          <a:xfrm>
            <a:off x="1017236" y="2038494"/>
            <a:ext cx="10551459" cy="2986023"/>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1800" dirty="0">
                <a:solidFill>
                  <a:schemeClr val="tx1">
                    <a:lumMod val="75000"/>
                    <a:lumOff val="25000"/>
                  </a:schemeClr>
                </a:solidFill>
                <a:latin typeface="+mn-ea"/>
                <a:ea typeface="+mn-ea"/>
              </a:rPr>
              <a:t>西柏坡位于太行山东麓、滹沱河北岸柏坡岭下，是河北省平山县西部山区的一个小山村。然而西柏坡不仅是中共中央在解放战争期间的重要指挥中心，也是中国共产党领导全国革命、最终取得胜利的重要历史见证地。</a:t>
            </a:r>
            <a:endParaRPr lang="en-US" altLang="zh-CN" sz="1800" dirty="0">
              <a:solidFill>
                <a:schemeClr val="tx1">
                  <a:lumMod val="75000"/>
                  <a:lumOff val="25000"/>
                </a:schemeClr>
              </a:solidFill>
              <a:latin typeface="+mn-ea"/>
              <a:ea typeface="+mn-ea"/>
            </a:endParaRPr>
          </a:p>
          <a:p>
            <a:pPr>
              <a:lnSpc>
                <a:spcPct val="150000"/>
              </a:lnSpc>
            </a:pPr>
            <a:r>
              <a:rPr lang="en-US" altLang="zh-CN" sz="1800" dirty="0">
                <a:solidFill>
                  <a:schemeClr val="tx1">
                    <a:lumMod val="75000"/>
                    <a:lumOff val="25000"/>
                  </a:schemeClr>
                </a:solidFill>
                <a:latin typeface="+mn-ea"/>
                <a:ea typeface="+mn-ea"/>
              </a:rPr>
              <a:t>1947</a:t>
            </a:r>
            <a:r>
              <a:rPr lang="zh-CN" altLang="en-US" sz="1800" dirty="0">
                <a:solidFill>
                  <a:schemeClr val="tx1">
                    <a:lumMod val="75000"/>
                    <a:lumOff val="25000"/>
                  </a:schemeClr>
                </a:solidFill>
                <a:latin typeface="+mn-ea"/>
                <a:ea typeface="+mn-ea"/>
              </a:rPr>
              <a:t>年</a:t>
            </a:r>
            <a:r>
              <a:rPr lang="en-US" altLang="zh-CN" sz="1800" dirty="0">
                <a:solidFill>
                  <a:schemeClr val="tx1">
                    <a:lumMod val="75000"/>
                    <a:lumOff val="25000"/>
                  </a:schemeClr>
                </a:solidFill>
                <a:latin typeface="+mn-ea"/>
                <a:ea typeface="+mn-ea"/>
              </a:rPr>
              <a:t>5</a:t>
            </a:r>
            <a:r>
              <a:rPr lang="zh-CN" altLang="en-US" sz="1800" dirty="0">
                <a:solidFill>
                  <a:schemeClr val="tx1">
                    <a:lumMod val="75000"/>
                    <a:lumOff val="25000"/>
                  </a:schemeClr>
                </a:solidFill>
                <a:latin typeface="+mn-ea"/>
                <a:ea typeface="+mn-ea"/>
              </a:rPr>
              <a:t>月党的中央工作委员会进驻西柏坡，</a:t>
            </a:r>
            <a:r>
              <a:rPr lang="en-US" altLang="zh-CN" sz="1800" dirty="0">
                <a:solidFill>
                  <a:schemeClr val="tx1">
                    <a:lumMod val="75000"/>
                    <a:lumOff val="25000"/>
                  </a:schemeClr>
                </a:solidFill>
                <a:latin typeface="+mn-ea"/>
                <a:ea typeface="+mn-ea"/>
              </a:rPr>
              <a:t>1948</a:t>
            </a:r>
            <a:r>
              <a:rPr lang="zh-CN" altLang="en-US" sz="1800" dirty="0">
                <a:solidFill>
                  <a:schemeClr val="tx1">
                    <a:lumMod val="75000"/>
                    <a:lumOff val="25000"/>
                  </a:schemeClr>
                </a:solidFill>
                <a:latin typeface="+mn-ea"/>
                <a:ea typeface="+mn-ea"/>
              </a:rPr>
              <a:t>年</a:t>
            </a:r>
            <a:r>
              <a:rPr lang="en-US" altLang="zh-CN" sz="1800" dirty="0">
                <a:solidFill>
                  <a:schemeClr val="tx1">
                    <a:lumMod val="75000"/>
                    <a:lumOff val="25000"/>
                  </a:schemeClr>
                </a:solidFill>
                <a:latin typeface="+mn-ea"/>
                <a:ea typeface="+mn-ea"/>
              </a:rPr>
              <a:t>5</a:t>
            </a:r>
            <a:r>
              <a:rPr lang="zh-CN" altLang="en-US" sz="1800" dirty="0">
                <a:solidFill>
                  <a:schemeClr val="tx1">
                    <a:lumMod val="75000"/>
                    <a:lumOff val="25000"/>
                  </a:schemeClr>
                </a:solidFill>
                <a:latin typeface="+mn-ea"/>
                <a:ea typeface="+mn-ea"/>
              </a:rPr>
              <a:t>月中共中央、人民解放军总部移驻西柏坡。一代伟人毛泽东和他的战友们在这里指点江山、运筹帷幄。</a:t>
            </a:r>
          </a:p>
        </p:txBody>
      </p:sp>
      <p:cxnSp>
        <p:nvCxnSpPr>
          <p:cNvPr id="39" name="直接连接符 38"/>
          <p:cNvCxnSpPr/>
          <p:nvPr/>
        </p:nvCxnSpPr>
        <p:spPr>
          <a:xfrm>
            <a:off x="1102148" y="5236393"/>
            <a:ext cx="8365040" cy="0"/>
          </a:xfrm>
          <a:prstGeom prst="line">
            <a:avLst/>
          </a:prstGeom>
          <a:ln w="25400">
            <a:solidFill>
              <a:srgbClr val="D20000"/>
            </a:solidFill>
          </a:ln>
        </p:spPr>
        <p:style>
          <a:lnRef idx="1">
            <a:schemeClr val="accent1"/>
          </a:lnRef>
          <a:fillRef idx="0">
            <a:schemeClr val="accent1"/>
          </a:fillRef>
          <a:effectRef idx="0">
            <a:schemeClr val="accent1"/>
          </a:effectRef>
          <a:fontRef idx="minor">
            <a:schemeClr val="tx1"/>
          </a:fontRef>
        </p:style>
      </p:cxnSp>
      <p:grpSp>
        <p:nvGrpSpPr>
          <p:cNvPr id="40" name="组合 39"/>
          <p:cNvGrpSpPr/>
          <p:nvPr/>
        </p:nvGrpSpPr>
        <p:grpSpPr>
          <a:xfrm>
            <a:off x="9691763" y="5115743"/>
            <a:ext cx="415925" cy="241300"/>
            <a:chOff x="7277100" y="3187700"/>
            <a:chExt cx="415925" cy="241300"/>
          </a:xfrm>
        </p:grpSpPr>
        <p:sp>
          <p:nvSpPr>
            <p:cNvPr id="42" name="箭头: V 形 41"/>
            <p:cNvSpPr/>
            <p:nvPr/>
          </p:nvSpPr>
          <p:spPr>
            <a:xfrm>
              <a:off x="7277100" y="3187700"/>
              <a:ext cx="241300" cy="241300"/>
            </a:xfrm>
            <a:prstGeom prst="chevron">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44" name="箭头: V 形 43"/>
            <p:cNvSpPr/>
            <p:nvPr/>
          </p:nvSpPr>
          <p:spPr>
            <a:xfrm>
              <a:off x="7451725" y="3187700"/>
              <a:ext cx="241300" cy="241300"/>
            </a:xfrm>
            <a:prstGeom prst="chevron">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endParaRPr>
            </a:p>
          </p:txBody>
        </p:sp>
      </p:grpSp>
      <p:pic>
        <p:nvPicPr>
          <p:cNvPr id="3" name="图片 2"/>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4730377" y="834083"/>
            <a:ext cx="2731245" cy="1109568"/>
          </a:xfrm>
          <a:prstGeom prst="rect">
            <a:avLst/>
          </a:prstGeom>
        </p:spPr>
      </p:pic>
      <p:pic>
        <p:nvPicPr>
          <p:cNvPr id="45" name="图片 44"/>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585901" y="377337"/>
            <a:ext cx="646232" cy="256054"/>
          </a:xfrm>
          <a:prstGeom prst="rect">
            <a:avLst/>
          </a:prstGeom>
        </p:spPr>
      </p:pic>
      <p:sp>
        <p:nvSpPr>
          <p:cNvPr id="5" name="矩形: 圆角 4">
            <a:extLst>
              <a:ext uri="{FF2B5EF4-FFF2-40B4-BE49-F238E27FC236}">
                <a16:creationId xmlns:a16="http://schemas.microsoft.com/office/drawing/2014/main" id="{8E7DC9F3-D845-8963-1DA2-35A40C29E90A}"/>
              </a:ext>
            </a:extLst>
          </p:cNvPr>
          <p:cNvSpPr/>
          <p:nvPr/>
        </p:nvSpPr>
        <p:spPr>
          <a:xfrm>
            <a:off x="1102148" y="4355814"/>
            <a:ext cx="3093199" cy="619920"/>
          </a:xfrm>
          <a:prstGeom prst="roundRect">
            <a:avLst>
              <a:gd name="adj" fmla="val 13124"/>
            </a:avLst>
          </a:prstGeom>
          <a:solidFill>
            <a:srgbClr val="C00000"/>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16552" tIns="30262" rIns="316552" bIns="30262" numCol="1" spcCol="1270" anchor="ctr" anchorCtr="0">
            <a:noAutofit/>
          </a:bodyPr>
          <a:lstStyle/>
          <a:p>
            <a:pPr marL="0" marR="0" lvl="0" indent="0" algn="ctr" defTabSz="933450" rtl="0" eaLnBrk="1" fontAlgn="auto" latinLnBrk="0" hangingPunct="1">
              <a:lnSpc>
                <a:spcPct val="90000"/>
              </a:lnSpc>
              <a:spcBef>
                <a:spcPct val="0"/>
              </a:spcBef>
              <a:spcAft>
                <a:spcPct val="35000"/>
              </a:spcAft>
              <a:buClrTx/>
              <a:buSzTx/>
              <a:buFontTx/>
              <a:buNone/>
              <a:defRPr/>
            </a:pPr>
            <a:r>
              <a:rPr kumimoji="0" lang="zh-CN" altLang="en-US" sz="2100" b="0" i="0" u="none" strike="noStrike" kern="1200" cap="none" spc="0" normalizeH="0" baseline="0" noProof="0">
                <a:ln>
                  <a:noFill/>
                </a:ln>
                <a:solidFill>
                  <a:prstClr val="white"/>
                </a:solidFill>
                <a:effectLst/>
                <a:uLnTx/>
                <a:uFillTx/>
                <a:latin typeface="阿里巴巴普惠体 B" panose="00020600040101010101" pitchFamily="18" charset="-122"/>
                <a:ea typeface="阿里巴巴普惠体 B" panose="00020600040101010101" pitchFamily="18" charset="-122"/>
                <a:cs typeface="阿里巴巴普惠体 B" panose="00020600040101010101" pitchFamily="18" charset="-122"/>
              </a:rPr>
              <a:t>最后一个农村指挥所</a:t>
            </a:r>
          </a:p>
        </p:txBody>
      </p:sp>
      <p:sp>
        <p:nvSpPr>
          <p:cNvPr id="6" name="矩形: 圆角 5">
            <a:extLst>
              <a:ext uri="{FF2B5EF4-FFF2-40B4-BE49-F238E27FC236}">
                <a16:creationId xmlns:a16="http://schemas.microsoft.com/office/drawing/2014/main" id="{7ED49138-3FC0-FD83-530F-791FA433E5BD}"/>
              </a:ext>
            </a:extLst>
          </p:cNvPr>
          <p:cNvSpPr/>
          <p:nvPr/>
        </p:nvSpPr>
        <p:spPr>
          <a:xfrm>
            <a:off x="4516184" y="4355814"/>
            <a:ext cx="2678513" cy="619920"/>
          </a:xfrm>
          <a:prstGeom prst="roundRect">
            <a:avLst>
              <a:gd name="adj" fmla="val 13124"/>
            </a:avLst>
          </a:prstGeom>
          <a:solidFill>
            <a:srgbClr val="C00000"/>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16552" tIns="30262" rIns="316552" bIns="30262" numCol="1" spcCol="1270" anchor="ctr" anchorCtr="0">
            <a:noAutofit/>
          </a:bodyPr>
          <a:lstStyle/>
          <a:p>
            <a:pPr marL="0" marR="0" lvl="0" indent="0" algn="ctr" defTabSz="933450" rtl="0" eaLnBrk="1" fontAlgn="auto" latinLnBrk="0" hangingPunct="1">
              <a:lnSpc>
                <a:spcPct val="90000"/>
              </a:lnSpc>
              <a:spcBef>
                <a:spcPct val="0"/>
              </a:spcBef>
              <a:spcAft>
                <a:spcPct val="35000"/>
              </a:spcAft>
              <a:buClrTx/>
              <a:buSzTx/>
              <a:buFontTx/>
              <a:buNone/>
              <a:defRPr/>
            </a:pPr>
            <a:r>
              <a:rPr kumimoji="0" lang="zh-CN" altLang="en-US" sz="2100" b="0" i="0" u="none" strike="noStrike" kern="1200" cap="none" spc="0" normalizeH="0" baseline="0" noProof="0" dirty="0">
                <a:ln>
                  <a:noFill/>
                </a:ln>
                <a:solidFill>
                  <a:prstClr val="white"/>
                </a:solidFill>
                <a:effectLst/>
                <a:uLnTx/>
                <a:uFillTx/>
                <a:latin typeface="阿里巴巴普惠体 B" panose="00020600040101010101" pitchFamily="18" charset="-122"/>
                <a:ea typeface="阿里巴巴普惠体 B" panose="00020600040101010101" pitchFamily="18" charset="-122"/>
                <a:cs typeface="阿里巴巴普惠体 B" panose="00020600040101010101" pitchFamily="18" charset="-122"/>
              </a:rPr>
              <a:t>一座不朽的丰碑</a:t>
            </a:r>
          </a:p>
        </p:txBody>
      </p:sp>
      <p:sp>
        <p:nvSpPr>
          <p:cNvPr id="7" name="矩形: 圆角 6">
            <a:extLst>
              <a:ext uri="{FF2B5EF4-FFF2-40B4-BE49-F238E27FC236}">
                <a16:creationId xmlns:a16="http://schemas.microsoft.com/office/drawing/2014/main" id="{20AF11D1-427B-202B-8B6F-1AE7AB13A00D}"/>
              </a:ext>
            </a:extLst>
          </p:cNvPr>
          <p:cNvSpPr/>
          <p:nvPr/>
        </p:nvSpPr>
        <p:spPr>
          <a:xfrm>
            <a:off x="7398757" y="4355814"/>
            <a:ext cx="2829089" cy="619920"/>
          </a:xfrm>
          <a:prstGeom prst="roundRect">
            <a:avLst>
              <a:gd name="adj" fmla="val 13124"/>
            </a:avLst>
          </a:prstGeom>
          <a:solidFill>
            <a:srgbClr val="C00000"/>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16552" tIns="30262" rIns="316552" bIns="30262" numCol="1" spcCol="1270" anchor="ctr" anchorCtr="0">
            <a:noAutofit/>
          </a:bodyPr>
          <a:lstStyle/>
          <a:p>
            <a:pPr marL="0" marR="0" lvl="0" indent="0" algn="ctr" defTabSz="933450" rtl="0" eaLnBrk="1" fontAlgn="auto" latinLnBrk="0" hangingPunct="1">
              <a:lnSpc>
                <a:spcPct val="90000"/>
              </a:lnSpc>
              <a:spcBef>
                <a:spcPct val="0"/>
              </a:spcBef>
              <a:spcAft>
                <a:spcPct val="35000"/>
              </a:spcAft>
              <a:buClrTx/>
              <a:buSzTx/>
              <a:buFontTx/>
              <a:buNone/>
              <a:defRPr/>
            </a:pPr>
            <a:r>
              <a:rPr kumimoji="0" lang="zh-CN" altLang="en-US" sz="2100" b="0" i="0" u="none" strike="noStrike" kern="1200" cap="none" spc="0" normalizeH="0" baseline="0" noProof="0">
                <a:ln>
                  <a:noFill/>
                </a:ln>
                <a:solidFill>
                  <a:prstClr val="white"/>
                </a:solidFill>
                <a:effectLst/>
                <a:uLnTx/>
                <a:uFillTx/>
                <a:latin typeface="阿里巴巴普惠体 B" panose="00020600040101010101" pitchFamily="18" charset="-122"/>
                <a:ea typeface="阿里巴巴普惠体 B" panose="00020600040101010101" pitchFamily="18" charset="-122"/>
                <a:cs typeface="阿里巴巴普惠体 B" panose="00020600040101010101" pitchFamily="18" charset="-122"/>
              </a:rPr>
              <a:t>五大革命圣地之一</a:t>
            </a:r>
          </a:p>
        </p:txBody>
      </p:sp>
      <p:sp>
        <p:nvSpPr>
          <p:cNvPr id="8" name="Rectangle 4">
            <a:extLst>
              <a:ext uri="{FF2B5EF4-FFF2-40B4-BE49-F238E27FC236}">
                <a16:creationId xmlns:a16="http://schemas.microsoft.com/office/drawing/2014/main" id="{BECD054F-BB6F-632B-8506-052B0A23924B}"/>
              </a:ext>
            </a:extLst>
          </p:cNvPr>
          <p:cNvSpPr txBox="1">
            <a:spLocks noChangeArrowheads="1"/>
          </p:cNvSpPr>
          <p:nvPr/>
        </p:nvSpPr>
        <p:spPr bwMode="auto">
          <a:xfrm>
            <a:off x="8342301" y="166086"/>
            <a:ext cx="3690041" cy="5509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04" tIns="45702" rIns="91404" bIns="45702" numCol="1" anchor="ctr" anchorCtr="0" compatLnSpc="1"/>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rgbClr val="C00000"/>
                </a:solidFill>
                <a:effectLst/>
                <a:uLnTx/>
                <a:uFillTx/>
                <a:ea typeface="微软雅黑" panose="020B0503020204020204" pitchFamily="34" charset="-122"/>
                <a:cs typeface="+mj-cs"/>
              </a:rPr>
              <a:t>历史回眸：新中国从这里走来</a:t>
            </a:r>
          </a:p>
        </p:txBody>
      </p:sp>
      <p:cxnSp>
        <p:nvCxnSpPr>
          <p:cNvPr id="9" name="直接连接符 8">
            <a:extLst>
              <a:ext uri="{FF2B5EF4-FFF2-40B4-BE49-F238E27FC236}">
                <a16:creationId xmlns:a16="http://schemas.microsoft.com/office/drawing/2014/main" id="{3465E6A5-B64C-0261-CA7E-D4A1391B56C4}"/>
              </a:ext>
            </a:extLst>
          </p:cNvPr>
          <p:cNvCxnSpPr/>
          <p:nvPr/>
        </p:nvCxnSpPr>
        <p:spPr>
          <a:xfrm flipH="1">
            <a:off x="7890647" y="441551"/>
            <a:ext cx="622068" cy="0"/>
          </a:xfrm>
          <a:prstGeom prst="line">
            <a:avLst/>
          </a:prstGeom>
          <a:ln>
            <a:solidFill>
              <a:srgbClr val="C00000"/>
            </a:solidFill>
            <a:prstDash val="dash"/>
          </a:ln>
        </p:spPr>
        <p:style>
          <a:lnRef idx="1">
            <a:schemeClr val="accent1"/>
          </a:lnRef>
          <a:fillRef idx="0">
            <a:schemeClr val="accent1"/>
          </a:fillRef>
          <a:effectRef idx="0">
            <a:schemeClr val="accent1"/>
          </a:effectRef>
          <a:fontRef idx="minor">
            <a:schemeClr val="tx1"/>
          </a:fontRef>
        </p:style>
      </p:cxn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 name="图片 50"/>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5545836"/>
            <a:ext cx="12192000" cy="1312164"/>
          </a:xfrm>
          <a:prstGeom prst="rect">
            <a:avLst/>
          </a:prstGeom>
        </p:spPr>
      </p:pic>
      <p:pic>
        <p:nvPicPr>
          <p:cNvPr id="52" name="图片 51"/>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flipH="1">
            <a:off x="9982200" y="4154312"/>
            <a:ext cx="2209800" cy="2707228"/>
          </a:xfrm>
          <a:prstGeom prst="rect">
            <a:avLst/>
          </a:prstGeom>
        </p:spPr>
      </p:pic>
      <p:sp>
        <p:nvSpPr>
          <p:cNvPr id="66" name="文本框 65"/>
          <p:cNvSpPr txBox="1"/>
          <p:nvPr/>
        </p:nvSpPr>
        <p:spPr>
          <a:xfrm>
            <a:off x="1461404" y="231054"/>
            <a:ext cx="4143804" cy="523220"/>
          </a:xfrm>
          <a:prstGeom prst="rect">
            <a:avLst/>
          </a:prstGeom>
          <a:noFill/>
        </p:spPr>
        <p:txBody>
          <a:bodyPr wrap="square" rtlCol="0">
            <a:spAutoFit/>
          </a:bodyPr>
          <a:lstStyle/>
          <a:p>
            <a:pPr marL="0" marR="0" lvl="0" indent="0" defTabSz="914400" rtl="0" eaLnBrk="1" fontAlgn="auto" latinLnBrk="0" hangingPunct="1">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rgbClr val="C00000"/>
                </a:solidFill>
                <a:effectLst/>
                <a:uLnTx/>
                <a:uFillTx/>
                <a:latin typeface="+mn-ea"/>
                <a:cs typeface="阿里巴巴普惠体 H" panose="00020600040101010101" pitchFamily="18" charset="-122"/>
              </a:rPr>
              <a:t>西柏坡时期的光辉实践</a:t>
            </a:r>
          </a:p>
        </p:txBody>
      </p:sp>
      <p:sp>
        <p:nvSpPr>
          <p:cNvPr id="210" name="标题 1"/>
          <p:cNvSpPr txBox="1"/>
          <p:nvPr/>
        </p:nvSpPr>
        <p:spPr>
          <a:xfrm>
            <a:off x="1461404" y="1744076"/>
            <a:ext cx="3254329" cy="523220"/>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1800" b="1" dirty="0">
                <a:solidFill>
                  <a:schemeClr val="tx1">
                    <a:lumMod val="75000"/>
                    <a:lumOff val="25000"/>
                  </a:schemeClr>
                </a:solidFill>
                <a:latin typeface="+mn-ea"/>
                <a:ea typeface="+mn-ea"/>
              </a:rPr>
              <a:t>一、领导土地改革运动</a:t>
            </a:r>
          </a:p>
        </p:txBody>
      </p:sp>
      <p:sp>
        <p:nvSpPr>
          <p:cNvPr id="211" name="标题 1"/>
          <p:cNvSpPr txBox="1"/>
          <p:nvPr/>
        </p:nvSpPr>
        <p:spPr>
          <a:xfrm>
            <a:off x="4864729" y="1744076"/>
            <a:ext cx="3254329" cy="523220"/>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1800" b="1">
                <a:solidFill>
                  <a:schemeClr val="tx1">
                    <a:lumMod val="75000"/>
                    <a:lumOff val="25000"/>
                  </a:schemeClr>
                </a:solidFill>
                <a:latin typeface="+mn-ea"/>
                <a:ea typeface="+mn-ea"/>
              </a:rPr>
              <a:t>二、指挥三大战役</a:t>
            </a:r>
          </a:p>
        </p:txBody>
      </p:sp>
      <p:sp>
        <p:nvSpPr>
          <p:cNvPr id="213" name="标题 1"/>
          <p:cNvSpPr txBox="1"/>
          <p:nvPr/>
        </p:nvSpPr>
        <p:spPr>
          <a:xfrm>
            <a:off x="7887378" y="1744076"/>
            <a:ext cx="3254329" cy="523220"/>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1800" b="1">
                <a:solidFill>
                  <a:schemeClr val="tx1">
                    <a:lumMod val="75000"/>
                    <a:lumOff val="25000"/>
                  </a:schemeClr>
                </a:solidFill>
                <a:latin typeface="+mn-ea"/>
                <a:ea typeface="+mn-ea"/>
              </a:rPr>
              <a:t>三、召开七届二中全会</a:t>
            </a:r>
          </a:p>
        </p:txBody>
      </p:sp>
      <p:pic>
        <p:nvPicPr>
          <p:cNvPr id="214" name="Picture 4"/>
          <p:cNvPicPr>
            <a:picLocks noChangeAspect="1" noChangeArrowheads="1"/>
          </p:cNvPicPr>
          <p:nvPr/>
        </p:nvPicPr>
        <p:blipFill>
          <a:blip r:embed="rId4">
            <a:extLst>
              <a:ext uri="{28A0092B-C50C-407E-A947-70E740481C1C}">
                <a14:useLocalDpi xmlns:a14="http://schemas.microsoft.com/office/drawing/2010/main"/>
              </a:ext>
            </a:extLst>
          </a:blip>
          <a:stretch>
            <a:fillRect/>
          </a:stretch>
        </p:blipFill>
        <p:spPr bwMode="auto">
          <a:xfrm>
            <a:off x="1461404" y="2621603"/>
            <a:ext cx="2352483" cy="1957276"/>
          </a:xfrm>
          <a:custGeom>
            <a:avLst/>
            <a:gdLst>
              <a:gd name="connsiteX0" fmla="*/ 0 w 3595845"/>
              <a:gd name="connsiteY0" fmla="*/ 2675631 h 2675631"/>
              <a:gd name="connsiteX1" fmla="*/ 0 w 3595845"/>
              <a:gd name="connsiteY1" fmla="*/ 0 h 2675631"/>
              <a:gd name="connsiteX2" fmla="*/ 3595845 w 3595845"/>
              <a:gd name="connsiteY2" fmla="*/ 0 h 2675631"/>
              <a:gd name="connsiteX3" fmla="*/ 3595845 w 3595845"/>
              <a:gd name="connsiteY3" fmla="*/ 2675631 h 2675631"/>
            </a:gdLst>
            <a:ahLst/>
            <a:cxnLst>
              <a:cxn ang="0">
                <a:pos x="connsiteX0" y="connsiteY0"/>
              </a:cxn>
              <a:cxn ang="0">
                <a:pos x="connsiteX1" y="connsiteY1"/>
              </a:cxn>
              <a:cxn ang="0">
                <a:pos x="connsiteX2" y="connsiteY2"/>
              </a:cxn>
              <a:cxn ang="0">
                <a:pos x="connsiteX3" y="connsiteY3"/>
              </a:cxn>
            </a:cxnLst>
            <a:rect l="l" t="t" r="r" b="b"/>
            <a:pathLst>
              <a:path w="3595845" h="2675631">
                <a:moveTo>
                  <a:pt x="0" y="2675631"/>
                </a:moveTo>
                <a:lnTo>
                  <a:pt x="0" y="0"/>
                </a:lnTo>
                <a:lnTo>
                  <a:pt x="3595845" y="0"/>
                </a:lnTo>
                <a:lnTo>
                  <a:pt x="3595845" y="2675631"/>
                </a:lnTo>
                <a:close/>
              </a:path>
            </a:pathLst>
          </a:custGeom>
          <a:noFill/>
          <a:ln w="19050">
            <a:solidFill>
              <a:schemeClr val="bg1"/>
            </a:solidFill>
            <a:miter lim="800000"/>
          </a:ln>
          <a:effectLst>
            <a:outerShdw blurRad="190500" dist="152400" dir="2700000" algn="tl" rotWithShape="0">
              <a:prstClr val="black">
                <a:alpha val="28000"/>
              </a:prstClr>
            </a:outerShdw>
          </a:effectLst>
          <a:extLst>
            <a:ext uri="{909E8E84-426E-40DD-AFC4-6F175D3DCCD1}">
              <a14:hiddenFill xmlns:a14="http://schemas.microsoft.com/office/drawing/2010/main">
                <a:solidFill>
                  <a:srgbClr val="FFFFFF"/>
                </a:solidFill>
              </a14:hiddenFill>
            </a:ext>
          </a:extLst>
        </p:spPr>
      </p:pic>
      <p:pic>
        <p:nvPicPr>
          <p:cNvPr id="215" name="Picture 3" descr="周恩来"/>
          <p:cNvPicPr>
            <a:picLocks noChangeAspect="1" noChangeArrowheads="1"/>
          </p:cNvPicPr>
          <p:nvPr/>
        </p:nvPicPr>
        <p:blipFill>
          <a:blip r:embed="rId5">
            <a:extLst>
              <a:ext uri="{28A0092B-C50C-407E-A947-70E740481C1C}">
                <a14:useLocalDpi xmlns:a14="http://schemas.microsoft.com/office/drawing/2010/main"/>
              </a:ext>
            </a:extLst>
          </a:blip>
          <a:stretch>
            <a:fillRect/>
          </a:stretch>
        </p:blipFill>
        <p:spPr>
          <a:xfrm>
            <a:off x="4776502" y="2636172"/>
            <a:ext cx="2431501" cy="1957276"/>
          </a:xfrm>
          <a:custGeom>
            <a:avLst/>
            <a:gdLst>
              <a:gd name="connsiteX0" fmla="*/ 0 w 3595845"/>
              <a:gd name="connsiteY0" fmla="*/ 2675631 h 2675631"/>
              <a:gd name="connsiteX1" fmla="*/ 0 w 3595845"/>
              <a:gd name="connsiteY1" fmla="*/ 0 h 2675631"/>
              <a:gd name="connsiteX2" fmla="*/ 3595845 w 3595845"/>
              <a:gd name="connsiteY2" fmla="*/ 0 h 2675631"/>
              <a:gd name="connsiteX3" fmla="*/ 3595845 w 3595845"/>
              <a:gd name="connsiteY3" fmla="*/ 2675631 h 2675631"/>
            </a:gdLst>
            <a:ahLst/>
            <a:cxnLst>
              <a:cxn ang="0">
                <a:pos x="connsiteX0" y="connsiteY0"/>
              </a:cxn>
              <a:cxn ang="0">
                <a:pos x="connsiteX1" y="connsiteY1"/>
              </a:cxn>
              <a:cxn ang="0">
                <a:pos x="connsiteX2" y="connsiteY2"/>
              </a:cxn>
              <a:cxn ang="0">
                <a:pos x="connsiteX3" y="connsiteY3"/>
              </a:cxn>
            </a:cxnLst>
            <a:rect l="l" t="t" r="r" b="b"/>
            <a:pathLst>
              <a:path w="3595845" h="2675631">
                <a:moveTo>
                  <a:pt x="0" y="2675631"/>
                </a:moveTo>
                <a:lnTo>
                  <a:pt x="0" y="0"/>
                </a:lnTo>
                <a:lnTo>
                  <a:pt x="3595845" y="0"/>
                </a:lnTo>
                <a:lnTo>
                  <a:pt x="3595845" y="2675631"/>
                </a:lnTo>
                <a:close/>
              </a:path>
            </a:pathLst>
          </a:custGeom>
          <a:noFill/>
          <a:ln w="19050">
            <a:solidFill>
              <a:schemeClr val="bg1"/>
            </a:solidFill>
          </a:ln>
          <a:effectLst>
            <a:outerShdw blurRad="190500" dist="152400" dir="2700000" algn="tl" rotWithShape="0">
              <a:prstClr val="black">
                <a:alpha val="28000"/>
              </a:prstClr>
            </a:outerShdw>
          </a:effectLst>
          <a:extLst>
            <a:ext uri="{909E8E84-426E-40DD-AFC4-6F175D3DCCD1}">
              <a14:hiddenFill xmlns:a14="http://schemas.microsoft.com/office/drawing/2010/main">
                <a:solidFill>
                  <a:srgbClr val="FFFFFF"/>
                </a:solidFill>
              </a14:hiddenFill>
            </a:ext>
          </a:extLst>
        </p:spPr>
      </p:pic>
      <p:pic>
        <p:nvPicPr>
          <p:cNvPr id="216" name="Picture 3" descr="毛泽东"/>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a:xfrm>
            <a:off x="7925422" y="2636172"/>
            <a:ext cx="2479160" cy="2022062"/>
          </a:xfrm>
          <a:custGeom>
            <a:avLst/>
            <a:gdLst>
              <a:gd name="connsiteX0" fmla="*/ 0 w 3595845"/>
              <a:gd name="connsiteY0" fmla="*/ 2675631 h 2675631"/>
              <a:gd name="connsiteX1" fmla="*/ 0 w 3595845"/>
              <a:gd name="connsiteY1" fmla="*/ 0 h 2675631"/>
              <a:gd name="connsiteX2" fmla="*/ 3595845 w 3595845"/>
              <a:gd name="connsiteY2" fmla="*/ 0 h 2675631"/>
              <a:gd name="connsiteX3" fmla="*/ 3595845 w 3595845"/>
              <a:gd name="connsiteY3" fmla="*/ 2675631 h 2675631"/>
            </a:gdLst>
            <a:ahLst/>
            <a:cxnLst>
              <a:cxn ang="0">
                <a:pos x="connsiteX0" y="connsiteY0"/>
              </a:cxn>
              <a:cxn ang="0">
                <a:pos x="connsiteX1" y="connsiteY1"/>
              </a:cxn>
              <a:cxn ang="0">
                <a:pos x="connsiteX2" y="connsiteY2"/>
              </a:cxn>
              <a:cxn ang="0">
                <a:pos x="connsiteX3" y="connsiteY3"/>
              </a:cxn>
            </a:cxnLst>
            <a:rect l="l" t="t" r="r" b="b"/>
            <a:pathLst>
              <a:path w="3595845" h="2675631">
                <a:moveTo>
                  <a:pt x="0" y="2675631"/>
                </a:moveTo>
                <a:lnTo>
                  <a:pt x="0" y="0"/>
                </a:lnTo>
                <a:lnTo>
                  <a:pt x="3595845" y="0"/>
                </a:lnTo>
                <a:lnTo>
                  <a:pt x="3595845" y="2675631"/>
                </a:lnTo>
                <a:close/>
              </a:path>
            </a:pathLst>
          </a:custGeom>
          <a:noFill/>
          <a:ln w="19050">
            <a:solidFill>
              <a:schemeClr val="bg1"/>
            </a:solidFill>
          </a:ln>
          <a:effectLst>
            <a:outerShdw blurRad="190500" dist="152400" dir="2700000" algn="tl" rotWithShape="0">
              <a:prstClr val="black">
                <a:alpha val="28000"/>
              </a:prstClr>
            </a:outerShdw>
          </a:effectLst>
          <a:extLst>
            <a:ext uri="{909E8E84-426E-40DD-AFC4-6F175D3DCCD1}">
              <a14:hiddenFill xmlns:a14="http://schemas.microsoft.com/office/drawing/2010/main">
                <a:solidFill>
                  <a:srgbClr val="FFFFFF"/>
                </a:solidFill>
              </a14:hiddenFill>
            </a:ext>
          </a:extLst>
        </p:spPr>
      </p:pic>
      <p:pic>
        <p:nvPicPr>
          <p:cNvPr id="217" name="图片 216"/>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585901" y="377337"/>
            <a:ext cx="646232" cy="256054"/>
          </a:xfrm>
          <a:prstGeom prst="rect">
            <a:avLst/>
          </a:prstGeom>
        </p:spPr>
      </p:pic>
      <p:sp>
        <p:nvSpPr>
          <p:cNvPr id="4" name="Rectangle 4">
            <a:extLst>
              <a:ext uri="{FF2B5EF4-FFF2-40B4-BE49-F238E27FC236}">
                <a16:creationId xmlns:a16="http://schemas.microsoft.com/office/drawing/2014/main" id="{5962ABAE-A341-8DCC-BE03-10B73F8082D3}"/>
              </a:ext>
            </a:extLst>
          </p:cNvPr>
          <p:cNvSpPr txBox="1">
            <a:spLocks noChangeArrowheads="1"/>
          </p:cNvSpPr>
          <p:nvPr/>
        </p:nvSpPr>
        <p:spPr bwMode="auto">
          <a:xfrm>
            <a:off x="8342301" y="166086"/>
            <a:ext cx="3690041" cy="5509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04" tIns="45702" rIns="91404" bIns="45702" numCol="1" anchor="ctr" anchorCtr="0" compatLnSpc="1"/>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rgbClr val="C00000"/>
                </a:solidFill>
                <a:effectLst/>
                <a:uLnTx/>
                <a:uFillTx/>
                <a:ea typeface="微软雅黑" panose="020B0503020204020204" pitchFamily="34" charset="-122"/>
                <a:cs typeface="+mj-cs"/>
              </a:rPr>
              <a:t>历史回眸：新中国从这里走来</a:t>
            </a:r>
          </a:p>
        </p:txBody>
      </p:sp>
      <p:cxnSp>
        <p:nvCxnSpPr>
          <p:cNvPr id="5" name="直接连接符 4">
            <a:extLst>
              <a:ext uri="{FF2B5EF4-FFF2-40B4-BE49-F238E27FC236}">
                <a16:creationId xmlns:a16="http://schemas.microsoft.com/office/drawing/2014/main" id="{FC3C272C-4ED9-3985-14BD-C0AEAE74362A}"/>
              </a:ext>
            </a:extLst>
          </p:cNvPr>
          <p:cNvCxnSpPr/>
          <p:nvPr/>
        </p:nvCxnSpPr>
        <p:spPr>
          <a:xfrm flipH="1">
            <a:off x="7890647" y="441551"/>
            <a:ext cx="622068" cy="0"/>
          </a:xfrm>
          <a:prstGeom prst="line">
            <a:avLst/>
          </a:prstGeom>
          <a:ln>
            <a:solidFill>
              <a:srgbClr val="C00000"/>
            </a:solidFill>
            <a:prstDash val="dash"/>
          </a:ln>
        </p:spPr>
        <p:style>
          <a:lnRef idx="1">
            <a:schemeClr val="accent1"/>
          </a:lnRef>
          <a:fillRef idx="0">
            <a:schemeClr val="accent1"/>
          </a:fillRef>
          <a:effectRef idx="0">
            <a:schemeClr val="accent1"/>
          </a:effectRef>
          <a:fontRef idx="minor">
            <a:schemeClr val="tx1"/>
          </a:fontRef>
        </p:style>
      </p:cxn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B71488-D5C8-014F-772A-1587DD91DB15}"/>
            </a:ext>
          </a:extLst>
        </p:cNvPr>
        <p:cNvGrpSpPr/>
        <p:nvPr/>
      </p:nvGrpSpPr>
      <p:grpSpPr>
        <a:xfrm>
          <a:off x="0" y="0"/>
          <a:ext cx="0" cy="0"/>
          <a:chOff x="0" y="0"/>
          <a:chExt cx="0" cy="0"/>
        </a:xfrm>
      </p:grpSpPr>
      <p:pic>
        <p:nvPicPr>
          <p:cNvPr id="51" name="图片 50">
            <a:extLst>
              <a:ext uri="{FF2B5EF4-FFF2-40B4-BE49-F238E27FC236}">
                <a16:creationId xmlns:a16="http://schemas.microsoft.com/office/drawing/2014/main" id="{97527E08-2E30-CB21-C182-278E43DAED8F}"/>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5545836"/>
            <a:ext cx="12192000" cy="1312164"/>
          </a:xfrm>
          <a:prstGeom prst="rect">
            <a:avLst/>
          </a:prstGeom>
        </p:spPr>
      </p:pic>
      <p:pic>
        <p:nvPicPr>
          <p:cNvPr id="52" name="图片 51">
            <a:extLst>
              <a:ext uri="{FF2B5EF4-FFF2-40B4-BE49-F238E27FC236}">
                <a16:creationId xmlns:a16="http://schemas.microsoft.com/office/drawing/2014/main" id="{953AC51C-E96B-E10A-D730-375DBE16F875}"/>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flipH="1">
            <a:off x="9982200" y="4154312"/>
            <a:ext cx="2209800" cy="2707228"/>
          </a:xfrm>
          <a:prstGeom prst="rect">
            <a:avLst/>
          </a:prstGeom>
        </p:spPr>
      </p:pic>
      <p:sp>
        <p:nvSpPr>
          <p:cNvPr id="66" name="文本框 65">
            <a:extLst>
              <a:ext uri="{FF2B5EF4-FFF2-40B4-BE49-F238E27FC236}">
                <a16:creationId xmlns:a16="http://schemas.microsoft.com/office/drawing/2014/main" id="{DCD460A8-AA77-3F96-0E08-7626906C2486}"/>
              </a:ext>
            </a:extLst>
          </p:cNvPr>
          <p:cNvSpPr txBox="1"/>
          <p:nvPr/>
        </p:nvSpPr>
        <p:spPr>
          <a:xfrm>
            <a:off x="1461404" y="231054"/>
            <a:ext cx="4143804" cy="523220"/>
          </a:xfrm>
          <a:prstGeom prst="rect">
            <a:avLst/>
          </a:prstGeom>
          <a:noFill/>
        </p:spPr>
        <p:txBody>
          <a:bodyPr wrap="square" rtlCol="0">
            <a:spAutoFit/>
          </a:bodyPr>
          <a:lstStyle/>
          <a:p>
            <a:pPr marL="0" marR="0" lvl="0" indent="0" defTabSz="914400" rtl="0" eaLnBrk="1" fontAlgn="auto" latinLnBrk="0" hangingPunct="1">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rgbClr val="C00000"/>
                </a:solidFill>
                <a:effectLst/>
                <a:uLnTx/>
                <a:uFillTx/>
                <a:latin typeface="+mn-ea"/>
                <a:cs typeface="阿里巴巴普惠体 H" panose="00020600040101010101" pitchFamily="18" charset="-122"/>
              </a:rPr>
              <a:t>西柏坡时期的光辉实践</a:t>
            </a:r>
          </a:p>
        </p:txBody>
      </p:sp>
      <p:sp>
        <p:nvSpPr>
          <p:cNvPr id="211" name="标题 1">
            <a:extLst>
              <a:ext uri="{FF2B5EF4-FFF2-40B4-BE49-F238E27FC236}">
                <a16:creationId xmlns:a16="http://schemas.microsoft.com/office/drawing/2014/main" id="{830A3BB9-B816-0503-4F5C-FF5504A57E98}"/>
              </a:ext>
            </a:extLst>
          </p:cNvPr>
          <p:cNvSpPr txBox="1"/>
          <p:nvPr/>
        </p:nvSpPr>
        <p:spPr>
          <a:xfrm>
            <a:off x="6302571" y="1571466"/>
            <a:ext cx="3254329" cy="523220"/>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2400" b="1" dirty="0">
                <a:solidFill>
                  <a:srgbClr val="FF0000"/>
                </a:solidFill>
                <a:latin typeface="+mn-ea"/>
                <a:ea typeface="+mn-ea"/>
              </a:rPr>
              <a:t>指挥三大战役</a:t>
            </a:r>
          </a:p>
        </p:txBody>
      </p:sp>
      <p:pic>
        <p:nvPicPr>
          <p:cNvPr id="217" name="图片 216">
            <a:extLst>
              <a:ext uri="{FF2B5EF4-FFF2-40B4-BE49-F238E27FC236}">
                <a16:creationId xmlns:a16="http://schemas.microsoft.com/office/drawing/2014/main" id="{F730309B-A249-4132-E71C-12FD911B389D}"/>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85901" y="377337"/>
            <a:ext cx="646232" cy="256054"/>
          </a:xfrm>
          <a:prstGeom prst="rect">
            <a:avLst/>
          </a:prstGeom>
        </p:spPr>
      </p:pic>
      <p:sp>
        <p:nvSpPr>
          <p:cNvPr id="4" name="Rectangle 4">
            <a:extLst>
              <a:ext uri="{FF2B5EF4-FFF2-40B4-BE49-F238E27FC236}">
                <a16:creationId xmlns:a16="http://schemas.microsoft.com/office/drawing/2014/main" id="{F54C6C83-0E03-5267-0262-2CBC72C72F10}"/>
              </a:ext>
            </a:extLst>
          </p:cNvPr>
          <p:cNvSpPr txBox="1">
            <a:spLocks noChangeArrowheads="1"/>
          </p:cNvSpPr>
          <p:nvPr/>
        </p:nvSpPr>
        <p:spPr bwMode="auto">
          <a:xfrm>
            <a:off x="8342301" y="166086"/>
            <a:ext cx="3690041" cy="5509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04" tIns="45702" rIns="91404" bIns="45702" numCol="1" anchor="ctr" anchorCtr="0" compatLnSpc="1"/>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rgbClr val="C00000"/>
                </a:solidFill>
                <a:effectLst/>
                <a:uLnTx/>
                <a:uFillTx/>
                <a:ea typeface="微软雅黑" panose="020B0503020204020204" pitchFamily="34" charset="-122"/>
                <a:cs typeface="+mj-cs"/>
              </a:rPr>
              <a:t>历史回眸：新中国从这里走来</a:t>
            </a:r>
          </a:p>
        </p:txBody>
      </p:sp>
      <p:cxnSp>
        <p:nvCxnSpPr>
          <p:cNvPr id="5" name="直接连接符 4">
            <a:extLst>
              <a:ext uri="{FF2B5EF4-FFF2-40B4-BE49-F238E27FC236}">
                <a16:creationId xmlns:a16="http://schemas.microsoft.com/office/drawing/2014/main" id="{CD185C78-BF11-6F8D-C686-73CF51CE069C}"/>
              </a:ext>
            </a:extLst>
          </p:cNvPr>
          <p:cNvCxnSpPr/>
          <p:nvPr/>
        </p:nvCxnSpPr>
        <p:spPr>
          <a:xfrm flipH="1">
            <a:off x="7890647" y="441551"/>
            <a:ext cx="622068" cy="0"/>
          </a:xfrm>
          <a:prstGeom prst="line">
            <a:avLst/>
          </a:prstGeom>
          <a:ln>
            <a:solidFill>
              <a:srgbClr val="C00000"/>
            </a:solidFill>
            <a:prstDash val="dash"/>
          </a:ln>
        </p:spPr>
        <p:style>
          <a:lnRef idx="1">
            <a:schemeClr val="accent1"/>
          </a:lnRef>
          <a:fillRef idx="0">
            <a:schemeClr val="accent1"/>
          </a:fillRef>
          <a:effectRef idx="0">
            <a:schemeClr val="accent1"/>
          </a:effectRef>
          <a:fontRef idx="minor">
            <a:schemeClr val="tx1"/>
          </a:fontRef>
        </p:style>
      </p:cxnSp>
      <p:pic>
        <p:nvPicPr>
          <p:cNvPr id="3" name="图片 2">
            <a:extLst>
              <a:ext uri="{FF2B5EF4-FFF2-40B4-BE49-F238E27FC236}">
                <a16:creationId xmlns:a16="http://schemas.microsoft.com/office/drawing/2014/main" id="{815A64CB-A53F-51E2-CF1C-5EA5B47E3D2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08654" y="1765005"/>
            <a:ext cx="4356261" cy="3452640"/>
          </a:xfrm>
          <a:prstGeom prst="rect">
            <a:avLst/>
          </a:prstGeom>
        </p:spPr>
      </p:pic>
      <p:sp>
        <p:nvSpPr>
          <p:cNvPr id="6" name="矩形 5">
            <a:extLst>
              <a:ext uri="{FF2B5EF4-FFF2-40B4-BE49-F238E27FC236}">
                <a16:creationId xmlns:a16="http://schemas.microsoft.com/office/drawing/2014/main" id="{C1B2C899-9925-FA0D-1D59-7FFF0D289E31}"/>
              </a:ext>
            </a:extLst>
          </p:cNvPr>
          <p:cNvSpPr/>
          <p:nvPr/>
        </p:nvSpPr>
        <p:spPr>
          <a:xfrm>
            <a:off x="5797743" y="1765005"/>
            <a:ext cx="72000" cy="475184"/>
          </a:xfrm>
          <a:prstGeom prst="rect">
            <a:avLst/>
          </a:prstGeom>
          <a:solidFill>
            <a:srgbClr val="B1050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楷体" panose="02010609060101010101" pitchFamily="49" charset="-122"/>
              <a:ea typeface="楷体" panose="02010609060101010101" pitchFamily="49" charset="-122"/>
              <a:cs typeface="+mn-ea"/>
              <a:sym typeface="+mn-lt"/>
            </a:endParaRPr>
          </a:p>
        </p:txBody>
      </p:sp>
      <p:cxnSp>
        <p:nvCxnSpPr>
          <p:cNvPr id="7" name="直接连接符 6">
            <a:extLst>
              <a:ext uri="{FF2B5EF4-FFF2-40B4-BE49-F238E27FC236}">
                <a16:creationId xmlns:a16="http://schemas.microsoft.com/office/drawing/2014/main" id="{57B08D8D-26F2-34BC-107C-C2415C5D4572}"/>
              </a:ext>
            </a:extLst>
          </p:cNvPr>
          <p:cNvCxnSpPr>
            <a:cxnSpLocks/>
          </p:cNvCxnSpPr>
          <p:nvPr/>
        </p:nvCxnSpPr>
        <p:spPr>
          <a:xfrm flipV="1">
            <a:off x="5833743" y="2162650"/>
            <a:ext cx="0" cy="3160717"/>
          </a:xfrm>
          <a:prstGeom prst="line">
            <a:avLst/>
          </a:prstGeom>
          <a:ln>
            <a:solidFill>
              <a:srgbClr val="B1050A"/>
            </a:solidFill>
          </a:ln>
        </p:spPr>
        <p:style>
          <a:lnRef idx="1">
            <a:schemeClr val="accent1"/>
          </a:lnRef>
          <a:fillRef idx="0">
            <a:schemeClr val="accent1"/>
          </a:fillRef>
          <a:effectRef idx="0">
            <a:schemeClr val="accent1"/>
          </a:effectRef>
          <a:fontRef idx="minor">
            <a:schemeClr val="tx1"/>
          </a:fontRef>
        </p:style>
      </p:cxnSp>
      <p:sp>
        <p:nvSpPr>
          <p:cNvPr id="13" name="文本框 12">
            <a:extLst>
              <a:ext uri="{FF2B5EF4-FFF2-40B4-BE49-F238E27FC236}">
                <a16:creationId xmlns:a16="http://schemas.microsoft.com/office/drawing/2014/main" id="{A00AB752-658B-702B-12A7-87F465C1EC97}"/>
              </a:ext>
            </a:extLst>
          </p:cNvPr>
          <p:cNvSpPr txBox="1"/>
          <p:nvPr/>
        </p:nvSpPr>
        <p:spPr>
          <a:xfrm>
            <a:off x="6302571" y="2666099"/>
            <a:ext cx="4593265" cy="2308324"/>
          </a:xfrm>
          <a:prstGeom prst="rect">
            <a:avLst/>
          </a:prstGeom>
          <a:noFill/>
        </p:spPr>
        <p:txBody>
          <a:bodyPr wrap="square" rtlCol="0">
            <a:spAutoFit/>
          </a:bodyPr>
          <a:lstStyle/>
          <a:p>
            <a:r>
              <a:rPr lang="zh-CN" altLang="en-US" dirty="0"/>
              <a:t>党中央和毛泽东同志在指挥了</a:t>
            </a:r>
            <a:r>
              <a:rPr lang="zh-CN" altLang="en-US" b="1" dirty="0">
                <a:solidFill>
                  <a:srgbClr val="FF0000"/>
                </a:solidFill>
              </a:rPr>
              <a:t>辽沈、淮海、平津三大战役</a:t>
            </a:r>
            <a:r>
              <a:rPr lang="zh-CN" altLang="en-US" dirty="0">
                <a:solidFill>
                  <a:schemeClr val="tx1">
                    <a:lumMod val="75000"/>
                    <a:lumOff val="25000"/>
                  </a:schemeClr>
                </a:solidFill>
                <a:latin typeface="+mn-ea"/>
              </a:rPr>
              <a:t>和</a:t>
            </a:r>
            <a:r>
              <a:rPr lang="en-US" altLang="zh-CN" dirty="0">
                <a:solidFill>
                  <a:schemeClr val="tx1">
                    <a:lumMod val="75000"/>
                    <a:lumOff val="25000"/>
                  </a:schemeClr>
                </a:solidFill>
                <a:latin typeface="+mn-ea"/>
              </a:rPr>
              <a:t>20</a:t>
            </a:r>
            <a:r>
              <a:rPr lang="zh-CN" altLang="en-US" dirty="0">
                <a:solidFill>
                  <a:schemeClr val="tx1">
                    <a:lumMod val="75000"/>
                    <a:lumOff val="25000"/>
                  </a:schemeClr>
                </a:solidFill>
                <a:latin typeface="+mn-ea"/>
              </a:rPr>
              <a:t>多次重大战役 </a:t>
            </a:r>
            <a:r>
              <a:rPr lang="zh-CN" altLang="en-US" dirty="0"/>
              <a:t>。</a:t>
            </a:r>
            <a:endParaRPr lang="en-US" altLang="zh-CN" dirty="0"/>
          </a:p>
          <a:p>
            <a:endParaRPr lang="en-US" altLang="zh-CN" dirty="0"/>
          </a:p>
          <a:p>
            <a:r>
              <a:rPr lang="zh-CN" altLang="en-US" dirty="0"/>
              <a:t> 这些战役是在不到四个月的时间里连续进行的，共歼灭了国民党军队</a:t>
            </a:r>
            <a:r>
              <a:rPr lang="en-US" altLang="zh-CN" dirty="0"/>
              <a:t>154</a:t>
            </a:r>
            <a:r>
              <a:rPr lang="zh-CN" altLang="en-US" dirty="0"/>
              <a:t>万人，使国民党赖以维持其反动统治的主要军事力量基本上被摧毁。</a:t>
            </a:r>
            <a:r>
              <a:rPr lang="zh-CN" altLang="en-US" dirty="0">
                <a:solidFill>
                  <a:schemeClr val="tx1">
                    <a:lumMod val="75000"/>
                    <a:lumOff val="25000"/>
                  </a:schemeClr>
                </a:solidFill>
                <a:latin typeface="+mn-ea"/>
              </a:rPr>
              <a:t>为中国革命在全国的胜利奠定了基础</a:t>
            </a:r>
            <a:endParaRPr lang="zh-CN" altLang="en-US" dirty="0"/>
          </a:p>
        </p:txBody>
      </p:sp>
    </p:spTree>
    <p:extLst>
      <p:ext uri="{BB962C8B-B14F-4D97-AF65-F5344CB8AC3E}">
        <p14:creationId xmlns:p14="http://schemas.microsoft.com/office/powerpoint/2010/main" val="766631511"/>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文本框 65"/>
          <p:cNvSpPr txBox="1"/>
          <p:nvPr/>
        </p:nvSpPr>
        <p:spPr>
          <a:xfrm>
            <a:off x="1461404" y="231054"/>
            <a:ext cx="4143804" cy="523220"/>
          </a:xfrm>
          <a:prstGeom prst="rect">
            <a:avLst/>
          </a:prstGeom>
          <a:noFill/>
        </p:spPr>
        <p:txBody>
          <a:bodyPr wrap="square" rtlCol="0">
            <a:spAutoFit/>
          </a:bodyPr>
          <a:lstStyle/>
          <a:p>
            <a:pPr marL="0" marR="0" lvl="0" indent="0" defTabSz="914400" rtl="0" eaLnBrk="1" fontAlgn="auto" latinLnBrk="0" hangingPunct="1">
              <a:lnSpc>
                <a:spcPct val="100000"/>
              </a:lnSpc>
              <a:spcBef>
                <a:spcPct val="0"/>
              </a:spcBef>
              <a:spcAft>
                <a:spcPct val="0"/>
              </a:spcAft>
              <a:buClrTx/>
              <a:buSzTx/>
              <a:buFontTx/>
              <a:buNone/>
              <a:defRPr/>
            </a:pPr>
            <a:r>
              <a:rPr kumimoji="0" lang="zh-CN" altLang="en-US" sz="2800" b="0" i="0" u="none" strike="noStrike" kern="1200" cap="none" spc="0" normalizeH="0" baseline="0" noProof="0">
                <a:ln>
                  <a:noFill/>
                </a:ln>
                <a:solidFill>
                  <a:srgbClr val="C00000"/>
                </a:solidFill>
                <a:effectLst/>
                <a:uLnTx/>
                <a:uFillTx/>
                <a:latin typeface="+mn-ea"/>
                <a:cs typeface="阿里巴巴普惠体 H" panose="00020600040101010101" pitchFamily="18" charset="-122"/>
              </a:rPr>
              <a:t>西柏坡与中国革命</a:t>
            </a:r>
          </a:p>
        </p:txBody>
      </p:sp>
      <p:sp>
        <p:nvSpPr>
          <p:cNvPr id="38" name="文本框 37"/>
          <p:cNvSpPr txBox="1"/>
          <p:nvPr/>
        </p:nvSpPr>
        <p:spPr>
          <a:xfrm>
            <a:off x="8201681" y="-1362207"/>
            <a:ext cx="2723823" cy="1107996"/>
          </a:xfrm>
          <a:prstGeom prst="rect">
            <a:avLst/>
          </a:prstGeom>
          <a:noFill/>
        </p:spPr>
        <p:txBody>
          <a:bodyPr wrap="none" rtlCol="0">
            <a:spAutoFit/>
          </a:bodyPr>
          <a:lstStyle>
            <a:defPPr>
              <a:defRPr lang="zh-CN"/>
            </a:defPPr>
            <a:lvl1pPr>
              <a:defRPr sz="8000">
                <a:ln w="12700">
                  <a:gradFill>
                    <a:gsLst>
                      <a:gs pos="0">
                        <a:schemeClr val="bg1"/>
                      </a:gs>
                      <a:gs pos="100000">
                        <a:srgbClr val="F1DAB2">
                          <a:alpha val="0"/>
                        </a:srgbClr>
                      </a:gs>
                    </a:gsLst>
                    <a:lin ang="5400000" scaled="1"/>
                  </a:gradFill>
                </a:ln>
                <a:gradFill flip="none" rotWithShape="1">
                  <a:gsLst>
                    <a:gs pos="0">
                      <a:srgbClr val="A60E0B"/>
                    </a:gs>
                    <a:gs pos="100000">
                      <a:srgbClr val="DD2531"/>
                    </a:gs>
                  </a:gsLst>
                  <a:lin ang="16200000" scaled="1"/>
                </a:gradFill>
                <a:effectLst>
                  <a:outerShdw dist="88900" dir="5400000" algn="t" rotWithShape="0">
                    <a:schemeClr val="tx1">
                      <a:lumMod val="95000"/>
                      <a:lumOff val="5000"/>
                      <a:alpha val="8000"/>
                    </a:schemeClr>
                  </a:outerShdw>
                </a:effectLst>
                <a:latin typeface="演示镇魂行楷" panose="00000500000000000000" pitchFamily="2" charset="-122"/>
                <a:ea typeface="演示镇魂行楷" panose="00000500000000000000" pitchFamily="2" charset="-122"/>
              </a:defRPr>
            </a:lvl1p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6600" b="0" i="0" u="none" strike="noStrike" kern="1200" cap="none" spc="0" normalizeH="0" baseline="0" noProof="0">
                <a:ln w="12700">
                  <a:gradFill>
                    <a:gsLst>
                      <a:gs pos="0">
                        <a:prstClr val="white"/>
                      </a:gs>
                      <a:gs pos="100000">
                        <a:srgbClr val="F1DAB2">
                          <a:alpha val="0"/>
                        </a:srgbClr>
                      </a:gs>
                    </a:gsLst>
                    <a:lin ang="5400000" scaled="1"/>
                  </a:gradFill>
                </a:ln>
                <a:blipFill>
                  <a:blip r:embed="rId2"/>
                  <a:stretch>
                    <a:fillRect/>
                  </a:stretch>
                </a:blipFill>
                <a:effectLst/>
                <a:uLnTx/>
                <a:uFillTx/>
                <a:latin typeface="演示镇魂行楷" panose="00000500000000000000" pitchFamily="2" charset="-122"/>
                <a:ea typeface="演示镇魂行楷" panose="00000500000000000000" pitchFamily="2" charset="-122"/>
                <a:cs typeface="+mn-cs"/>
              </a:rPr>
              <a:t>西柏坡</a:t>
            </a:r>
          </a:p>
        </p:txBody>
      </p:sp>
      <p:sp>
        <p:nvSpPr>
          <p:cNvPr id="39" name="标题 1"/>
          <p:cNvSpPr txBox="1"/>
          <p:nvPr/>
        </p:nvSpPr>
        <p:spPr>
          <a:xfrm>
            <a:off x="3786874" y="1120450"/>
            <a:ext cx="4465337" cy="63786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1800" b="1" dirty="0">
                <a:solidFill>
                  <a:schemeClr val="tx1">
                    <a:lumMod val="75000"/>
                    <a:lumOff val="25000"/>
                  </a:schemeClr>
                </a:solidFill>
                <a:latin typeface="+mn-ea"/>
                <a:ea typeface="+mn-ea"/>
              </a:rPr>
              <a:t>西柏坡会议（中国共产党七届二中全会）</a:t>
            </a:r>
          </a:p>
        </p:txBody>
      </p:sp>
      <p:sp>
        <p:nvSpPr>
          <p:cNvPr id="37" name="标题 1"/>
          <p:cNvSpPr txBox="1"/>
          <p:nvPr/>
        </p:nvSpPr>
        <p:spPr>
          <a:xfrm>
            <a:off x="1961243" y="1837410"/>
            <a:ext cx="8964259" cy="1591590"/>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285750" indent="-285750">
              <a:lnSpc>
                <a:spcPct val="150000"/>
              </a:lnSpc>
              <a:buFont typeface="Arial" panose="020B0604020202020204" pitchFamily="34" charset="0"/>
              <a:buChar char="•"/>
            </a:pPr>
            <a:r>
              <a:rPr lang="zh-CN" altLang="en-US" sz="1800" dirty="0">
                <a:solidFill>
                  <a:schemeClr val="tx1">
                    <a:lumMod val="75000"/>
                    <a:lumOff val="25000"/>
                  </a:schemeClr>
                </a:solidFill>
                <a:latin typeface="+mn-ea"/>
                <a:ea typeface="+mn-ea"/>
              </a:rPr>
              <a:t>在中国人民解放战争即将取得全国胜利的前夕，</a:t>
            </a:r>
            <a:r>
              <a:rPr lang="en-US" altLang="zh-CN" sz="1800" dirty="0">
                <a:solidFill>
                  <a:schemeClr val="tx1">
                    <a:lumMod val="75000"/>
                    <a:lumOff val="25000"/>
                  </a:schemeClr>
                </a:solidFill>
                <a:latin typeface="+mn-ea"/>
                <a:ea typeface="+mn-ea"/>
              </a:rPr>
              <a:t>1949</a:t>
            </a:r>
            <a:r>
              <a:rPr lang="zh-CN" altLang="en-US" sz="1800" dirty="0">
                <a:solidFill>
                  <a:schemeClr val="tx1">
                    <a:lumMod val="75000"/>
                    <a:lumOff val="25000"/>
                  </a:schemeClr>
                </a:solidFill>
                <a:latin typeface="+mn-ea"/>
                <a:ea typeface="+mn-ea"/>
              </a:rPr>
              <a:t>年</a:t>
            </a:r>
            <a:r>
              <a:rPr lang="en-US" altLang="zh-CN" sz="1800" dirty="0">
                <a:solidFill>
                  <a:schemeClr val="tx1">
                    <a:lumMod val="75000"/>
                    <a:lumOff val="25000"/>
                  </a:schemeClr>
                </a:solidFill>
                <a:latin typeface="+mn-ea"/>
                <a:ea typeface="+mn-ea"/>
              </a:rPr>
              <a:t>3</a:t>
            </a:r>
            <a:r>
              <a:rPr lang="zh-CN" altLang="en-US" sz="1800" dirty="0">
                <a:solidFill>
                  <a:schemeClr val="tx1">
                    <a:lumMod val="75000"/>
                    <a:lumOff val="25000"/>
                  </a:schemeClr>
                </a:solidFill>
                <a:latin typeface="+mn-ea"/>
                <a:ea typeface="+mn-ea"/>
              </a:rPr>
              <a:t>月</a:t>
            </a:r>
            <a:r>
              <a:rPr lang="en-US" altLang="zh-CN" sz="1800" dirty="0">
                <a:solidFill>
                  <a:schemeClr val="tx1">
                    <a:lumMod val="75000"/>
                    <a:lumOff val="25000"/>
                  </a:schemeClr>
                </a:solidFill>
                <a:latin typeface="+mn-ea"/>
                <a:ea typeface="+mn-ea"/>
              </a:rPr>
              <a:t>5</a:t>
            </a:r>
            <a:r>
              <a:rPr lang="zh-CN" altLang="en-US" sz="1800" dirty="0">
                <a:solidFill>
                  <a:schemeClr val="tx1">
                    <a:lumMod val="75000"/>
                    <a:lumOff val="25000"/>
                  </a:schemeClr>
                </a:solidFill>
                <a:latin typeface="+mn-ea"/>
                <a:ea typeface="+mn-ea"/>
              </a:rPr>
              <a:t>日至</a:t>
            </a:r>
            <a:r>
              <a:rPr lang="en-US" altLang="zh-CN" sz="1800" dirty="0">
                <a:solidFill>
                  <a:schemeClr val="tx1">
                    <a:lumMod val="75000"/>
                    <a:lumOff val="25000"/>
                  </a:schemeClr>
                </a:solidFill>
                <a:latin typeface="+mn-ea"/>
                <a:ea typeface="+mn-ea"/>
              </a:rPr>
              <a:t>13</a:t>
            </a:r>
            <a:r>
              <a:rPr lang="zh-CN" altLang="en-US" sz="1800" dirty="0">
                <a:solidFill>
                  <a:schemeClr val="tx1">
                    <a:lumMod val="75000"/>
                    <a:lumOff val="25000"/>
                  </a:schemeClr>
                </a:solidFill>
                <a:latin typeface="+mn-ea"/>
                <a:ea typeface="+mn-ea"/>
              </a:rPr>
              <a:t>日，中共中央在河北省平山县西柏坡村召开了七届二中全会。</a:t>
            </a:r>
            <a:endParaRPr lang="en-US" altLang="zh-CN" sz="1800" dirty="0">
              <a:solidFill>
                <a:schemeClr val="tx1">
                  <a:lumMod val="75000"/>
                  <a:lumOff val="25000"/>
                </a:schemeClr>
              </a:solidFill>
              <a:latin typeface="+mn-ea"/>
              <a:ea typeface="+mn-ea"/>
            </a:endParaRPr>
          </a:p>
          <a:p>
            <a:pPr marL="285750" indent="-285750">
              <a:lnSpc>
                <a:spcPct val="150000"/>
              </a:lnSpc>
              <a:buFont typeface="Arial" panose="020B0604020202020204" pitchFamily="34" charset="0"/>
              <a:buChar char="•"/>
            </a:pPr>
            <a:r>
              <a:rPr lang="zh-CN" altLang="en-US" sz="1800" dirty="0">
                <a:solidFill>
                  <a:schemeClr val="tx1">
                    <a:lumMod val="75000"/>
                    <a:lumOff val="25000"/>
                  </a:schemeClr>
                </a:solidFill>
                <a:latin typeface="+mn-ea"/>
                <a:ea typeface="+mn-ea"/>
              </a:rPr>
              <a:t>出席会议的中央委员有：毛泽东、刘少奇、朱德、周恩来、任弼时、林伯渠、董必武、康生、张闻天、彭德怀、林彪等共</a:t>
            </a:r>
            <a:r>
              <a:rPr lang="en-US" altLang="zh-CN" sz="1800" dirty="0">
                <a:solidFill>
                  <a:schemeClr val="tx1">
                    <a:lumMod val="75000"/>
                    <a:lumOff val="25000"/>
                  </a:schemeClr>
                </a:solidFill>
                <a:latin typeface="+mn-ea"/>
                <a:ea typeface="+mn-ea"/>
              </a:rPr>
              <a:t>34</a:t>
            </a:r>
            <a:r>
              <a:rPr lang="zh-CN" altLang="en-US" sz="1800" dirty="0">
                <a:solidFill>
                  <a:schemeClr val="tx1">
                    <a:lumMod val="75000"/>
                    <a:lumOff val="25000"/>
                  </a:schemeClr>
                </a:solidFill>
                <a:latin typeface="+mn-ea"/>
                <a:ea typeface="+mn-ea"/>
              </a:rPr>
              <a:t>人</a:t>
            </a:r>
            <a:endParaRPr lang="en-US" altLang="zh-CN" sz="1800" dirty="0">
              <a:solidFill>
                <a:schemeClr val="tx1">
                  <a:lumMod val="75000"/>
                  <a:lumOff val="25000"/>
                </a:schemeClr>
              </a:solidFill>
              <a:latin typeface="+mn-ea"/>
              <a:ea typeface="+mn-ea"/>
            </a:endParaRPr>
          </a:p>
        </p:txBody>
      </p:sp>
      <p:cxnSp>
        <p:nvCxnSpPr>
          <p:cNvPr id="4" name="直接连接符 3"/>
          <p:cNvCxnSpPr/>
          <p:nvPr/>
        </p:nvCxnSpPr>
        <p:spPr>
          <a:xfrm flipH="1">
            <a:off x="1582057" y="2363055"/>
            <a:ext cx="0" cy="6827619"/>
          </a:xfrm>
          <a:prstGeom prst="line">
            <a:avLst/>
          </a:prstGeom>
          <a:ln w="12700">
            <a:solidFill>
              <a:srgbClr val="B1050A"/>
            </a:solidFill>
          </a:ln>
        </p:spPr>
        <p:style>
          <a:lnRef idx="1">
            <a:schemeClr val="accent1"/>
          </a:lnRef>
          <a:fillRef idx="0">
            <a:schemeClr val="accent1"/>
          </a:fillRef>
          <a:effectRef idx="0">
            <a:schemeClr val="accent1"/>
          </a:effectRef>
          <a:fontRef idx="minor">
            <a:schemeClr val="tx1"/>
          </a:fontRef>
        </p:style>
      </p:cxnSp>
      <p:grpSp>
        <p:nvGrpSpPr>
          <p:cNvPr id="7" name="组合 6"/>
          <p:cNvGrpSpPr/>
          <p:nvPr/>
        </p:nvGrpSpPr>
        <p:grpSpPr>
          <a:xfrm>
            <a:off x="1392464" y="2083246"/>
            <a:ext cx="379186" cy="379186"/>
            <a:chOff x="1373416" y="1628769"/>
            <a:chExt cx="417282" cy="417282"/>
          </a:xfrm>
        </p:grpSpPr>
        <p:sp>
          <p:nvSpPr>
            <p:cNvPr id="47" name="椭圆 46"/>
            <p:cNvSpPr/>
            <p:nvPr/>
          </p:nvSpPr>
          <p:spPr>
            <a:xfrm>
              <a:off x="1373416" y="1628769"/>
              <a:ext cx="417282" cy="417282"/>
            </a:xfrm>
            <a:prstGeom prst="ellipse">
              <a:avLst/>
            </a:prstGeom>
            <a:solidFill>
              <a:srgbClr val="B1050A">
                <a:alpha val="63000"/>
              </a:srgbClr>
            </a:solidFill>
            <a:ln w="6350">
              <a:solidFill>
                <a:schemeClr val="bg1"/>
              </a:solidFill>
            </a:ln>
            <a:effectLst>
              <a:outerShdw blurRad="63500" sx="102000" sy="102000" algn="ctr" rotWithShape="0">
                <a:prstClr val="black">
                  <a:alpha val="4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p:cNvSpPr/>
            <p:nvPr/>
          </p:nvSpPr>
          <p:spPr>
            <a:xfrm>
              <a:off x="1482777" y="1738130"/>
              <a:ext cx="198560" cy="198560"/>
            </a:xfrm>
            <a:prstGeom prst="ellipse">
              <a:avLst/>
            </a:prstGeom>
            <a:solidFill>
              <a:srgbClr val="B105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9" name="标题 1"/>
          <p:cNvSpPr txBox="1"/>
          <p:nvPr/>
        </p:nvSpPr>
        <p:spPr>
          <a:xfrm>
            <a:off x="1961243" y="3753598"/>
            <a:ext cx="8964259" cy="1210288"/>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285750" indent="-285750">
              <a:lnSpc>
                <a:spcPct val="150000"/>
              </a:lnSpc>
              <a:buFont typeface="Arial" panose="020B0604020202020204" pitchFamily="34" charset="0"/>
              <a:buChar char="•"/>
            </a:pPr>
            <a:r>
              <a:rPr lang="zh-CN" altLang="en-US" sz="1800">
                <a:solidFill>
                  <a:schemeClr val="tx1">
                    <a:lumMod val="75000"/>
                    <a:lumOff val="25000"/>
                  </a:schemeClr>
                </a:solidFill>
                <a:latin typeface="+mn-ea"/>
                <a:ea typeface="+mn-ea"/>
              </a:rPr>
              <a:t>会议着重讨论了毛泽东的报告，通过了</a:t>
            </a:r>
            <a:r>
              <a:rPr lang="en-US" altLang="zh-CN" sz="1800">
                <a:solidFill>
                  <a:schemeClr val="tx1">
                    <a:lumMod val="75000"/>
                    <a:lumOff val="25000"/>
                  </a:schemeClr>
                </a:solidFill>
                <a:latin typeface="+mn-ea"/>
                <a:ea typeface="+mn-ea"/>
              </a:rPr>
              <a:t>《</a:t>
            </a:r>
            <a:r>
              <a:rPr lang="zh-CN" altLang="en-US" sz="1800">
                <a:solidFill>
                  <a:schemeClr val="tx1">
                    <a:lumMod val="75000"/>
                    <a:lumOff val="25000"/>
                  </a:schemeClr>
                </a:solidFill>
                <a:latin typeface="+mn-ea"/>
                <a:ea typeface="+mn-ea"/>
              </a:rPr>
              <a:t>中国共产党第七届中央委员会第二次全体会议决议</a:t>
            </a:r>
            <a:r>
              <a:rPr lang="en-US" altLang="zh-CN" sz="1800">
                <a:solidFill>
                  <a:schemeClr val="tx1">
                    <a:lumMod val="75000"/>
                    <a:lumOff val="25000"/>
                  </a:schemeClr>
                </a:solidFill>
                <a:latin typeface="+mn-ea"/>
                <a:ea typeface="+mn-ea"/>
              </a:rPr>
              <a:t>》</a:t>
            </a:r>
          </a:p>
        </p:txBody>
      </p:sp>
      <p:grpSp>
        <p:nvGrpSpPr>
          <p:cNvPr id="50" name="组合 49"/>
          <p:cNvGrpSpPr/>
          <p:nvPr/>
        </p:nvGrpSpPr>
        <p:grpSpPr>
          <a:xfrm>
            <a:off x="1392464" y="3839470"/>
            <a:ext cx="379186" cy="379186"/>
            <a:chOff x="1373416" y="1628769"/>
            <a:chExt cx="417282" cy="417282"/>
          </a:xfrm>
        </p:grpSpPr>
        <p:sp>
          <p:nvSpPr>
            <p:cNvPr id="67" name="椭圆 66"/>
            <p:cNvSpPr/>
            <p:nvPr/>
          </p:nvSpPr>
          <p:spPr>
            <a:xfrm>
              <a:off x="1373416" y="1628769"/>
              <a:ext cx="417282" cy="417282"/>
            </a:xfrm>
            <a:prstGeom prst="ellipse">
              <a:avLst/>
            </a:prstGeom>
            <a:solidFill>
              <a:srgbClr val="B1050A">
                <a:alpha val="63000"/>
              </a:srgbClr>
            </a:solidFill>
            <a:ln w="6350">
              <a:solidFill>
                <a:schemeClr val="bg1"/>
              </a:solidFill>
            </a:ln>
            <a:effectLst>
              <a:outerShdw blurRad="63500" sx="102000" sy="102000" algn="ctr" rotWithShape="0">
                <a:prstClr val="black">
                  <a:alpha val="4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椭圆 67"/>
            <p:cNvSpPr/>
            <p:nvPr/>
          </p:nvSpPr>
          <p:spPr>
            <a:xfrm>
              <a:off x="1482777" y="1738130"/>
              <a:ext cx="198560" cy="198560"/>
            </a:xfrm>
            <a:prstGeom prst="ellipse">
              <a:avLst/>
            </a:prstGeom>
            <a:solidFill>
              <a:srgbClr val="B105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9" name="标题 1"/>
          <p:cNvSpPr txBox="1"/>
          <p:nvPr/>
        </p:nvSpPr>
        <p:spPr>
          <a:xfrm>
            <a:off x="1961243" y="5144318"/>
            <a:ext cx="8964259" cy="1210288"/>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285750" indent="-285750">
              <a:lnSpc>
                <a:spcPct val="150000"/>
              </a:lnSpc>
              <a:buFont typeface="Arial" panose="020B0604020202020204" pitchFamily="34" charset="0"/>
              <a:buChar char="•"/>
            </a:pPr>
            <a:r>
              <a:rPr lang="zh-CN" altLang="en-US" sz="1800">
                <a:solidFill>
                  <a:schemeClr val="tx1">
                    <a:lumMod val="75000"/>
                    <a:lumOff val="25000"/>
                  </a:schemeClr>
                </a:solidFill>
                <a:latin typeface="+mn-ea"/>
                <a:ea typeface="+mn-ea"/>
              </a:rPr>
              <a:t>全会批准了</a:t>
            </a:r>
            <a:r>
              <a:rPr lang="en-US" altLang="zh-CN" sz="1800">
                <a:solidFill>
                  <a:schemeClr val="tx1">
                    <a:lumMod val="75000"/>
                    <a:lumOff val="25000"/>
                  </a:schemeClr>
                </a:solidFill>
                <a:latin typeface="+mn-ea"/>
                <a:ea typeface="+mn-ea"/>
              </a:rPr>
              <a:t>1945</a:t>
            </a:r>
            <a:r>
              <a:rPr lang="zh-CN" altLang="en-US" sz="1800">
                <a:solidFill>
                  <a:schemeClr val="tx1">
                    <a:lumMod val="75000"/>
                    <a:lumOff val="25000"/>
                  </a:schemeClr>
                </a:solidFill>
                <a:latin typeface="+mn-ea"/>
                <a:ea typeface="+mn-ea"/>
              </a:rPr>
              <a:t>年</a:t>
            </a:r>
            <a:r>
              <a:rPr lang="en-US" altLang="zh-CN" sz="1800">
                <a:solidFill>
                  <a:schemeClr val="tx1">
                    <a:lumMod val="75000"/>
                    <a:lumOff val="25000"/>
                  </a:schemeClr>
                </a:solidFill>
                <a:latin typeface="+mn-ea"/>
                <a:ea typeface="+mn-ea"/>
              </a:rPr>
              <a:t>6</a:t>
            </a:r>
            <a:r>
              <a:rPr lang="zh-CN" altLang="en-US" sz="1800">
                <a:solidFill>
                  <a:schemeClr val="tx1">
                    <a:lumMod val="75000"/>
                    <a:lumOff val="25000"/>
                  </a:schemeClr>
                </a:solidFill>
                <a:latin typeface="+mn-ea"/>
                <a:ea typeface="+mn-ea"/>
              </a:rPr>
              <a:t>月党的七届一中全会以来中央政治局的工作，认为“中央的领导是正确的”</a:t>
            </a:r>
            <a:endParaRPr lang="en-US" altLang="zh-CN" sz="1800">
              <a:solidFill>
                <a:schemeClr val="tx1">
                  <a:lumMod val="75000"/>
                  <a:lumOff val="25000"/>
                </a:schemeClr>
              </a:solidFill>
              <a:latin typeface="+mn-ea"/>
              <a:ea typeface="+mn-ea"/>
            </a:endParaRPr>
          </a:p>
        </p:txBody>
      </p:sp>
      <p:grpSp>
        <p:nvGrpSpPr>
          <p:cNvPr id="70" name="组合 69"/>
          <p:cNvGrpSpPr/>
          <p:nvPr/>
        </p:nvGrpSpPr>
        <p:grpSpPr>
          <a:xfrm>
            <a:off x="1392464" y="5230190"/>
            <a:ext cx="379186" cy="379186"/>
            <a:chOff x="1373416" y="1628769"/>
            <a:chExt cx="417282" cy="417282"/>
          </a:xfrm>
        </p:grpSpPr>
        <p:sp>
          <p:nvSpPr>
            <p:cNvPr id="71" name="椭圆 70"/>
            <p:cNvSpPr/>
            <p:nvPr/>
          </p:nvSpPr>
          <p:spPr>
            <a:xfrm>
              <a:off x="1373416" y="1628769"/>
              <a:ext cx="417282" cy="417282"/>
            </a:xfrm>
            <a:prstGeom prst="ellipse">
              <a:avLst/>
            </a:prstGeom>
            <a:solidFill>
              <a:srgbClr val="B1050A">
                <a:alpha val="63000"/>
              </a:srgbClr>
            </a:solidFill>
            <a:ln w="6350">
              <a:solidFill>
                <a:schemeClr val="bg1"/>
              </a:solidFill>
            </a:ln>
            <a:effectLst>
              <a:outerShdw blurRad="63500" sx="102000" sy="102000" algn="ctr" rotWithShape="0">
                <a:prstClr val="black">
                  <a:alpha val="4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椭圆 71"/>
            <p:cNvSpPr/>
            <p:nvPr/>
          </p:nvSpPr>
          <p:spPr>
            <a:xfrm>
              <a:off x="1482777" y="1738130"/>
              <a:ext cx="198560" cy="198560"/>
            </a:xfrm>
            <a:prstGeom prst="ellipse">
              <a:avLst/>
            </a:prstGeom>
            <a:solidFill>
              <a:srgbClr val="B105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73" name="图片 72"/>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8512715" y="1439383"/>
            <a:ext cx="1229641" cy="285564"/>
          </a:xfrm>
          <a:prstGeom prst="rect">
            <a:avLst/>
          </a:prstGeom>
        </p:spPr>
      </p:pic>
      <p:pic>
        <p:nvPicPr>
          <p:cNvPr id="74" name="图片 73" descr="图片包含 游戏机, 花, 雏菊, 灯光&#10;&#10;描述已自动生成"/>
          <p:cNvPicPr>
            <a:picLocks noChangeAspect="1"/>
          </p:cNvPicPr>
          <p:nvPr/>
        </p:nvPicPr>
        <p:blipFill>
          <a:blip r:embed="rId4" cstate="email">
            <a:extLst>
              <a:ext uri="{28A0092B-C50C-407E-A947-70E740481C1C}">
                <a14:useLocalDpi xmlns:a14="http://schemas.microsoft.com/office/drawing/2010/main"/>
              </a:ext>
            </a:extLst>
          </a:blip>
          <a:srcRect/>
          <a:stretch>
            <a:fillRect/>
          </a:stretch>
        </p:blipFill>
        <p:spPr>
          <a:xfrm flipV="1">
            <a:off x="10023968" y="3982997"/>
            <a:ext cx="2168032" cy="2875000"/>
          </a:xfrm>
          <a:prstGeom prst="rect">
            <a:avLst/>
          </a:prstGeom>
        </p:spPr>
      </p:pic>
      <p:pic>
        <p:nvPicPr>
          <p:cNvPr id="75" name="图片 74"/>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585901" y="377337"/>
            <a:ext cx="646232" cy="256054"/>
          </a:xfrm>
          <a:prstGeom prst="rect">
            <a:avLst/>
          </a:prstGeom>
        </p:spPr>
      </p:pic>
      <p:sp>
        <p:nvSpPr>
          <p:cNvPr id="6" name="Rectangle 4">
            <a:extLst>
              <a:ext uri="{FF2B5EF4-FFF2-40B4-BE49-F238E27FC236}">
                <a16:creationId xmlns:a16="http://schemas.microsoft.com/office/drawing/2014/main" id="{15D5BD7E-28EA-5D93-BEFD-EF257F4467B7}"/>
              </a:ext>
            </a:extLst>
          </p:cNvPr>
          <p:cNvSpPr txBox="1">
            <a:spLocks noChangeArrowheads="1"/>
          </p:cNvSpPr>
          <p:nvPr/>
        </p:nvSpPr>
        <p:spPr bwMode="auto">
          <a:xfrm>
            <a:off x="8342301" y="166086"/>
            <a:ext cx="3690041" cy="5509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04" tIns="45702" rIns="91404" bIns="45702" numCol="1" anchor="ctr" anchorCtr="0" compatLnSpc="1"/>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rgbClr val="C00000"/>
                </a:solidFill>
                <a:effectLst/>
                <a:uLnTx/>
                <a:uFillTx/>
                <a:ea typeface="微软雅黑" panose="020B0503020204020204" pitchFamily="34" charset="-122"/>
                <a:cs typeface="+mj-cs"/>
              </a:rPr>
              <a:t>历史回眸：新中国从这里走来</a:t>
            </a:r>
          </a:p>
        </p:txBody>
      </p:sp>
      <p:cxnSp>
        <p:nvCxnSpPr>
          <p:cNvPr id="8" name="直接连接符 7">
            <a:extLst>
              <a:ext uri="{FF2B5EF4-FFF2-40B4-BE49-F238E27FC236}">
                <a16:creationId xmlns:a16="http://schemas.microsoft.com/office/drawing/2014/main" id="{6077FC18-B71C-FAB8-4679-FA33CE22DA5C}"/>
              </a:ext>
            </a:extLst>
          </p:cNvPr>
          <p:cNvCxnSpPr/>
          <p:nvPr/>
        </p:nvCxnSpPr>
        <p:spPr>
          <a:xfrm flipH="1">
            <a:off x="7890647" y="441551"/>
            <a:ext cx="622068" cy="0"/>
          </a:xfrm>
          <a:prstGeom prst="line">
            <a:avLst/>
          </a:prstGeom>
          <a:ln>
            <a:solidFill>
              <a:srgbClr val="C00000"/>
            </a:solidFill>
            <a:prstDash val="dash"/>
          </a:ln>
        </p:spPr>
        <p:style>
          <a:lnRef idx="1">
            <a:schemeClr val="accent1"/>
          </a:lnRef>
          <a:fillRef idx="0">
            <a:schemeClr val="accent1"/>
          </a:fillRef>
          <a:effectRef idx="0">
            <a:schemeClr val="accent1"/>
          </a:effectRef>
          <a:fontRef idx="minor">
            <a:schemeClr val="tx1"/>
          </a:fontRef>
        </p:style>
      </p:cxn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文本框 37"/>
          <p:cNvSpPr txBox="1"/>
          <p:nvPr/>
        </p:nvSpPr>
        <p:spPr>
          <a:xfrm>
            <a:off x="8201681" y="-1362207"/>
            <a:ext cx="2723823" cy="1107996"/>
          </a:xfrm>
          <a:prstGeom prst="rect">
            <a:avLst/>
          </a:prstGeom>
          <a:noFill/>
        </p:spPr>
        <p:txBody>
          <a:bodyPr wrap="none" rtlCol="0">
            <a:spAutoFit/>
          </a:bodyPr>
          <a:lstStyle>
            <a:defPPr>
              <a:defRPr lang="zh-CN"/>
            </a:defPPr>
            <a:lvl1pPr>
              <a:defRPr sz="8000">
                <a:ln w="12700">
                  <a:gradFill>
                    <a:gsLst>
                      <a:gs pos="0">
                        <a:schemeClr val="bg1"/>
                      </a:gs>
                      <a:gs pos="100000">
                        <a:srgbClr val="F1DAB2">
                          <a:alpha val="0"/>
                        </a:srgbClr>
                      </a:gs>
                    </a:gsLst>
                    <a:lin ang="5400000" scaled="1"/>
                  </a:gradFill>
                </a:ln>
                <a:gradFill flip="none" rotWithShape="1">
                  <a:gsLst>
                    <a:gs pos="0">
                      <a:srgbClr val="A60E0B"/>
                    </a:gs>
                    <a:gs pos="100000">
                      <a:srgbClr val="DD2531"/>
                    </a:gs>
                  </a:gsLst>
                  <a:lin ang="16200000" scaled="1"/>
                </a:gradFill>
                <a:effectLst>
                  <a:outerShdw dist="88900" dir="5400000" algn="t" rotWithShape="0">
                    <a:schemeClr val="tx1">
                      <a:lumMod val="95000"/>
                      <a:lumOff val="5000"/>
                      <a:alpha val="8000"/>
                    </a:schemeClr>
                  </a:outerShdw>
                </a:effectLst>
                <a:latin typeface="演示镇魂行楷" panose="00000500000000000000" pitchFamily="2" charset="-122"/>
                <a:ea typeface="演示镇魂行楷" panose="00000500000000000000" pitchFamily="2" charset="-122"/>
              </a:defRPr>
            </a:lvl1p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6600" b="0" i="0" u="none" strike="noStrike" kern="1200" cap="none" spc="0" normalizeH="0" baseline="0" noProof="0">
                <a:ln w="12700">
                  <a:gradFill>
                    <a:gsLst>
                      <a:gs pos="0">
                        <a:prstClr val="white"/>
                      </a:gs>
                      <a:gs pos="100000">
                        <a:srgbClr val="F1DAB2">
                          <a:alpha val="0"/>
                        </a:srgbClr>
                      </a:gs>
                    </a:gsLst>
                    <a:lin ang="5400000" scaled="1"/>
                  </a:gradFill>
                </a:ln>
                <a:blipFill>
                  <a:blip r:embed="rId2"/>
                  <a:stretch>
                    <a:fillRect/>
                  </a:stretch>
                </a:blipFill>
                <a:effectLst/>
                <a:uLnTx/>
                <a:uFillTx/>
                <a:latin typeface="演示镇魂行楷" panose="00000500000000000000" pitchFamily="2" charset="-122"/>
                <a:ea typeface="演示镇魂行楷" panose="00000500000000000000" pitchFamily="2" charset="-122"/>
                <a:cs typeface="+mn-cs"/>
              </a:rPr>
              <a:t>西柏坡</a:t>
            </a:r>
          </a:p>
        </p:txBody>
      </p:sp>
      <p:sp>
        <p:nvSpPr>
          <p:cNvPr id="37" name="标题 1"/>
          <p:cNvSpPr txBox="1"/>
          <p:nvPr/>
        </p:nvSpPr>
        <p:spPr>
          <a:xfrm>
            <a:off x="1961243" y="734324"/>
            <a:ext cx="8964259" cy="1591590"/>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285750" indent="-285750">
              <a:lnSpc>
                <a:spcPct val="150000"/>
              </a:lnSpc>
              <a:buFont typeface="Arial" panose="020B0604020202020204" pitchFamily="34" charset="0"/>
              <a:buChar char="•"/>
            </a:pPr>
            <a:r>
              <a:rPr lang="zh-CN" altLang="en-US" sz="1800">
                <a:solidFill>
                  <a:schemeClr val="tx1">
                    <a:lumMod val="75000"/>
                    <a:lumOff val="25000"/>
                  </a:schemeClr>
                </a:solidFill>
                <a:latin typeface="+mn-ea"/>
                <a:ea typeface="+mn-ea"/>
              </a:rPr>
              <a:t>全会批准了</a:t>
            </a:r>
            <a:r>
              <a:rPr lang="en-US" altLang="zh-CN" sz="1800">
                <a:solidFill>
                  <a:schemeClr val="tx1">
                    <a:lumMod val="75000"/>
                    <a:lumOff val="25000"/>
                  </a:schemeClr>
                </a:solidFill>
                <a:latin typeface="+mn-ea"/>
                <a:ea typeface="+mn-ea"/>
              </a:rPr>
              <a:t>1949</a:t>
            </a:r>
            <a:r>
              <a:rPr lang="zh-CN" altLang="en-US" sz="1800">
                <a:solidFill>
                  <a:schemeClr val="tx1">
                    <a:lumMod val="75000"/>
                    <a:lumOff val="25000"/>
                  </a:schemeClr>
                </a:solidFill>
                <a:latin typeface="+mn-ea"/>
                <a:ea typeface="+mn-ea"/>
              </a:rPr>
              <a:t>年</a:t>
            </a:r>
            <a:r>
              <a:rPr lang="en-US" altLang="zh-CN" sz="1800">
                <a:solidFill>
                  <a:schemeClr val="tx1">
                    <a:lumMod val="75000"/>
                    <a:lumOff val="25000"/>
                  </a:schemeClr>
                </a:solidFill>
                <a:latin typeface="+mn-ea"/>
                <a:ea typeface="+mn-ea"/>
              </a:rPr>
              <a:t>1</a:t>
            </a:r>
            <a:r>
              <a:rPr lang="zh-CN" altLang="en-US" sz="1800">
                <a:solidFill>
                  <a:schemeClr val="tx1">
                    <a:lumMod val="75000"/>
                    <a:lumOff val="25000"/>
                  </a:schemeClr>
                </a:solidFill>
                <a:latin typeface="+mn-ea"/>
                <a:ea typeface="+mn-ea"/>
              </a:rPr>
              <a:t>月</a:t>
            </a:r>
            <a:r>
              <a:rPr lang="en-US" altLang="zh-CN" sz="1800">
                <a:solidFill>
                  <a:schemeClr val="tx1">
                    <a:lumMod val="75000"/>
                    <a:lumOff val="25000"/>
                  </a:schemeClr>
                </a:solidFill>
                <a:latin typeface="+mn-ea"/>
                <a:ea typeface="+mn-ea"/>
              </a:rPr>
              <a:t>14</a:t>
            </a:r>
            <a:r>
              <a:rPr lang="zh-CN" altLang="en-US" sz="1800">
                <a:solidFill>
                  <a:schemeClr val="tx1">
                    <a:lumMod val="75000"/>
                    <a:lumOff val="25000"/>
                  </a:schemeClr>
                </a:solidFill>
                <a:latin typeface="+mn-ea"/>
                <a:ea typeface="+mn-ea"/>
              </a:rPr>
              <a:t>日毛泽东主席对时局的声明；全会批准了由我党发起召开新政治协商会议及成立民主联合政府的建议。</a:t>
            </a:r>
            <a:endParaRPr lang="en-US" altLang="zh-CN" sz="1800">
              <a:solidFill>
                <a:schemeClr val="tx1">
                  <a:lumMod val="75000"/>
                  <a:lumOff val="25000"/>
                </a:schemeClr>
              </a:solidFill>
              <a:latin typeface="+mn-ea"/>
              <a:ea typeface="+mn-ea"/>
            </a:endParaRPr>
          </a:p>
        </p:txBody>
      </p:sp>
      <p:cxnSp>
        <p:nvCxnSpPr>
          <p:cNvPr id="4" name="直接连接符 3"/>
          <p:cNvCxnSpPr/>
          <p:nvPr/>
        </p:nvCxnSpPr>
        <p:spPr>
          <a:xfrm flipH="1">
            <a:off x="1582057" y="-254211"/>
            <a:ext cx="0" cy="7112208"/>
          </a:xfrm>
          <a:prstGeom prst="line">
            <a:avLst/>
          </a:prstGeom>
          <a:ln w="12700">
            <a:solidFill>
              <a:srgbClr val="B1050A"/>
            </a:solidFill>
          </a:ln>
        </p:spPr>
        <p:style>
          <a:lnRef idx="1">
            <a:schemeClr val="accent1"/>
          </a:lnRef>
          <a:fillRef idx="0">
            <a:schemeClr val="accent1"/>
          </a:fillRef>
          <a:effectRef idx="0">
            <a:schemeClr val="accent1"/>
          </a:effectRef>
          <a:fontRef idx="minor">
            <a:schemeClr val="tx1"/>
          </a:fontRef>
        </p:style>
      </p:cxnSp>
      <p:grpSp>
        <p:nvGrpSpPr>
          <p:cNvPr id="7" name="组合 6"/>
          <p:cNvGrpSpPr/>
          <p:nvPr/>
        </p:nvGrpSpPr>
        <p:grpSpPr>
          <a:xfrm>
            <a:off x="1392464" y="980160"/>
            <a:ext cx="379186" cy="379186"/>
            <a:chOff x="1373416" y="1628769"/>
            <a:chExt cx="417282" cy="417282"/>
          </a:xfrm>
        </p:grpSpPr>
        <p:sp>
          <p:nvSpPr>
            <p:cNvPr id="47" name="椭圆 46"/>
            <p:cNvSpPr/>
            <p:nvPr/>
          </p:nvSpPr>
          <p:spPr>
            <a:xfrm>
              <a:off x="1373416" y="1628769"/>
              <a:ext cx="417282" cy="417282"/>
            </a:xfrm>
            <a:prstGeom prst="ellipse">
              <a:avLst/>
            </a:prstGeom>
            <a:solidFill>
              <a:srgbClr val="B1050A">
                <a:alpha val="63000"/>
              </a:srgbClr>
            </a:solidFill>
            <a:ln w="6350">
              <a:solidFill>
                <a:schemeClr val="bg1"/>
              </a:solidFill>
            </a:ln>
            <a:effectLst>
              <a:outerShdw blurRad="63500" sx="102000" sy="102000" algn="ctr" rotWithShape="0">
                <a:prstClr val="black">
                  <a:alpha val="4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p:cNvSpPr/>
            <p:nvPr/>
          </p:nvSpPr>
          <p:spPr>
            <a:xfrm>
              <a:off x="1482777" y="1738130"/>
              <a:ext cx="198560" cy="198560"/>
            </a:xfrm>
            <a:prstGeom prst="ellipse">
              <a:avLst/>
            </a:prstGeom>
            <a:solidFill>
              <a:srgbClr val="B105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9" name="标题 1"/>
          <p:cNvSpPr txBox="1"/>
          <p:nvPr/>
        </p:nvSpPr>
        <p:spPr>
          <a:xfrm>
            <a:off x="1961243" y="2032820"/>
            <a:ext cx="8964259" cy="1210288"/>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285750" indent="-285750">
              <a:lnSpc>
                <a:spcPct val="150000"/>
              </a:lnSpc>
              <a:buFont typeface="Arial" panose="020B0604020202020204" pitchFamily="34" charset="0"/>
              <a:buChar char="•"/>
            </a:pPr>
            <a:r>
              <a:rPr lang="zh-CN" altLang="en-US" sz="1800">
                <a:solidFill>
                  <a:schemeClr val="tx1">
                    <a:lumMod val="75000"/>
                    <a:lumOff val="25000"/>
                  </a:schemeClr>
                </a:solidFill>
                <a:latin typeface="+mn-ea"/>
                <a:ea typeface="+mn-ea"/>
              </a:rPr>
              <a:t>会议还通过了</a:t>
            </a:r>
            <a:r>
              <a:rPr lang="en-US" altLang="zh-CN" sz="1800">
                <a:solidFill>
                  <a:schemeClr val="tx1">
                    <a:lumMod val="75000"/>
                    <a:lumOff val="25000"/>
                  </a:schemeClr>
                </a:solidFill>
                <a:latin typeface="+mn-ea"/>
                <a:ea typeface="+mn-ea"/>
              </a:rPr>
              <a:t>《</a:t>
            </a:r>
            <a:r>
              <a:rPr lang="zh-CN" altLang="en-US" sz="1800">
                <a:solidFill>
                  <a:schemeClr val="tx1">
                    <a:lumMod val="75000"/>
                    <a:lumOff val="25000"/>
                  </a:schemeClr>
                </a:solidFill>
                <a:latin typeface="+mn-ea"/>
                <a:ea typeface="+mn-ea"/>
              </a:rPr>
              <a:t>关于军旗的决议</a:t>
            </a:r>
            <a:r>
              <a:rPr lang="en-US" altLang="zh-CN" sz="1800">
                <a:solidFill>
                  <a:schemeClr val="tx1">
                    <a:lumMod val="75000"/>
                    <a:lumOff val="25000"/>
                  </a:schemeClr>
                </a:solidFill>
                <a:latin typeface="+mn-ea"/>
                <a:ea typeface="+mn-ea"/>
              </a:rPr>
              <a:t>》</a:t>
            </a:r>
            <a:r>
              <a:rPr lang="zh-CN" altLang="en-US" sz="1800">
                <a:solidFill>
                  <a:schemeClr val="tx1">
                    <a:lumMod val="75000"/>
                    <a:lumOff val="25000"/>
                  </a:schemeClr>
                </a:solidFill>
                <a:latin typeface="+mn-ea"/>
                <a:ea typeface="+mn-ea"/>
              </a:rPr>
              <a:t>，规定中国人民解放军的军旗应为红底，加五角星，加“八一”二字。</a:t>
            </a:r>
            <a:endParaRPr lang="en-US" altLang="zh-CN" sz="1800">
              <a:solidFill>
                <a:schemeClr val="tx1">
                  <a:lumMod val="75000"/>
                  <a:lumOff val="25000"/>
                </a:schemeClr>
              </a:solidFill>
              <a:latin typeface="+mn-ea"/>
              <a:ea typeface="+mn-ea"/>
            </a:endParaRPr>
          </a:p>
        </p:txBody>
      </p:sp>
      <p:grpSp>
        <p:nvGrpSpPr>
          <p:cNvPr id="50" name="组合 49"/>
          <p:cNvGrpSpPr/>
          <p:nvPr/>
        </p:nvGrpSpPr>
        <p:grpSpPr>
          <a:xfrm>
            <a:off x="1392464" y="2118692"/>
            <a:ext cx="379186" cy="379186"/>
            <a:chOff x="1373416" y="1628769"/>
            <a:chExt cx="417282" cy="417282"/>
          </a:xfrm>
        </p:grpSpPr>
        <p:sp>
          <p:nvSpPr>
            <p:cNvPr id="67" name="椭圆 66"/>
            <p:cNvSpPr/>
            <p:nvPr/>
          </p:nvSpPr>
          <p:spPr>
            <a:xfrm>
              <a:off x="1373416" y="1628769"/>
              <a:ext cx="417282" cy="417282"/>
            </a:xfrm>
            <a:prstGeom prst="ellipse">
              <a:avLst/>
            </a:prstGeom>
            <a:solidFill>
              <a:srgbClr val="B1050A">
                <a:alpha val="63000"/>
              </a:srgbClr>
            </a:solidFill>
            <a:ln w="6350">
              <a:solidFill>
                <a:schemeClr val="bg1"/>
              </a:solidFill>
            </a:ln>
            <a:effectLst>
              <a:outerShdw blurRad="63500" sx="102000" sy="102000" algn="ctr" rotWithShape="0">
                <a:prstClr val="black">
                  <a:alpha val="4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椭圆 67"/>
            <p:cNvSpPr/>
            <p:nvPr/>
          </p:nvSpPr>
          <p:spPr>
            <a:xfrm>
              <a:off x="1482777" y="1738130"/>
              <a:ext cx="198560" cy="198560"/>
            </a:xfrm>
            <a:prstGeom prst="ellipse">
              <a:avLst/>
            </a:prstGeom>
            <a:solidFill>
              <a:srgbClr val="B105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9" name="标题 1"/>
          <p:cNvSpPr txBox="1"/>
          <p:nvPr/>
        </p:nvSpPr>
        <p:spPr>
          <a:xfrm>
            <a:off x="1961243" y="3149835"/>
            <a:ext cx="8964259" cy="1210288"/>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285750" indent="-285750">
              <a:lnSpc>
                <a:spcPct val="150000"/>
              </a:lnSpc>
              <a:buFont typeface="Arial" panose="020B0604020202020204" pitchFamily="34" charset="0"/>
              <a:buChar char="•"/>
            </a:pPr>
            <a:r>
              <a:rPr lang="zh-CN" altLang="en-US" sz="1800">
                <a:solidFill>
                  <a:schemeClr val="tx1">
                    <a:lumMod val="75000"/>
                    <a:lumOff val="25000"/>
                  </a:schemeClr>
                </a:solidFill>
                <a:latin typeface="+mn-ea"/>
                <a:ea typeface="+mn-ea"/>
              </a:rPr>
              <a:t>最后，毛泽东代表中央政治局对全会作了结论报告。结论报告总结了“党委会的工作方法”的</a:t>
            </a:r>
            <a:r>
              <a:rPr lang="en-US" altLang="zh-CN" sz="1800">
                <a:solidFill>
                  <a:schemeClr val="tx1">
                    <a:lumMod val="75000"/>
                    <a:lumOff val="25000"/>
                  </a:schemeClr>
                </a:solidFill>
                <a:latin typeface="+mn-ea"/>
                <a:ea typeface="+mn-ea"/>
              </a:rPr>
              <a:t>12</a:t>
            </a:r>
            <a:r>
              <a:rPr lang="zh-CN" altLang="en-US" sz="1800">
                <a:solidFill>
                  <a:schemeClr val="tx1">
                    <a:lumMod val="75000"/>
                    <a:lumOff val="25000"/>
                  </a:schemeClr>
                </a:solidFill>
                <a:latin typeface="+mn-ea"/>
                <a:ea typeface="+mn-ea"/>
              </a:rPr>
              <a:t>条经验，强调要发扬党内民主，加强集体领导，改进工作作风和工作方法。号召各级干部要学好马列的</a:t>
            </a:r>
            <a:r>
              <a:rPr lang="en-US" altLang="zh-CN" sz="1800">
                <a:solidFill>
                  <a:schemeClr val="tx1">
                    <a:lumMod val="75000"/>
                    <a:lumOff val="25000"/>
                  </a:schemeClr>
                </a:solidFill>
                <a:latin typeface="+mn-ea"/>
                <a:ea typeface="+mn-ea"/>
              </a:rPr>
              <a:t>12</a:t>
            </a:r>
            <a:r>
              <a:rPr lang="zh-CN" altLang="en-US" sz="1800">
                <a:solidFill>
                  <a:schemeClr val="tx1">
                    <a:lumMod val="75000"/>
                    <a:lumOff val="25000"/>
                  </a:schemeClr>
                </a:solidFill>
                <a:latin typeface="+mn-ea"/>
                <a:ea typeface="+mn-ea"/>
              </a:rPr>
              <a:t>本书，并决定了以下几个方面的问题：</a:t>
            </a:r>
            <a:endParaRPr lang="en-US" altLang="zh-CN" sz="1800">
              <a:solidFill>
                <a:schemeClr val="tx1">
                  <a:lumMod val="75000"/>
                  <a:lumOff val="25000"/>
                </a:schemeClr>
              </a:solidFill>
              <a:latin typeface="+mn-ea"/>
              <a:ea typeface="+mn-ea"/>
            </a:endParaRPr>
          </a:p>
        </p:txBody>
      </p:sp>
      <p:grpSp>
        <p:nvGrpSpPr>
          <p:cNvPr id="70" name="组合 69"/>
          <p:cNvGrpSpPr/>
          <p:nvPr/>
        </p:nvGrpSpPr>
        <p:grpSpPr>
          <a:xfrm>
            <a:off x="1392464" y="3235707"/>
            <a:ext cx="379186" cy="379186"/>
            <a:chOff x="1373416" y="1628769"/>
            <a:chExt cx="417282" cy="417282"/>
          </a:xfrm>
        </p:grpSpPr>
        <p:sp>
          <p:nvSpPr>
            <p:cNvPr id="71" name="椭圆 70"/>
            <p:cNvSpPr/>
            <p:nvPr/>
          </p:nvSpPr>
          <p:spPr>
            <a:xfrm>
              <a:off x="1373416" y="1628769"/>
              <a:ext cx="417282" cy="417282"/>
            </a:xfrm>
            <a:prstGeom prst="ellipse">
              <a:avLst/>
            </a:prstGeom>
            <a:solidFill>
              <a:srgbClr val="B1050A">
                <a:alpha val="63000"/>
              </a:srgbClr>
            </a:solidFill>
            <a:ln w="6350">
              <a:solidFill>
                <a:schemeClr val="bg1"/>
              </a:solidFill>
            </a:ln>
            <a:effectLst>
              <a:outerShdw blurRad="63500" sx="102000" sy="102000" algn="ctr" rotWithShape="0">
                <a:prstClr val="black">
                  <a:alpha val="4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椭圆 71"/>
            <p:cNvSpPr/>
            <p:nvPr/>
          </p:nvSpPr>
          <p:spPr>
            <a:xfrm>
              <a:off x="1482777" y="1738130"/>
              <a:ext cx="198560" cy="198560"/>
            </a:xfrm>
            <a:prstGeom prst="ellipse">
              <a:avLst/>
            </a:prstGeom>
            <a:solidFill>
              <a:srgbClr val="B105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42" name="图片 41" descr="图片包含 游戏机, 花, 雏菊, 灯光&#10;&#10;描述已自动生成"/>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flipV="1">
            <a:off x="10023968" y="3982997"/>
            <a:ext cx="2168032" cy="2875000"/>
          </a:xfrm>
          <a:prstGeom prst="rect">
            <a:avLst/>
          </a:prstGeom>
        </p:spPr>
      </p:pic>
      <p:sp>
        <p:nvSpPr>
          <p:cNvPr id="45" name="矩形 44"/>
          <p:cNvSpPr/>
          <p:nvPr/>
        </p:nvSpPr>
        <p:spPr>
          <a:xfrm>
            <a:off x="2685143" y="4665635"/>
            <a:ext cx="5365450" cy="1633565"/>
          </a:xfrm>
          <a:prstGeom prst="rect">
            <a:avLst/>
          </a:prstGeom>
          <a:solidFill>
            <a:schemeClr val="accent2">
              <a:lumMod val="20000"/>
              <a:lumOff val="80000"/>
              <a:alpha val="3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44" name="标题 1"/>
          <p:cNvSpPr txBox="1"/>
          <p:nvPr/>
        </p:nvSpPr>
        <p:spPr>
          <a:xfrm>
            <a:off x="3052455" y="4789511"/>
            <a:ext cx="5501116" cy="1210288"/>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1400">
                <a:solidFill>
                  <a:schemeClr val="tx1">
                    <a:lumMod val="75000"/>
                    <a:lumOff val="25000"/>
                  </a:schemeClr>
                </a:solidFill>
                <a:latin typeface="+mn-ea"/>
                <a:ea typeface="+mn-ea"/>
              </a:rPr>
              <a:t>一、确定了促进革命迅速取得全国胜利的各项方针。</a:t>
            </a:r>
          </a:p>
          <a:p>
            <a:pPr>
              <a:lnSpc>
                <a:spcPct val="150000"/>
              </a:lnSpc>
            </a:pPr>
            <a:r>
              <a:rPr lang="zh-CN" altLang="en-US" sz="1400">
                <a:solidFill>
                  <a:schemeClr val="tx1">
                    <a:lumMod val="75000"/>
                    <a:lumOff val="25000"/>
                  </a:schemeClr>
                </a:solidFill>
                <a:latin typeface="+mn-ea"/>
                <a:ea typeface="+mn-ea"/>
              </a:rPr>
              <a:t>二、决定将党的工作重心由乡村转到城市。</a:t>
            </a:r>
          </a:p>
          <a:p>
            <a:pPr>
              <a:lnSpc>
                <a:spcPct val="150000"/>
              </a:lnSpc>
            </a:pPr>
            <a:r>
              <a:rPr lang="zh-CN" altLang="en-US" sz="1400">
                <a:solidFill>
                  <a:schemeClr val="tx1">
                    <a:lumMod val="75000"/>
                    <a:lumOff val="25000"/>
                  </a:schemeClr>
                </a:solidFill>
                <a:latin typeface="+mn-ea"/>
                <a:ea typeface="+mn-ea"/>
              </a:rPr>
              <a:t>三、决定了党在全国胜利后的一系列基本政策。</a:t>
            </a:r>
          </a:p>
          <a:p>
            <a:pPr>
              <a:lnSpc>
                <a:spcPct val="150000"/>
              </a:lnSpc>
            </a:pPr>
            <a:r>
              <a:rPr lang="zh-CN" altLang="en-US" sz="1400">
                <a:solidFill>
                  <a:schemeClr val="tx1">
                    <a:lumMod val="75000"/>
                    <a:lumOff val="25000"/>
                  </a:schemeClr>
                </a:solidFill>
                <a:latin typeface="+mn-ea"/>
                <a:ea typeface="+mn-ea"/>
              </a:rPr>
              <a:t>四、强调要加强党的思想建设，防止资产阶级思想的腐蚀。</a:t>
            </a:r>
            <a:endParaRPr lang="en-US" altLang="zh-CN" sz="1400">
              <a:solidFill>
                <a:schemeClr val="tx1">
                  <a:lumMod val="75000"/>
                  <a:lumOff val="25000"/>
                </a:schemeClr>
              </a:solidFill>
              <a:latin typeface="+mn-ea"/>
              <a:ea typeface="+mn-ea"/>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图片包含 游戏机, 花, 雏菊, 灯光&#10;&#10;描述已自动生成">
            <a:extLst>
              <a:ext uri="{FF2B5EF4-FFF2-40B4-BE49-F238E27FC236}">
                <a16:creationId xmlns:a16="http://schemas.microsoft.com/office/drawing/2014/main" id="{514C8835-21DA-B761-3A33-557AF26AE9E1}"/>
              </a:ext>
            </a:extLst>
          </p:cNvPr>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a:xfrm rot="10800000" flipV="1">
            <a:off x="-16879" y="0"/>
            <a:ext cx="5380318" cy="7134776"/>
          </a:xfrm>
          <a:prstGeom prst="rect">
            <a:avLst/>
          </a:prstGeom>
        </p:spPr>
      </p:pic>
      <p:sp>
        <p:nvSpPr>
          <p:cNvPr id="22" name="Rectangle 4"/>
          <p:cNvSpPr txBox="1">
            <a:spLocks noChangeArrowheads="1"/>
          </p:cNvSpPr>
          <p:nvPr/>
        </p:nvSpPr>
        <p:spPr bwMode="auto">
          <a:xfrm>
            <a:off x="8342301" y="166086"/>
            <a:ext cx="3690041" cy="5509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04" tIns="45702" rIns="91404" bIns="45702" numCol="1" anchor="ctr" anchorCtr="0" compatLnSpc="1"/>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rgbClr val="C00000"/>
                </a:solidFill>
                <a:effectLst/>
                <a:uLnTx/>
                <a:uFillTx/>
                <a:ea typeface="微软雅黑" panose="020B0503020204020204" pitchFamily="34" charset="-122"/>
                <a:cs typeface="+mj-cs"/>
              </a:rPr>
              <a:t>内涵解析：西柏坡精神的核心要义</a:t>
            </a:r>
          </a:p>
        </p:txBody>
      </p:sp>
      <p:cxnSp>
        <p:nvCxnSpPr>
          <p:cNvPr id="23" name="直接连接符 22"/>
          <p:cNvCxnSpPr/>
          <p:nvPr/>
        </p:nvCxnSpPr>
        <p:spPr>
          <a:xfrm flipH="1">
            <a:off x="7890647" y="441551"/>
            <a:ext cx="622068" cy="0"/>
          </a:xfrm>
          <a:prstGeom prst="line">
            <a:avLst/>
          </a:prstGeom>
          <a:ln>
            <a:solidFill>
              <a:srgbClr val="C00000"/>
            </a:solidFill>
            <a:prstDash val="dash"/>
          </a:ln>
        </p:spPr>
        <p:style>
          <a:lnRef idx="1">
            <a:schemeClr val="accent1"/>
          </a:lnRef>
          <a:fillRef idx="0">
            <a:schemeClr val="accent1"/>
          </a:fillRef>
          <a:effectRef idx="0">
            <a:schemeClr val="accent1"/>
          </a:effectRef>
          <a:fontRef idx="minor">
            <a:schemeClr val="tx1"/>
          </a:fontRef>
        </p:style>
      </p:cxnSp>
      <p:pic>
        <p:nvPicPr>
          <p:cNvPr id="53" name="图片 52" descr="图片包含 游戏机, 花, 雏菊, 灯光&#10;&#10;描述已自动生成"/>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flipV="1">
            <a:off x="10023968" y="3982997"/>
            <a:ext cx="2168032" cy="2875000"/>
          </a:xfrm>
          <a:prstGeom prst="rect">
            <a:avLst/>
          </a:prstGeom>
        </p:spPr>
      </p:pic>
      <p:pic>
        <p:nvPicPr>
          <p:cNvPr id="3" name="图片 2"/>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6290313" y="1888037"/>
            <a:ext cx="2487384" cy="1444877"/>
          </a:xfrm>
          <a:prstGeom prst="rect">
            <a:avLst/>
          </a:prstGeom>
        </p:spPr>
      </p:pic>
      <p:pic>
        <p:nvPicPr>
          <p:cNvPr id="4" name="图片 3">
            <a:extLst>
              <a:ext uri="{FF2B5EF4-FFF2-40B4-BE49-F238E27FC236}">
                <a16:creationId xmlns:a16="http://schemas.microsoft.com/office/drawing/2014/main" id="{6B8E744F-EEA4-C78F-5FD5-D45173758D9B}"/>
              </a:ext>
            </a:extLst>
          </p:cNvPr>
          <p:cNvPicPr>
            <a:picLocks noChangeAspect="1"/>
          </p:cNvPicPr>
          <p:nvPr/>
        </p:nvPicPr>
        <p:blipFill>
          <a:blip r:embed="rId5" cstate="email">
            <a:extLst>
              <a:ext uri="{28A0092B-C50C-407E-A947-70E740481C1C}">
                <a14:useLocalDpi xmlns:a14="http://schemas.microsoft.com/office/drawing/2010/main"/>
              </a:ext>
            </a:extLst>
          </a:blip>
          <a:srcRect/>
          <a:stretch>
            <a:fillRect/>
          </a:stretch>
        </p:blipFill>
        <p:spPr>
          <a:xfrm flipH="1">
            <a:off x="-2" y="-1340145"/>
            <a:ext cx="4460490" cy="8198143"/>
          </a:xfrm>
          <a:prstGeom prst="rect">
            <a:avLst/>
          </a:prstGeom>
        </p:spPr>
      </p:pic>
      <p:pic>
        <p:nvPicPr>
          <p:cNvPr id="11" name="图片 10">
            <a:extLst>
              <a:ext uri="{FF2B5EF4-FFF2-40B4-BE49-F238E27FC236}">
                <a16:creationId xmlns:a16="http://schemas.microsoft.com/office/drawing/2014/main" id="{5C0DAABC-A255-ED1C-B102-3D3E9419539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792980" y="3052076"/>
            <a:ext cx="7877067" cy="838455"/>
          </a:xfrm>
          <a:prstGeom prst="rect">
            <a:avLst/>
          </a:prstGeom>
        </p:spPr>
      </p:pic>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4"/>
          <p:cNvSpPr txBox="1">
            <a:spLocks noChangeArrowheads="1"/>
          </p:cNvSpPr>
          <p:nvPr/>
        </p:nvSpPr>
        <p:spPr bwMode="auto">
          <a:xfrm>
            <a:off x="8342301" y="166086"/>
            <a:ext cx="3690041" cy="5509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04" tIns="45702" rIns="91404" bIns="45702" numCol="1" anchor="ctr" anchorCtr="0" compatLnSpc="1"/>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rgbClr val="C00000"/>
                </a:solidFill>
                <a:effectLst/>
                <a:uLnTx/>
                <a:uFillTx/>
                <a:ea typeface="微软雅黑" panose="020B0503020204020204" pitchFamily="34" charset="-122"/>
                <a:cs typeface="+mj-cs"/>
              </a:rPr>
              <a:t>内涵解析：西柏坡精神的核心要义</a:t>
            </a:r>
          </a:p>
        </p:txBody>
      </p:sp>
      <p:pic>
        <p:nvPicPr>
          <p:cNvPr id="51" name="图片 50"/>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5545836"/>
            <a:ext cx="12192000" cy="1312164"/>
          </a:xfrm>
          <a:prstGeom prst="rect">
            <a:avLst/>
          </a:prstGeom>
        </p:spPr>
      </p:pic>
      <p:pic>
        <p:nvPicPr>
          <p:cNvPr id="52" name="图片 51"/>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flipH="1">
            <a:off x="9982200" y="4154312"/>
            <a:ext cx="2209800" cy="2707228"/>
          </a:xfrm>
          <a:prstGeom prst="rect">
            <a:avLst/>
          </a:prstGeom>
        </p:spPr>
      </p:pic>
      <p:sp>
        <p:nvSpPr>
          <p:cNvPr id="66" name="文本框 65"/>
          <p:cNvSpPr txBox="1"/>
          <p:nvPr/>
        </p:nvSpPr>
        <p:spPr>
          <a:xfrm>
            <a:off x="1461404" y="231054"/>
            <a:ext cx="4143804" cy="523220"/>
          </a:xfrm>
          <a:prstGeom prst="rect">
            <a:avLst/>
          </a:prstGeom>
          <a:noFill/>
        </p:spPr>
        <p:txBody>
          <a:bodyPr wrap="square" rtlCol="0">
            <a:spAutoFit/>
          </a:bodyPr>
          <a:lstStyle/>
          <a:p>
            <a:pPr marL="0" marR="0" lvl="0" indent="0" defTabSz="914400" rtl="0" eaLnBrk="1" fontAlgn="auto" latinLnBrk="0" hangingPunct="1">
              <a:lnSpc>
                <a:spcPct val="100000"/>
              </a:lnSpc>
              <a:spcBef>
                <a:spcPct val="0"/>
              </a:spcBef>
              <a:spcAft>
                <a:spcPct val="0"/>
              </a:spcAft>
              <a:buClrTx/>
              <a:buSzTx/>
              <a:buFontTx/>
              <a:buNone/>
              <a:defRPr/>
            </a:pPr>
            <a:r>
              <a:rPr kumimoji="0" lang="zh-CN" altLang="en-US" sz="2800" b="0" i="0" u="none" strike="noStrike" kern="1200" cap="none" spc="0" normalizeH="0" baseline="0" noProof="0">
                <a:ln>
                  <a:noFill/>
                </a:ln>
                <a:solidFill>
                  <a:srgbClr val="C00000"/>
                </a:solidFill>
                <a:effectLst/>
                <a:uLnTx/>
                <a:uFillTx/>
                <a:latin typeface="+mn-ea"/>
                <a:cs typeface="阿里巴巴普惠体 H" panose="00020600040101010101" pitchFamily="18" charset="-122"/>
              </a:rPr>
              <a:t>精神内涵</a:t>
            </a:r>
          </a:p>
        </p:txBody>
      </p:sp>
      <p:sp>
        <p:nvSpPr>
          <p:cNvPr id="38" name="文本框 37"/>
          <p:cNvSpPr txBox="1"/>
          <p:nvPr/>
        </p:nvSpPr>
        <p:spPr>
          <a:xfrm>
            <a:off x="8201681" y="-1362207"/>
            <a:ext cx="2723823" cy="1107996"/>
          </a:xfrm>
          <a:prstGeom prst="rect">
            <a:avLst/>
          </a:prstGeom>
          <a:noFill/>
        </p:spPr>
        <p:txBody>
          <a:bodyPr wrap="none" rtlCol="0">
            <a:spAutoFit/>
          </a:bodyPr>
          <a:lstStyle>
            <a:defPPr>
              <a:defRPr lang="zh-CN"/>
            </a:defPPr>
            <a:lvl1pPr>
              <a:defRPr sz="8000">
                <a:ln w="12700">
                  <a:gradFill>
                    <a:gsLst>
                      <a:gs pos="0">
                        <a:schemeClr val="bg1"/>
                      </a:gs>
                      <a:gs pos="100000">
                        <a:srgbClr val="F1DAB2">
                          <a:alpha val="0"/>
                        </a:srgbClr>
                      </a:gs>
                    </a:gsLst>
                    <a:lin ang="5400000" scaled="1"/>
                  </a:gradFill>
                </a:ln>
                <a:gradFill flip="none" rotWithShape="1">
                  <a:gsLst>
                    <a:gs pos="0">
                      <a:srgbClr val="A60E0B"/>
                    </a:gs>
                    <a:gs pos="100000">
                      <a:srgbClr val="DD2531"/>
                    </a:gs>
                  </a:gsLst>
                  <a:lin ang="16200000" scaled="1"/>
                </a:gradFill>
                <a:effectLst>
                  <a:outerShdw dist="88900" dir="5400000" algn="t" rotWithShape="0">
                    <a:schemeClr val="tx1">
                      <a:lumMod val="95000"/>
                      <a:lumOff val="5000"/>
                      <a:alpha val="8000"/>
                    </a:schemeClr>
                  </a:outerShdw>
                </a:effectLst>
                <a:latin typeface="演示镇魂行楷" panose="00000500000000000000" pitchFamily="2" charset="-122"/>
                <a:ea typeface="演示镇魂行楷" panose="00000500000000000000" pitchFamily="2" charset="-122"/>
              </a:defRPr>
            </a:lvl1p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6600" b="0" i="0" u="none" strike="noStrike" kern="1200" cap="none" spc="0" normalizeH="0" baseline="0" noProof="0">
                <a:ln w="12700">
                  <a:gradFill>
                    <a:gsLst>
                      <a:gs pos="0">
                        <a:prstClr val="white"/>
                      </a:gs>
                      <a:gs pos="100000">
                        <a:srgbClr val="F1DAB2">
                          <a:alpha val="0"/>
                        </a:srgbClr>
                      </a:gs>
                    </a:gsLst>
                    <a:lin ang="5400000" scaled="1"/>
                  </a:gradFill>
                </a:ln>
                <a:blipFill>
                  <a:blip r:embed="rId4"/>
                  <a:stretch>
                    <a:fillRect/>
                  </a:stretch>
                </a:blipFill>
                <a:effectLst/>
                <a:uLnTx/>
                <a:uFillTx/>
                <a:latin typeface="演示镇魂行楷" panose="00000500000000000000" pitchFamily="2" charset="-122"/>
                <a:ea typeface="演示镇魂行楷" panose="00000500000000000000" pitchFamily="2" charset="-122"/>
                <a:cs typeface="+mn-cs"/>
              </a:rPr>
              <a:t>西柏坡</a:t>
            </a:r>
          </a:p>
        </p:txBody>
      </p:sp>
      <p:sp>
        <p:nvSpPr>
          <p:cNvPr id="39" name="标题 1"/>
          <p:cNvSpPr txBox="1"/>
          <p:nvPr/>
        </p:nvSpPr>
        <p:spPr>
          <a:xfrm>
            <a:off x="1797470" y="4420910"/>
            <a:ext cx="8825659" cy="63786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1800">
                <a:solidFill>
                  <a:schemeClr val="tx1">
                    <a:lumMod val="75000"/>
                    <a:lumOff val="25000"/>
                  </a:schemeClr>
                </a:solidFill>
                <a:latin typeface="+mn-ea"/>
                <a:ea typeface="+mn-ea"/>
              </a:rPr>
              <a:t>--</a:t>
            </a:r>
            <a:r>
              <a:rPr lang="zh-CN" altLang="en-US" sz="1800">
                <a:solidFill>
                  <a:schemeClr val="tx1">
                    <a:lumMod val="75000"/>
                    <a:lumOff val="25000"/>
                  </a:schemeClr>
                </a:solidFill>
                <a:latin typeface="+mn-ea"/>
                <a:ea typeface="+mn-ea"/>
              </a:rPr>
              <a:t>由毛泽东同志在中国共产党七届二中全会上的讲话中提出的“两个务必”发展而来</a:t>
            </a:r>
          </a:p>
        </p:txBody>
      </p:sp>
      <p:sp>
        <p:nvSpPr>
          <p:cNvPr id="42" name="矩形 41"/>
          <p:cNvSpPr/>
          <p:nvPr/>
        </p:nvSpPr>
        <p:spPr>
          <a:xfrm>
            <a:off x="1683170" y="1812300"/>
            <a:ext cx="8575570" cy="1832261"/>
          </a:xfrm>
          <a:prstGeom prst="rect">
            <a:avLst/>
          </a:prstGeom>
          <a:solidFill>
            <a:schemeClr val="accent2">
              <a:lumMod val="20000"/>
              <a:lumOff val="80000"/>
              <a:alpha val="3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pic>
        <p:nvPicPr>
          <p:cNvPr id="40" name="图片 39"/>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461404" y="1913598"/>
            <a:ext cx="1981085" cy="1771763"/>
          </a:xfrm>
          <a:prstGeom prst="rect">
            <a:avLst/>
          </a:prstGeom>
        </p:spPr>
      </p:pic>
      <p:cxnSp>
        <p:nvCxnSpPr>
          <p:cNvPr id="23" name="直接连接符 22"/>
          <p:cNvCxnSpPr/>
          <p:nvPr/>
        </p:nvCxnSpPr>
        <p:spPr>
          <a:xfrm flipH="1">
            <a:off x="7890647" y="441551"/>
            <a:ext cx="622068" cy="0"/>
          </a:xfrm>
          <a:prstGeom prst="line">
            <a:avLst/>
          </a:prstGeom>
          <a:ln>
            <a:solidFill>
              <a:srgbClr val="C00000"/>
            </a:solidFill>
            <a:prstDash val="dash"/>
          </a:ln>
        </p:spPr>
        <p:style>
          <a:lnRef idx="1">
            <a:schemeClr val="accent1"/>
          </a:lnRef>
          <a:fillRef idx="0">
            <a:schemeClr val="accent1"/>
          </a:fillRef>
          <a:effectRef idx="0">
            <a:schemeClr val="accent1"/>
          </a:effectRef>
          <a:fontRef idx="minor">
            <a:schemeClr val="tx1"/>
          </a:fontRef>
        </p:style>
      </p:cxnSp>
      <p:pic>
        <p:nvPicPr>
          <p:cNvPr id="3" name="图片 2"/>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3662617" y="1930298"/>
            <a:ext cx="6187976" cy="1755800"/>
          </a:xfrm>
          <a:prstGeom prst="rect">
            <a:avLst/>
          </a:prstGeom>
        </p:spPr>
      </p:pic>
      <p:pic>
        <p:nvPicPr>
          <p:cNvPr id="44" name="图片 43"/>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585901" y="377337"/>
            <a:ext cx="646232" cy="256054"/>
          </a:xfrm>
          <a:prstGeom prst="rect">
            <a:avLst/>
          </a:prstGeom>
        </p:spPr>
      </p:pic>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4"/>
          <p:cNvSpPr txBox="1">
            <a:spLocks noChangeArrowheads="1"/>
          </p:cNvSpPr>
          <p:nvPr/>
        </p:nvSpPr>
        <p:spPr bwMode="auto">
          <a:xfrm>
            <a:off x="8342301" y="166086"/>
            <a:ext cx="3690041" cy="5509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04" tIns="45702" rIns="91404" bIns="45702" numCol="1" anchor="ctr" anchorCtr="0" compatLnSpc="1"/>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lvl="0" fontAlgn="base">
              <a:spcBef>
                <a:spcPct val="0"/>
              </a:spcBef>
              <a:spcAft>
                <a:spcPct val="0"/>
              </a:spcAft>
              <a:defRPr/>
            </a:pPr>
            <a:r>
              <a:rPr lang="zh-CN" altLang="en-US" sz="1800" b="0" dirty="0">
                <a:solidFill>
                  <a:srgbClr val="C00000"/>
                </a:solidFill>
                <a:ea typeface="微软雅黑" panose="020B0503020204020204" pitchFamily="34" charset="-122"/>
              </a:rPr>
              <a:t>内涵解析：西柏坡精神的核心要义</a:t>
            </a:r>
          </a:p>
        </p:txBody>
      </p:sp>
      <p:pic>
        <p:nvPicPr>
          <p:cNvPr id="51" name="图片 50"/>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5545836"/>
            <a:ext cx="12192000" cy="1312164"/>
          </a:xfrm>
          <a:prstGeom prst="rect">
            <a:avLst/>
          </a:prstGeom>
        </p:spPr>
      </p:pic>
      <p:pic>
        <p:nvPicPr>
          <p:cNvPr id="52" name="图片 51"/>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flipH="1">
            <a:off x="9982200" y="4154312"/>
            <a:ext cx="2209800" cy="2707228"/>
          </a:xfrm>
          <a:prstGeom prst="rect">
            <a:avLst/>
          </a:prstGeom>
        </p:spPr>
      </p:pic>
      <p:sp>
        <p:nvSpPr>
          <p:cNvPr id="66" name="文本框 65"/>
          <p:cNvSpPr txBox="1"/>
          <p:nvPr/>
        </p:nvSpPr>
        <p:spPr>
          <a:xfrm>
            <a:off x="1461404" y="231054"/>
            <a:ext cx="4143804" cy="523220"/>
          </a:xfrm>
          <a:prstGeom prst="rect">
            <a:avLst/>
          </a:prstGeom>
          <a:noFill/>
        </p:spPr>
        <p:txBody>
          <a:bodyPr wrap="square" rtlCol="0">
            <a:spAutoFit/>
          </a:bodyPr>
          <a:lstStyle/>
          <a:p>
            <a:pPr marL="0" marR="0" lvl="0" indent="0" defTabSz="914400" rtl="0" eaLnBrk="1" fontAlgn="auto" latinLnBrk="0" hangingPunct="1">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rgbClr val="C00000"/>
                </a:solidFill>
                <a:effectLst/>
                <a:uLnTx/>
                <a:uFillTx/>
                <a:latin typeface="+mn-ea"/>
                <a:cs typeface="阿里巴巴普惠体 H" panose="00020600040101010101" pitchFamily="18" charset="-122"/>
              </a:rPr>
              <a:t>精神解读</a:t>
            </a:r>
          </a:p>
        </p:txBody>
      </p:sp>
      <p:sp>
        <p:nvSpPr>
          <p:cNvPr id="38" name="文本框 37"/>
          <p:cNvSpPr txBox="1"/>
          <p:nvPr/>
        </p:nvSpPr>
        <p:spPr>
          <a:xfrm>
            <a:off x="8201681" y="-1362207"/>
            <a:ext cx="2723823" cy="1107996"/>
          </a:xfrm>
          <a:prstGeom prst="rect">
            <a:avLst/>
          </a:prstGeom>
          <a:noFill/>
        </p:spPr>
        <p:txBody>
          <a:bodyPr wrap="none" rtlCol="0">
            <a:spAutoFit/>
          </a:bodyPr>
          <a:lstStyle>
            <a:defPPr>
              <a:defRPr lang="zh-CN"/>
            </a:defPPr>
            <a:lvl1pPr>
              <a:defRPr sz="8000">
                <a:ln w="12700">
                  <a:gradFill>
                    <a:gsLst>
                      <a:gs pos="0">
                        <a:schemeClr val="bg1"/>
                      </a:gs>
                      <a:gs pos="100000">
                        <a:srgbClr val="F1DAB2">
                          <a:alpha val="0"/>
                        </a:srgbClr>
                      </a:gs>
                    </a:gsLst>
                    <a:lin ang="5400000" scaled="1"/>
                  </a:gradFill>
                </a:ln>
                <a:gradFill flip="none" rotWithShape="1">
                  <a:gsLst>
                    <a:gs pos="0">
                      <a:srgbClr val="A60E0B"/>
                    </a:gs>
                    <a:gs pos="100000">
                      <a:srgbClr val="DD2531"/>
                    </a:gs>
                  </a:gsLst>
                  <a:lin ang="16200000" scaled="1"/>
                </a:gradFill>
                <a:effectLst>
                  <a:outerShdw dist="88900" dir="5400000" algn="t" rotWithShape="0">
                    <a:schemeClr val="tx1">
                      <a:lumMod val="95000"/>
                      <a:lumOff val="5000"/>
                      <a:alpha val="8000"/>
                    </a:schemeClr>
                  </a:outerShdw>
                </a:effectLst>
                <a:latin typeface="演示镇魂行楷" panose="00000500000000000000" pitchFamily="2" charset="-122"/>
                <a:ea typeface="演示镇魂行楷" panose="00000500000000000000" pitchFamily="2" charset="-122"/>
              </a:defRPr>
            </a:lvl1p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6600" b="0" i="0" u="none" strike="noStrike" kern="1200" cap="none" spc="0" normalizeH="0" baseline="0" noProof="0">
                <a:ln w="12700">
                  <a:gradFill>
                    <a:gsLst>
                      <a:gs pos="0">
                        <a:prstClr val="white"/>
                      </a:gs>
                      <a:gs pos="100000">
                        <a:srgbClr val="F1DAB2">
                          <a:alpha val="0"/>
                        </a:srgbClr>
                      </a:gs>
                    </a:gsLst>
                    <a:lin ang="5400000" scaled="1"/>
                  </a:gradFill>
                </a:ln>
                <a:blipFill>
                  <a:blip r:embed="rId4"/>
                  <a:stretch>
                    <a:fillRect/>
                  </a:stretch>
                </a:blipFill>
                <a:effectLst/>
                <a:uLnTx/>
                <a:uFillTx/>
                <a:latin typeface="演示镇魂行楷" panose="00000500000000000000" pitchFamily="2" charset="-122"/>
                <a:ea typeface="演示镇魂行楷" panose="00000500000000000000" pitchFamily="2" charset="-122"/>
                <a:cs typeface="+mn-cs"/>
              </a:rPr>
              <a:t>西柏坡</a:t>
            </a:r>
          </a:p>
        </p:txBody>
      </p:sp>
      <p:sp>
        <p:nvSpPr>
          <p:cNvPr id="39" name="标题 1"/>
          <p:cNvSpPr txBox="1"/>
          <p:nvPr/>
        </p:nvSpPr>
        <p:spPr>
          <a:xfrm>
            <a:off x="4945471" y="1789607"/>
            <a:ext cx="3936062" cy="63786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1800" b="1" dirty="0">
                <a:solidFill>
                  <a:schemeClr val="tx1">
                    <a:lumMod val="75000"/>
                    <a:lumOff val="25000"/>
                  </a:schemeClr>
                </a:solidFill>
                <a:latin typeface="+mn-ea"/>
                <a:ea typeface="+mn-ea"/>
              </a:rPr>
              <a:t>谦虚谨慎、艰苦奋斗的优良作风精神</a:t>
            </a:r>
          </a:p>
        </p:txBody>
      </p:sp>
      <p:cxnSp>
        <p:nvCxnSpPr>
          <p:cNvPr id="23" name="直接连接符 22"/>
          <p:cNvCxnSpPr/>
          <p:nvPr/>
        </p:nvCxnSpPr>
        <p:spPr>
          <a:xfrm flipH="1">
            <a:off x="7890647" y="441551"/>
            <a:ext cx="622068" cy="0"/>
          </a:xfrm>
          <a:prstGeom prst="line">
            <a:avLst/>
          </a:prstGeom>
          <a:ln>
            <a:solidFill>
              <a:srgbClr val="C00000"/>
            </a:solidFill>
            <a:prstDash val="dash"/>
          </a:ln>
        </p:spPr>
        <p:style>
          <a:lnRef idx="1">
            <a:schemeClr val="accent1"/>
          </a:lnRef>
          <a:fillRef idx="0">
            <a:schemeClr val="accent1"/>
          </a:fillRef>
          <a:effectRef idx="0">
            <a:schemeClr val="accent1"/>
          </a:effectRef>
          <a:fontRef idx="minor">
            <a:schemeClr val="tx1"/>
          </a:fontRef>
        </p:style>
      </p:cxnSp>
      <p:sp>
        <p:nvSpPr>
          <p:cNvPr id="37" name="标题 1"/>
          <p:cNvSpPr txBox="1"/>
          <p:nvPr/>
        </p:nvSpPr>
        <p:spPr>
          <a:xfrm>
            <a:off x="4945471" y="2505425"/>
            <a:ext cx="6658304" cy="2104845"/>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1800" dirty="0">
                <a:solidFill>
                  <a:schemeClr val="tx1">
                    <a:lumMod val="75000"/>
                    <a:lumOff val="25000"/>
                  </a:schemeClr>
                </a:solidFill>
                <a:latin typeface="+mn-ea"/>
                <a:ea typeface="+mn-ea"/>
              </a:rPr>
              <a:t>在党的七届二中全会上，毛泽东同志提出了著名的“两个务必”。他指出，夺取全国胜利，这只是万里长征走完了第一步，革命以后的路程更长，工作更伟大、更艰苦，因此：</a:t>
            </a:r>
            <a:endParaRPr lang="en-US" altLang="zh-CN" sz="1800" dirty="0">
              <a:solidFill>
                <a:schemeClr val="tx1">
                  <a:lumMod val="75000"/>
                  <a:lumOff val="25000"/>
                </a:schemeClr>
              </a:solidFill>
              <a:latin typeface="+mn-ea"/>
              <a:ea typeface="+mn-ea"/>
            </a:endParaRPr>
          </a:p>
        </p:txBody>
      </p:sp>
      <p:sp>
        <p:nvSpPr>
          <p:cNvPr id="48" name="矩形 47"/>
          <p:cNvSpPr/>
          <p:nvPr/>
        </p:nvSpPr>
        <p:spPr>
          <a:xfrm>
            <a:off x="4550189" y="1818679"/>
            <a:ext cx="72000" cy="475184"/>
          </a:xfrm>
          <a:prstGeom prst="rect">
            <a:avLst/>
          </a:prstGeom>
          <a:solidFill>
            <a:srgbClr val="B1050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楷体" panose="02010609060101010101" pitchFamily="49" charset="-122"/>
              <a:ea typeface="楷体" panose="02010609060101010101" pitchFamily="49" charset="-122"/>
              <a:cs typeface="+mn-ea"/>
              <a:sym typeface="+mn-lt"/>
            </a:endParaRPr>
          </a:p>
        </p:txBody>
      </p:sp>
      <p:cxnSp>
        <p:nvCxnSpPr>
          <p:cNvPr id="3" name="直接连接符 2"/>
          <p:cNvCxnSpPr/>
          <p:nvPr/>
        </p:nvCxnSpPr>
        <p:spPr>
          <a:xfrm flipH="1" flipV="1">
            <a:off x="4586189" y="2216324"/>
            <a:ext cx="0" cy="2788195"/>
          </a:xfrm>
          <a:prstGeom prst="line">
            <a:avLst/>
          </a:prstGeom>
          <a:ln>
            <a:solidFill>
              <a:srgbClr val="B1050A"/>
            </a:solidFill>
          </a:ln>
        </p:spPr>
        <p:style>
          <a:lnRef idx="1">
            <a:schemeClr val="accent1"/>
          </a:lnRef>
          <a:fillRef idx="0">
            <a:schemeClr val="accent1"/>
          </a:fillRef>
          <a:effectRef idx="0">
            <a:schemeClr val="accent1"/>
          </a:effectRef>
          <a:fontRef idx="minor">
            <a:schemeClr val="tx1"/>
          </a:fontRef>
        </p:style>
      </p:cxnSp>
      <p:sp>
        <p:nvSpPr>
          <p:cNvPr id="49" name="标题 1"/>
          <p:cNvSpPr txBox="1"/>
          <p:nvPr/>
        </p:nvSpPr>
        <p:spPr>
          <a:xfrm>
            <a:off x="4945471" y="3812786"/>
            <a:ext cx="6658304" cy="2104845"/>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200000"/>
              </a:lnSpc>
            </a:pPr>
            <a:r>
              <a:rPr lang="zh-CN" altLang="en-US" sz="1800" dirty="0">
                <a:solidFill>
                  <a:srgbClr val="B1050A"/>
                </a:solidFill>
                <a:latin typeface="+mn-ea"/>
                <a:ea typeface="+mn-ea"/>
              </a:rPr>
              <a:t>务必使同志们继续地保持谦虚、谨慎、不骄、不躁的作风</a:t>
            </a:r>
            <a:endParaRPr lang="en-US" altLang="zh-CN" sz="1800" dirty="0">
              <a:solidFill>
                <a:srgbClr val="B1050A"/>
              </a:solidFill>
              <a:latin typeface="+mn-ea"/>
              <a:ea typeface="+mn-ea"/>
            </a:endParaRPr>
          </a:p>
          <a:p>
            <a:pPr>
              <a:lnSpc>
                <a:spcPct val="200000"/>
              </a:lnSpc>
            </a:pPr>
            <a:r>
              <a:rPr lang="zh-CN" altLang="en-US" sz="1800" dirty="0">
                <a:solidFill>
                  <a:srgbClr val="B1050A"/>
                </a:solidFill>
                <a:latin typeface="+mn-ea"/>
                <a:ea typeface="+mn-ea"/>
              </a:rPr>
              <a:t>务必使同志们继续地保持艰苦奋斗的作风</a:t>
            </a:r>
          </a:p>
        </p:txBody>
      </p:sp>
      <p:cxnSp>
        <p:nvCxnSpPr>
          <p:cNvPr id="50" name="直接连接符 49"/>
          <p:cNvCxnSpPr/>
          <p:nvPr/>
        </p:nvCxnSpPr>
        <p:spPr>
          <a:xfrm>
            <a:off x="5048952" y="4412797"/>
            <a:ext cx="5737704" cy="0"/>
          </a:xfrm>
          <a:prstGeom prst="line">
            <a:avLst/>
          </a:prstGeom>
          <a:ln>
            <a:solidFill>
              <a:srgbClr val="B1050A"/>
            </a:solidFill>
          </a:ln>
        </p:spPr>
        <p:style>
          <a:lnRef idx="1">
            <a:schemeClr val="accent1"/>
          </a:lnRef>
          <a:fillRef idx="0">
            <a:schemeClr val="accent1"/>
          </a:fillRef>
          <a:effectRef idx="0">
            <a:schemeClr val="accent1"/>
          </a:effectRef>
          <a:fontRef idx="minor">
            <a:schemeClr val="tx1"/>
          </a:fontRef>
        </p:style>
      </p:cxnSp>
      <p:cxnSp>
        <p:nvCxnSpPr>
          <p:cNvPr id="67" name="直接连接符 66"/>
          <p:cNvCxnSpPr/>
          <p:nvPr/>
        </p:nvCxnSpPr>
        <p:spPr>
          <a:xfrm>
            <a:off x="5048952" y="5004519"/>
            <a:ext cx="4194391" cy="0"/>
          </a:xfrm>
          <a:prstGeom prst="line">
            <a:avLst/>
          </a:prstGeom>
          <a:ln>
            <a:solidFill>
              <a:srgbClr val="B1050A"/>
            </a:solidFill>
          </a:ln>
        </p:spPr>
        <p:style>
          <a:lnRef idx="1">
            <a:schemeClr val="accent1"/>
          </a:lnRef>
          <a:fillRef idx="0">
            <a:schemeClr val="accent1"/>
          </a:fillRef>
          <a:effectRef idx="0">
            <a:schemeClr val="accent1"/>
          </a:effectRef>
          <a:fontRef idx="minor">
            <a:schemeClr val="tx1"/>
          </a:fontRef>
        </p:style>
      </p:cxnSp>
      <p:pic>
        <p:nvPicPr>
          <p:cNvPr id="40" name="图片 39"/>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585901" y="377337"/>
            <a:ext cx="646232" cy="256054"/>
          </a:xfrm>
          <a:prstGeom prst="rect">
            <a:avLst/>
          </a:prstGeom>
        </p:spPr>
      </p:pic>
      <p:pic>
        <p:nvPicPr>
          <p:cNvPr id="17" name="Picture 3" descr="毛泽东"/>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a:xfrm>
            <a:off x="909017" y="1932343"/>
            <a:ext cx="3367935" cy="2746968"/>
          </a:xfrm>
          <a:custGeom>
            <a:avLst/>
            <a:gdLst>
              <a:gd name="connsiteX0" fmla="*/ 0 w 3595845"/>
              <a:gd name="connsiteY0" fmla="*/ 2675631 h 2675631"/>
              <a:gd name="connsiteX1" fmla="*/ 0 w 3595845"/>
              <a:gd name="connsiteY1" fmla="*/ 0 h 2675631"/>
              <a:gd name="connsiteX2" fmla="*/ 3595845 w 3595845"/>
              <a:gd name="connsiteY2" fmla="*/ 0 h 2675631"/>
              <a:gd name="connsiteX3" fmla="*/ 3595845 w 3595845"/>
              <a:gd name="connsiteY3" fmla="*/ 2675631 h 2675631"/>
            </a:gdLst>
            <a:ahLst/>
            <a:cxnLst>
              <a:cxn ang="0">
                <a:pos x="connsiteX0" y="connsiteY0"/>
              </a:cxn>
              <a:cxn ang="0">
                <a:pos x="connsiteX1" y="connsiteY1"/>
              </a:cxn>
              <a:cxn ang="0">
                <a:pos x="connsiteX2" y="connsiteY2"/>
              </a:cxn>
              <a:cxn ang="0">
                <a:pos x="connsiteX3" y="connsiteY3"/>
              </a:cxn>
            </a:cxnLst>
            <a:rect l="l" t="t" r="r" b="b"/>
            <a:pathLst>
              <a:path w="3595845" h="2675631">
                <a:moveTo>
                  <a:pt x="0" y="2675631"/>
                </a:moveTo>
                <a:lnTo>
                  <a:pt x="0" y="0"/>
                </a:lnTo>
                <a:lnTo>
                  <a:pt x="3595845" y="0"/>
                </a:lnTo>
                <a:lnTo>
                  <a:pt x="3595845" y="2675631"/>
                </a:lnTo>
                <a:close/>
              </a:path>
            </a:pathLst>
          </a:custGeom>
          <a:noFill/>
          <a:ln w="19050">
            <a:solidFill>
              <a:schemeClr val="bg1"/>
            </a:solidFill>
          </a:ln>
          <a:effectLst>
            <a:outerShdw blurRad="190500" dist="152400" dir="2700000" algn="tl" rotWithShape="0">
              <a:prstClr val="black">
                <a:alpha val="28000"/>
              </a:prstClr>
            </a:outerShdw>
          </a:effectLst>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5B1678-ACC8-A73D-2AA9-B4D385B54374}"/>
            </a:ext>
          </a:extLst>
        </p:cNvPr>
        <p:cNvGrpSpPr/>
        <p:nvPr/>
      </p:nvGrpSpPr>
      <p:grpSpPr>
        <a:xfrm>
          <a:off x="0" y="0"/>
          <a:ext cx="0" cy="0"/>
          <a:chOff x="0" y="0"/>
          <a:chExt cx="0" cy="0"/>
        </a:xfrm>
      </p:grpSpPr>
      <p:sp>
        <p:nvSpPr>
          <p:cNvPr id="22" name="Rectangle 4">
            <a:extLst>
              <a:ext uri="{FF2B5EF4-FFF2-40B4-BE49-F238E27FC236}">
                <a16:creationId xmlns:a16="http://schemas.microsoft.com/office/drawing/2014/main" id="{8FA968A8-84A7-1F9A-9B75-0105BFB1C644}"/>
              </a:ext>
            </a:extLst>
          </p:cNvPr>
          <p:cNvSpPr txBox="1">
            <a:spLocks noChangeArrowheads="1"/>
          </p:cNvSpPr>
          <p:nvPr/>
        </p:nvSpPr>
        <p:spPr bwMode="auto">
          <a:xfrm>
            <a:off x="8342301" y="166086"/>
            <a:ext cx="3690041" cy="5509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04" tIns="45702" rIns="91404" bIns="45702" numCol="1" anchor="ctr" anchorCtr="0" compatLnSpc="1"/>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lvl="0" fontAlgn="base">
              <a:spcBef>
                <a:spcPct val="0"/>
              </a:spcBef>
              <a:spcAft>
                <a:spcPct val="0"/>
              </a:spcAft>
              <a:defRPr/>
            </a:pPr>
            <a:r>
              <a:rPr lang="zh-CN" altLang="en-US" sz="1800" b="0" dirty="0">
                <a:solidFill>
                  <a:srgbClr val="C00000"/>
                </a:solidFill>
                <a:ea typeface="微软雅黑" panose="020B0503020204020204" pitchFamily="34" charset="-122"/>
              </a:rPr>
              <a:t>内涵解析：西柏坡精神的核心要义</a:t>
            </a:r>
          </a:p>
        </p:txBody>
      </p:sp>
      <p:pic>
        <p:nvPicPr>
          <p:cNvPr id="51" name="图片 50">
            <a:extLst>
              <a:ext uri="{FF2B5EF4-FFF2-40B4-BE49-F238E27FC236}">
                <a16:creationId xmlns:a16="http://schemas.microsoft.com/office/drawing/2014/main" id="{C48BBDD4-3047-CA89-C622-EFD5A5207105}"/>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5545836"/>
            <a:ext cx="12192000" cy="1312164"/>
          </a:xfrm>
          <a:prstGeom prst="rect">
            <a:avLst/>
          </a:prstGeom>
        </p:spPr>
      </p:pic>
      <p:pic>
        <p:nvPicPr>
          <p:cNvPr id="52" name="图片 51">
            <a:extLst>
              <a:ext uri="{FF2B5EF4-FFF2-40B4-BE49-F238E27FC236}">
                <a16:creationId xmlns:a16="http://schemas.microsoft.com/office/drawing/2014/main" id="{4092EE34-057D-ECA7-9E1E-374247516DFF}"/>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flipH="1">
            <a:off x="9982200" y="4154312"/>
            <a:ext cx="2209800" cy="2707228"/>
          </a:xfrm>
          <a:prstGeom prst="rect">
            <a:avLst/>
          </a:prstGeom>
        </p:spPr>
      </p:pic>
      <p:sp>
        <p:nvSpPr>
          <p:cNvPr id="66" name="文本框 65">
            <a:extLst>
              <a:ext uri="{FF2B5EF4-FFF2-40B4-BE49-F238E27FC236}">
                <a16:creationId xmlns:a16="http://schemas.microsoft.com/office/drawing/2014/main" id="{5D99F3A9-B462-4E09-7597-F001B4468C08}"/>
              </a:ext>
            </a:extLst>
          </p:cNvPr>
          <p:cNvSpPr txBox="1"/>
          <p:nvPr/>
        </p:nvSpPr>
        <p:spPr>
          <a:xfrm>
            <a:off x="1461404" y="231054"/>
            <a:ext cx="4143804" cy="523220"/>
          </a:xfrm>
          <a:prstGeom prst="rect">
            <a:avLst/>
          </a:prstGeom>
          <a:noFill/>
        </p:spPr>
        <p:txBody>
          <a:bodyPr wrap="square" rtlCol="0">
            <a:spAutoFit/>
          </a:bodyPr>
          <a:lstStyle/>
          <a:p>
            <a:pPr marL="0" marR="0" lvl="0" indent="0" defTabSz="914400" rtl="0" eaLnBrk="1" fontAlgn="auto" latinLnBrk="0" hangingPunct="1">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rgbClr val="C00000"/>
                </a:solidFill>
                <a:effectLst/>
                <a:uLnTx/>
                <a:uFillTx/>
                <a:latin typeface="+mn-ea"/>
                <a:cs typeface="阿里巴巴普惠体 H" panose="00020600040101010101" pitchFamily="18" charset="-122"/>
              </a:rPr>
              <a:t>精神解读</a:t>
            </a:r>
          </a:p>
        </p:txBody>
      </p:sp>
      <p:sp>
        <p:nvSpPr>
          <p:cNvPr id="38" name="文本框 37">
            <a:extLst>
              <a:ext uri="{FF2B5EF4-FFF2-40B4-BE49-F238E27FC236}">
                <a16:creationId xmlns:a16="http://schemas.microsoft.com/office/drawing/2014/main" id="{2F8195DB-3FCB-B0DF-BD52-5E49B5F1C2A3}"/>
              </a:ext>
            </a:extLst>
          </p:cNvPr>
          <p:cNvSpPr txBox="1"/>
          <p:nvPr/>
        </p:nvSpPr>
        <p:spPr>
          <a:xfrm>
            <a:off x="8201681" y="-1362207"/>
            <a:ext cx="2723823" cy="1107996"/>
          </a:xfrm>
          <a:prstGeom prst="rect">
            <a:avLst/>
          </a:prstGeom>
          <a:noFill/>
        </p:spPr>
        <p:txBody>
          <a:bodyPr wrap="none" rtlCol="0">
            <a:spAutoFit/>
          </a:bodyPr>
          <a:lstStyle>
            <a:defPPr>
              <a:defRPr lang="zh-CN"/>
            </a:defPPr>
            <a:lvl1pPr>
              <a:defRPr sz="8000">
                <a:ln w="12700">
                  <a:gradFill>
                    <a:gsLst>
                      <a:gs pos="0">
                        <a:schemeClr val="bg1"/>
                      </a:gs>
                      <a:gs pos="100000">
                        <a:srgbClr val="F1DAB2">
                          <a:alpha val="0"/>
                        </a:srgbClr>
                      </a:gs>
                    </a:gsLst>
                    <a:lin ang="5400000" scaled="1"/>
                  </a:gradFill>
                </a:ln>
                <a:gradFill flip="none" rotWithShape="1">
                  <a:gsLst>
                    <a:gs pos="0">
                      <a:srgbClr val="A60E0B"/>
                    </a:gs>
                    <a:gs pos="100000">
                      <a:srgbClr val="DD2531"/>
                    </a:gs>
                  </a:gsLst>
                  <a:lin ang="16200000" scaled="1"/>
                </a:gradFill>
                <a:effectLst>
                  <a:outerShdw dist="88900" dir="5400000" algn="t" rotWithShape="0">
                    <a:schemeClr val="tx1">
                      <a:lumMod val="95000"/>
                      <a:lumOff val="5000"/>
                      <a:alpha val="8000"/>
                    </a:schemeClr>
                  </a:outerShdw>
                </a:effectLst>
                <a:latin typeface="演示镇魂行楷" panose="00000500000000000000" pitchFamily="2" charset="-122"/>
                <a:ea typeface="演示镇魂行楷" panose="00000500000000000000" pitchFamily="2" charset="-122"/>
              </a:defRPr>
            </a:lvl1p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6600" b="0" i="0" u="none" strike="noStrike" kern="1200" cap="none" spc="0" normalizeH="0" baseline="0" noProof="0">
                <a:ln w="12700">
                  <a:gradFill>
                    <a:gsLst>
                      <a:gs pos="0">
                        <a:prstClr val="white"/>
                      </a:gs>
                      <a:gs pos="100000">
                        <a:srgbClr val="F1DAB2">
                          <a:alpha val="0"/>
                        </a:srgbClr>
                      </a:gs>
                    </a:gsLst>
                    <a:lin ang="5400000" scaled="1"/>
                  </a:gradFill>
                </a:ln>
                <a:blipFill>
                  <a:blip r:embed="rId4"/>
                  <a:stretch>
                    <a:fillRect/>
                  </a:stretch>
                </a:blipFill>
                <a:effectLst/>
                <a:uLnTx/>
                <a:uFillTx/>
                <a:latin typeface="演示镇魂行楷" panose="00000500000000000000" pitchFamily="2" charset="-122"/>
                <a:ea typeface="演示镇魂行楷" panose="00000500000000000000" pitchFamily="2" charset="-122"/>
                <a:cs typeface="+mn-cs"/>
              </a:rPr>
              <a:t>西柏坡</a:t>
            </a:r>
          </a:p>
        </p:txBody>
      </p:sp>
      <p:sp>
        <p:nvSpPr>
          <p:cNvPr id="39" name="标题 1">
            <a:extLst>
              <a:ext uri="{FF2B5EF4-FFF2-40B4-BE49-F238E27FC236}">
                <a16:creationId xmlns:a16="http://schemas.microsoft.com/office/drawing/2014/main" id="{6BAF5787-F75A-EE58-6082-DD06F9FCF569}"/>
              </a:ext>
            </a:extLst>
          </p:cNvPr>
          <p:cNvSpPr txBox="1"/>
          <p:nvPr/>
        </p:nvSpPr>
        <p:spPr>
          <a:xfrm>
            <a:off x="4945470" y="1789607"/>
            <a:ext cx="4071529" cy="63786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1800" b="1" dirty="0">
                <a:solidFill>
                  <a:schemeClr val="tx1">
                    <a:lumMod val="75000"/>
                    <a:lumOff val="25000"/>
                  </a:schemeClr>
                </a:solidFill>
                <a:latin typeface="+mn-ea"/>
                <a:ea typeface="+mn-ea"/>
              </a:rPr>
              <a:t>敢于斗争、敢于胜利的彻底革命精神</a:t>
            </a:r>
          </a:p>
        </p:txBody>
      </p:sp>
      <p:cxnSp>
        <p:nvCxnSpPr>
          <p:cNvPr id="23" name="直接连接符 22">
            <a:extLst>
              <a:ext uri="{FF2B5EF4-FFF2-40B4-BE49-F238E27FC236}">
                <a16:creationId xmlns:a16="http://schemas.microsoft.com/office/drawing/2014/main" id="{0ECAF04E-C0C3-A1D5-417A-13663A9F0CBF}"/>
              </a:ext>
            </a:extLst>
          </p:cNvPr>
          <p:cNvCxnSpPr/>
          <p:nvPr/>
        </p:nvCxnSpPr>
        <p:spPr>
          <a:xfrm flipH="1">
            <a:off x="7890647" y="441551"/>
            <a:ext cx="622068" cy="0"/>
          </a:xfrm>
          <a:prstGeom prst="line">
            <a:avLst/>
          </a:prstGeom>
          <a:ln>
            <a:solidFill>
              <a:srgbClr val="C00000"/>
            </a:solidFill>
            <a:prstDash val="dash"/>
          </a:ln>
        </p:spPr>
        <p:style>
          <a:lnRef idx="1">
            <a:schemeClr val="accent1"/>
          </a:lnRef>
          <a:fillRef idx="0">
            <a:schemeClr val="accent1"/>
          </a:fillRef>
          <a:effectRef idx="0">
            <a:schemeClr val="accent1"/>
          </a:effectRef>
          <a:fontRef idx="minor">
            <a:schemeClr val="tx1"/>
          </a:fontRef>
        </p:style>
      </p:cxnSp>
      <p:sp>
        <p:nvSpPr>
          <p:cNvPr id="37" name="标题 1">
            <a:extLst>
              <a:ext uri="{FF2B5EF4-FFF2-40B4-BE49-F238E27FC236}">
                <a16:creationId xmlns:a16="http://schemas.microsoft.com/office/drawing/2014/main" id="{12AE6F42-38D4-FFC8-3A01-3DDAE4EA0085}"/>
              </a:ext>
            </a:extLst>
          </p:cNvPr>
          <p:cNvSpPr txBox="1"/>
          <p:nvPr/>
        </p:nvSpPr>
        <p:spPr>
          <a:xfrm>
            <a:off x="4945471" y="2505425"/>
            <a:ext cx="6658304" cy="2104845"/>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1800" dirty="0">
                <a:solidFill>
                  <a:schemeClr val="tx1">
                    <a:lumMod val="75000"/>
                    <a:lumOff val="25000"/>
                  </a:schemeClr>
                </a:solidFill>
                <a:latin typeface="+mn-ea"/>
                <a:ea typeface="+mn-ea"/>
              </a:rPr>
              <a:t>面对强大敌人，以非凡魄力决策并打赢战略决战。刚才讲的故事中很好的体现了中国共产党人在面对困难和挑战时，敢于迎难而上、敢于取得胜利的决心和勇气。</a:t>
            </a:r>
            <a:endParaRPr lang="en-US" altLang="zh-CN" sz="1800" dirty="0">
              <a:solidFill>
                <a:schemeClr val="tx1">
                  <a:lumMod val="75000"/>
                  <a:lumOff val="25000"/>
                </a:schemeClr>
              </a:solidFill>
              <a:latin typeface="+mn-ea"/>
              <a:ea typeface="+mn-ea"/>
            </a:endParaRPr>
          </a:p>
        </p:txBody>
      </p:sp>
      <p:sp>
        <p:nvSpPr>
          <p:cNvPr id="48" name="矩形 47">
            <a:extLst>
              <a:ext uri="{FF2B5EF4-FFF2-40B4-BE49-F238E27FC236}">
                <a16:creationId xmlns:a16="http://schemas.microsoft.com/office/drawing/2014/main" id="{2E24DE7F-6C00-A354-4801-07B75DFA1D18}"/>
              </a:ext>
            </a:extLst>
          </p:cNvPr>
          <p:cNvSpPr/>
          <p:nvPr/>
        </p:nvSpPr>
        <p:spPr>
          <a:xfrm>
            <a:off x="4550189" y="1818679"/>
            <a:ext cx="72000" cy="475184"/>
          </a:xfrm>
          <a:prstGeom prst="rect">
            <a:avLst/>
          </a:prstGeom>
          <a:solidFill>
            <a:srgbClr val="B1050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楷体" panose="02010609060101010101" pitchFamily="49" charset="-122"/>
              <a:ea typeface="楷体" panose="02010609060101010101" pitchFamily="49" charset="-122"/>
              <a:cs typeface="+mn-ea"/>
              <a:sym typeface="+mn-lt"/>
            </a:endParaRPr>
          </a:p>
        </p:txBody>
      </p:sp>
      <p:cxnSp>
        <p:nvCxnSpPr>
          <p:cNvPr id="3" name="直接连接符 2">
            <a:extLst>
              <a:ext uri="{FF2B5EF4-FFF2-40B4-BE49-F238E27FC236}">
                <a16:creationId xmlns:a16="http://schemas.microsoft.com/office/drawing/2014/main" id="{BAFE1D43-CF39-B6D4-EFAC-A02839587DC4}"/>
              </a:ext>
            </a:extLst>
          </p:cNvPr>
          <p:cNvCxnSpPr/>
          <p:nvPr/>
        </p:nvCxnSpPr>
        <p:spPr>
          <a:xfrm flipH="1" flipV="1">
            <a:off x="4586189" y="2216324"/>
            <a:ext cx="0" cy="2788195"/>
          </a:xfrm>
          <a:prstGeom prst="line">
            <a:avLst/>
          </a:prstGeom>
          <a:ln>
            <a:solidFill>
              <a:srgbClr val="B1050A"/>
            </a:solidFill>
          </a:ln>
        </p:spPr>
        <p:style>
          <a:lnRef idx="1">
            <a:schemeClr val="accent1"/>
          </a:lnRef>
          <a:fillRef idx="0">
            <a:schemeClr val="accent1"/>
          </a:fillRef>
          <a:effectRef idx="0">
            <a:schemeClr val="accent1"/>
          </a:effectRef>
          <a:fontRef idx="minor">
            <a:schemeClr val="tx1"/>
          </a:fontRef>
        </p:style>
      </p:cxnSp>
      <p:sp>
        <p:nvSpPr>
          <p:cNvPr id="49" name="标题 1">
            <a:extLst>
              <a:ext uri="{FF2B5EF4-FFF2-40B4-BE49-F238E27FC236}">
                <a16:creationId xmlns:a16="http://schemas.microsoft.com/office/drawing/2014/main" id="{F0568E8C-7BCF-C842-7F51-2AA63EDE5C13}"/>
              </a:ext>
            </a:extLst>
          </p:cNvPr>
          <p:cNvSpPr txBox="1"/>
          <p:nvPr/>
        </p:nvSpPr>
        <p:spPr>
          <a:xfrm>
            <a:off x="4945471" y="3812787"/>
            <a:ext cx="4825056" cy="596470"/>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200000"/>
              </a:lnSpc>
            </a:pPr>
            <a:r>
              <a:rPr lang="zh-CN" altLang="en-US" sz="1800" dirty="0">
                <a:solidFill>
                  <a:srgbClr val="B1050A"/>
                </a:solidFill>
                <a:latin typeface="+mn-ea"/>
                <a:ea typeface="+mn-ea"/>
              </a:rPr>
              <a:t>展现了将革命进行到底的坚定决心和无畏气概。</a:t>
            </a:r>
          </a:p>
        </p:txBody>
      </p:sp>
      <p:cxnSp>
        <p:nvCxnSpPr>
          <p:cNvPr id="50" name="直接连接符 49">
            <a:extLst>
              <a:ext uri="{FF2B5EF4-FFF2-40B4-BE49-F238E27FC236}">
                <a16:creationId xmlns:a16="http://schemas.microsoft.com/office/drawing/2014/main" id="{034E1A91-D8C1-04BA-459C-8B7AD563E8BE}"/>
              </a:ext>
            </a:extLst>
          </p:cNvPr>
          <p:cNvCxnSpPr>
            <a:cxnSpLocks/>
          </p:cNvCxnSpPr>
          <p:nvPr/>
        </p:nvCxnSpPr>
        <p:spPr>
          <a:xfrm>
            <a:off x="5048952" y="4412797"/>
            <a:ext cx="4721581" cy="0"/>
          </a:xfrm>
          <a:prstGeom prst="line">
            <a:avLst/>
          </a:prstGeom>
          <a:ln>
            <a:solidFill>
              <a:srgbClr val="B1050A"/>
            </a:solidFill>
          </a:ln>
        </p:spPr>
        <p:style>
          <a:lnRef idx="1">
            <a:schemeClr val="accent1"/>
          </a:lnRef>
          <a:fillRef idx="0">
            <a:schemeClr val="accent1"/>
          </a:fillRef>
          <a:effectRef idx="0">
            <a:schemeClr val="accent1"/>
          </a:effectRef>
          <a:fontRef idx="minor">
            <a:schemeClr val="tx1"/>
          </a:fontRef>
        </p:style>
      </p:cxnSp>
      <p:pic>
        <p:nvPicPr>
          <p:cNvPr id="40" name="图片 39">
            <a:extLst>
              <a:ext uri="{FF2B5EF4-FFF2-40B4-BE49-F238E27FC236}">
                <a16:creationId xmlns:a16="http://schemas.microsoft.com/office/drawing/2014/main" id="{D1FBF94E-68E4-C30A-7025-4EE8EBE82296}"/>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585901" y="377337"/>
            <a:ext cx="646232" cy="256054"/>
          </a:xfrm>
          <a:prstGeom prst="rect">
            <a:avLst/>
          </a:prstGeom>
        </p:spPr>
      </p:pic>
      <p:pic>
        <p:nvPicPr>
          <p:cNvPr id="17" name="Picture 3">
            <a:extLst>
              <a:ext uri="{FF2B5EF4-FFF2-40B4-BE49-F238E27FC236}">
                <a16:creationId xmlns:a16="http://schemas.microsoft.com/office/drawing/2014/main" id="{2528BC00-99B5-3DC3-C5E2-8A57171FDE7B}"/>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p:blipFill>
        <p:spPr>
          <a:xfrm>
            <a:off x="722483" y="2145799"/>
            <a:ext cx="3554469" cy="2204374"/>
          </a:xfrm>
          <a:custGeom>
            <a:avLst/>
            <a:gdLst>
              <a:gd name="connsiteX0" fmla="*/ 0 w 3595845"/>
              <a:gd name="connsiteY0" fmla="*/ 2675631 h 2675631"/>
              <a:gd name="connsiteX1" fmla="*/ 0 w 3595845"/>
              <a:gd name="connsiteY1" fmla="*/ 0 h 2675631"/>
              <a:gd name="connsiteX2" fmla="*/ 3595845 w 3595845"/>
              <a:gd name="connsiteY2" fmla="*/ 0 h 2675631"/>
              <a:gd name="connsiteX3" fmla="*/ 3595845 w 3595845"/>
              <a:gd name="connsiteY3" fmla="*/ 2675631 h 2675631"/>
            </a:gdLst>
            <a:ahLst/>
            <a:cxnLst>
              <a:cxn ang="0">
                <a:pos x="connsiteX0" y="connsiteY0"/>
              </a:cxn>
              <a:cxn ang="0">
                <a:pos x="connsiteX1" y="connsiteY1"/>
              </a:cxn>
              <a:cxn ang="0">
                <a:pos x="connsiteX2" y="connsiteY2"/>
              </a:cxn>
              <a:cxn ang="0">
                <a:pos x="connsiteX3" y="connsiteY3"/>
              </a:cxn>
            </a:cxnLst>
            <a:rect l="l" t="t" r="r" b="b"/>
            <a:pathLst>
              <a:path w="3595845" h="2675631">
                <a:moveTo>
                  <a:pt x="0" y="2675631"/>
                </a:moveTo>
                <a:lnTo>
                  <a:pt x="0" y="0"/>
                </a:lnTo>
                <a:lnTo>
                  <a:pt x="3595845" y="0"/>
                </a:lnTo>
                <a:lnTo>
                  <a:pt x="3595845" y="2675631"/>
                </a:lnTo>
                <a:close/>
              </a:path>
            </a:pathLst>
          </a:custGeom>
          <a:noFill/>
          <a:ln w="19050">
            <a:solidFill>
              <a:schemeClr val="bg1"/>
            </a:solidFill>
          </a:ln>
          <a:effectLst>
            <a:outerShdw blurRad="190500" dist="152400" dir="2700000" algn="tl" rotWithShape="0">
              <a:prstClr val="black">
                <a:alpha val="28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0182292"/>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1C613A-AB62-FF25-FB5F-CA6BEEDD215E}"/>
            </a:ext>
          </a:extLst>
        </p:cNvPr>
        <p:cNvGrpSpPr/>
        <p:nvPr/>
      </p:nvGrpSpPr>
      <p:grpSpPr>
        <a:xfrm>
          <a:off x="0" y="0"/>
          <a:ext cx="0" cy="0"/>
          <a:chOff x="0" y="0"/>
          <a:chExt cx="0" cy="0"/>
        </a:xfrm>
      </p:grpSpPr>
      <p:sp>
        <p:nvSpPr>
          <p:cNvPr id="22" name="Rectangle 4">
            <a:extLst>
              <a:ext uri="{FF2B5EF4-FFF2-40B4-BE49-F238E27FC236}">
                <a16:creationId xmlns:a16="http://schemas.microsoft.com/office/drawing/2014/main" id="{F309F10A-479C-F93D-67D4-FCAA6F014C44}"/>
              </a:ext>
            </a:extLst>
          </p:cNvPr>
          <p:cNvSpPr txBox="1">
            <a:spLocks noChangeArrowheads="1"/>
          </p:cNvSpPr>
          <p:nvPr/>
        </p:nvSpPr>
        <p:spPr bwMode="auto">
          <a:xfrm>
            <a:off x="8342301" y="166086"/>
            <a:ext cx="3690041" cy="5509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04" tIns="45702" rIns="91404" bIns="45702" numCol="1" anchor="ctr" anchorCtr="0" compatLnSpc="1"/>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lvl="0" fontAlgn="base">
              <a:spcBef>
                <a:spcPct val="0"/>
              </a:spcBef>
              <a:spcAft>
                <a:spcPct val="0"/>
              </a:spcAft>
              <a:defRPr/>
            </a:pPr>
            <a:r>
              <a:rPr lang="zh-CN" altLang="en-US" sz="1800" b="0" dirty="0">
                <a:solidFill>
                  <a:srgbClr val="C00000"/>
                </a:solidFill>
                <a:ea typeface="微软雅黑" panose="020B0503020204020204" pitchFamily="34" charset="-122"/>
              </a:rPr>
              <a:t>内涵解析：西柏坡精神的核心要义</a:t>
            </a:r>
          </a:p>
        </p:txBody>
      </p:sp>
      <p:pic>
        <p:nvPicPr>
          <p:cNvPr id="51" name="图片 50">
            <a:extLst>
              <a:ext uri="{FF2B5EF4-FFF2-40B4-BE49-F238E27FC236}">
                <a16:creationId xmlns:a16="http://schemas.microsoft.com/office/drawing/2014/main" id="{A6B054BB-6FB7-75F2-7519-9AD0294077FF}"/>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5545836"/>
            <a:ext cx="12192000" cy="1312164"/>
          </a:xfrm>
          <a:prstGeom prst="rect">
            <a:avLst/>
          </a:prstGeom>
        </p:spPr>
      </p:pic>
      <p:pic>
        <p:nvPicPr>
          <p:cNvPr id="52" name="图片 51">
            <a:extLst>
              <a:ext uri="{FF2B5EF4-FFF2-40B4-BE49-F238E27FC236}">
                <a16:creationId xmlns:a16="http://schemas.microsoft.com/office/drawing/2014/main" id="{7EA8A16C-4368-083F-4E29-98AAB49B4C28}"/>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flipH="1">
            <a:off x="9982200" y="4154312"/>
            <a:ext cx="2209800" cy="2707228"/>
          </a:xfrm>
          <a:prstGeom prst="rect">
            <a:avLst/>
          </a:prstGeom>
        </p:spPr>
      </p:pic>
      <p:sp>
        <p:nvSpPr>
          <p:cNvPr id="66" name="文本框 65">
            <a:extLst>
              <a:ext uri="{FF2B5EF4-FFF2-40B4-BE49-F238E27FC236}">
                <a16:creationId xmlns:a16="http://schemas.microsoft.com/office/drawing/2014/main" id="{BFA92ACB-689A-2456-6BB4-67C7C9BDE64B}"/>
              </a:ext>
            </a:extLst>
          </p:cNvPr>
          <p:cNvSpPr txBox="1"/>
          <p:nvPr/>
        </p:nvSpPr>
        <p:spPr>
          <a:xfrm>
            <a:off x="1461404" y="231054"/>
            <a:ext cx="4143804" cy="523220"/>
          </a:xfrm>
          <a:prstGeom prst="rect">
            <a:avLst/>
          </a:prstGeom>
          <a:noFill/>
        </p:spPr>
        <p:txBody>
          <a:bodyPr wrap="square" rtlCol="0">
            <a:spAutoFit/>
          </a:bodyPr>
          <a:lstStyle/>
          <a:p>
            <a:pPr marL="0" marR="0" lvl="0" indent="0" defTabSz="914400" rtl="0" eaLnBrk="1" fontAlgn="auto" latinLnBrk="0" hangingPunct="1">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rgbClr val="C00000"/>
                </a:solidFill>
                <a:effectLst/>
                <a:uLnTx/>
                <a:uFillTx/>
                <a:latin typeface="+mn-ea"/>
                <a:cs typeface="阿里巴巴普惠体 H" panose="00020600040101010101" pitchFamily="18" charset="-122"/>
              </a:rPr>
              <a:t>精神解读</a:t>
            </a:r>
          </a:p>
        </p:txBody>
      </p:sp>
      <p:sp>
        <p:nvSpPr>
          <p:cNvPr id="38" name="文本框 37">
            <a:extLst>
              <a:ext uri="{FF2B5EF4-FFF2-40B4-BE49-F238E27FC236}">
                <a16:creationId xmlns:a16="http://schemas.microsoft.com/office/drawing/2014/main" id="{6B45A4C3-4190-A8C8-2DDC-2A62F3E956C2}"/>
              </a:ext>
            </a:extLst>
          </p:cNvPr>
          <p:cNvSpPr txBox="1"/>
          <p:nvPr/>
        </p:nvSpPr>
        <p:spPr>
          <a:xfrm>
            <a:off x="8201681" y="-1362207"/>
            <a:ext cx="2723823" cy="1107996"/>
          </a:xfrm>
          <a:prstGeom prst="rect">
            <a:avLst/>
          </a:prstGeom>
          <a:noFill/>
        </p:spPr>
        <p:txBody>
          <a:bodyPr wrap="none" rtlCol="0">
            <a:spAutoFit/>
          </a:bodyPr>
          <a:lstStyle>
            <a:defPPr>
              <a:defRPr lang="zh-CN"/>
            </a:defPPr>
            <a:lvl1pPr>
              <a:defRPr sz="8000">
                <a:ln w="12700">
                  <a:gradFill>
                    <a:gsLst>
                      <a:gs pos="0">
                        <a:schemeClr val="bg1"/>
                      </a:gs>
                      <a:gs pos="100000">
                        <a:srgbClr val="F1DAB2">
                          <a:alpha val="0"/>
                        </a:srgbClr>
                      </a:gs>
                    </a:gsLst>
                    <a:lin ang="5400000" scaled="1"/>
                  </a:gradFill>
                </a:ln>
                <a:gradFill flip="none" rotWithShape="1">
                  <a:gsLst>
                    <a:gs pos="0">
                      <a:srgbClr val="A60E0B"/>
                    </a:gs>
                    <a:gs pos="100000">
                      <a:srgbClr val="DD2531"/>
                    </a:gs>
                  </a:gsLst>
                  <a:lin ang="16200000" scaled="1"/>
                </a:gradFill>
                <a:effectLst>
                  <a:outerShdw dist="88900" dir="5400000" algn="t" rotWithShape="0">
                    <a:schemeClr val="tx1">
                      <a:lumMod val="95000"/>
                      <a:lumOff val="5000"/>
                      <a:alpha val="8000"/>
                    </a:schemeClr>
                  </a:outerShdw>
                </a:effectLst>
                <a:latin typeface="演示镇魂行楷" panose="00000500000000000000" pitchFamily="2" charset="-122"/>
                <a:ea typeface="演示镇魂行楷" panose="00000500000000000000" pitchFamily="2" charset="-122"/>
              </a:defRPr>
            </a:lvl1p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6600" b="0" i="0" u="none" strike="noStrike" kern="1200" cap="none" spc="0" normalizeH="0" baseline="0" noProof="0">
                <a:ln w="12700">
                  <a:gradFill>
                    <a:gsLst>
                      <a:gs pos="0">
                        <a:prstClr val="white"/>
                      </a:gs>
                      <a:gs pos="100000">
                        <a:srgbClr val="F1DAB2">
                          <a:alpha val="0"/>
                        </a:srgbClr>
                      </a:gs>
                    </a:gsLst>
                    <a:lin ang="5400000" scaled="1"/>
                  </a:gradFill>
                </a:ln>
                <a:blipFill>
                  <a:blip r:embed="rId4"/>
                  <a:stretch>
                    <a:fillRect/>
                  </a:stretch>
                </a:blipFill>
                <a:effectLst/>
                <a:uLnTx/>
                <a:uFillTx/>
                <a:latin typeface="演示镇魂行楷" panose="00000500000000000000" pitchFamily="2" charset="-122"/>
                <a:ea typeface="演示镇魂行楷" panose="00000500000000000000" pitchFamily="2" charset="-122"/>
                <a:cs typeface="+mn-cs"/>
              </a:rPr>
              <a:t>西柏坡</a:t>
            </a:r>
          </a:p>
        </p:txBody>
      </p:sp>
      <p:sp>
        <p:nvSpPr>
          <p:cNvPr id="39" name="标题 1">
            <a:extLst>
              <a:ext uri="{FF2B5EF4-FFF2-40B4-BE49-F238E27FC236}">
                <a16:creationId xmlns:a16="http://schemas.microsoft.com/office/drawing/2014/main" id="{82EF3177-B887-E73B-A91D-AECC73E922A8}"/>
              </a:ext>
            </a:extLst>
          </p:cNvPr>
          <p:cNvSpPr txBox="1"/>
          <p:nvPr/>
        </p:nvSpPr>
        <p:spPr>
          <a:xfrm>
            <a:off x="4945471" y="1789607"/>
            <a:ext cx="3396830" cy="63786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1800" b="1" dirty="0">
                <a:solidFill>
                  <a:schemeClr val="tx1">
                    <a:lumMod val="75000"/>
                    <a:lumOff val="25000"/>
                  </a:schemeClr>
                </a:solidFill>
                <a:latin typeface="+mn-ea"/>
                <a:ea typeface="+mn-ea"/>
              </a:rPr>
              <a:t>依靠群众、团结统一的民主精神</a:t>
            </a:r>
          </a:p>
        </p:txBody>
      </p:sp>
      <p:cxnSp>
        <p:nvCxnSpPr>
          <p:cNvPr id="23" name="直接连接符 22">
            <a:extLst>
              <a:ext uri="{FF2B5EF4-FFF2-40B4-BE49-F238E27FC236}">
                <a16:creationId xmlns:a16="http://schemas.microsoft.com/office/drawing/2014/main" id="{2DA0A0B4-8241-ED1A-F57D-F5D7D94B1C61}"/>
              </a:ext>
            </a:extLst>
          </p:cNvPr>
          <p:cNvCxnSpPr/>
          <p:nvPr/>
        </p:nvCxnSpPr>
        <p:spPr>
          <a:xfrm flipH="1">
            <a:off x="7890647" y="441551"/>
            <a:ext cx="622068" cy="0"/>
          </a:xfrm>
          <a:prstGeom prst="line">
            <a:avLst/>
          </a:prstGeom>
          <a:ln>
            <a:solidFill>
              <a:srgbClr val="C00000"/>
            </a:solidFill>
            <a:prstDash val="dash"/>
          </a:ln>
        </p:spPr>
        <p:style>
          <a:lnRef idx="1">
            <a:schemeClr val="accent1"/>
          </a:lnRef>
          <a:fillRef idx="0">
            <a:schemeClr val="accent1"/>
          </a:fillRef>
          <a:effectRef idx="0">
            <a:schemeClr val="accent1"/>
          </a:effectRef>
          <a:fontRef idx="minor">
            <a:schemeClr val="tx1"/>
          </a:fontRef>
        </p:style>
      </p:cxnSp>
      <p:sp>
        <p:nvSpPr>
          <p:cNvPr id="37" name="标题 1">
            <a:extLst>
              <a:ext uri="{FF2B5EF4-FFF2-40B4-BE49-F238E27FC236}">
                <a16:creationId xmlns:a16="http://schemas.microsoft.com/office/drawing/2014/main" id="{FF2523BF-5EE6-22A8-297A-4D8143FEBE43}"/>
              </a:ext>
            </a:extLst>
          </p:cNvPr>
          <p:cNvSpPr txBox="1"/>
          <p:nvPr/>
        </p:nvSpPr>
        <p:spPr>
          <a:xfrm>
            <a:off x="4945471" y="2505425"/>
            <a:ext cx="6658304" cy="2104845"/>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1800" dirty="0">
                <a:solidFill>
                  <a:schemeClr val="tx1">
                    <a:lumMod val="75000"/>
                    <a:lumOff val="25000"/>
                  </a:schemeClr>
                </a:solidFill>
                <a:latin typeface="+mn-ea"/>
                <a:ea typeface="+mn-ea"/>
              </a:rPr>
              <a:t>坚持群众路线，建立革命统一战线，强调一切为了人民、一切依靠人民。其中周恩来雨夜救村民的故事是很好的体现：</a:t>
            </a:r>
            <a:endParaRPr lang="en-US" altLang="zh-CN" sz="1800" dirty="0">
              <a:solidFill>
                <a:schemeClr val="tx1">
                  <a:lumMod val="75000"/>
                  <a:lumOff val="25000"/>
                </a:schemeClr>
              </a:solidFill>
              <a:latin typeface="+mn-ea"/>
              <a:ea typeface="+mn-ea"/>
            </a:endParaRPr>
          </a:p>
          <a:p>
            <a:pPr>
              <a:lnSpc>
                <a:spcPct val="150000"/>
              </a:lnSpc>
            </a:pPr>
            <a:r>
              <a:rPr lang="zh-CN" altLang="en-US" sz="1800" dirty="0">
                <a:solidFill>
                  <a:schemeClr val="tx1">
                    <a:lumMod val="75000"/>
                    <a:lumOff val="25000"/>
                  </a:schemeClr>
                </a:solidFill>
                <a:latin typeface="+mn-ea"/>
                <a:ea typeface="+mn-ea"/>
              </a:rPr>
              <a:t>一天深夜，暴雨倾盆。周恩来工作时听到外面有哭声。他立刻冒雨出门查看，发现是一位村民的房子因大雨快要倒塌了。周恩来没有丝毫犹豫，马上指挥警卫班的战士帮助村民转移人员和财产。事后，他又专门派人帮助村民重修了房屋。</a:t>
            </a:r>
            <a:endParaRPr lang="en-US" altLang="zh-CN" sz="1800" dirty="0">
              <a:solidFill>
                <a:schemeClr val="tx1">
                  <a:lumMod val="75000"/>
                  <a:lumOff val="25000"/>
                </a:schemeClr>
              </a:solidFill>
              <a:latin typeface="+mn-ea"/>
              <a:ea typeface="+mn-ea"/>
            </a:endParaRPr>
          </a:p>
          <a:p>
            <a:pPr>
              <a:lnSpc>
                <a:spcPct val="150000"/>
              </a:lnSpc>
            </a:pPr>
            <a:endParaRPr lang="en-US" altLang="zh-CN" sz="1800" dirty="0">
              <a:solidFill>
                <a:schemeClr val="tx1">
                  <a:lumMod val="75000"/>
                  <a:lumOff val="25000"/>
                </a:schemeClr>
              </a:solidFill>
              <a:latin typeface="+mn-ea"/>
              <a:ea typeface="+mn-ea"/>
            </a:endParaRPr>
          </a:p>
        </p:txBody>
      </p:sp>
      <p:sp>
        <p:nvSpPr>
          <p:cNvPr id="48" name="矩形 47">
            <a:extLst>
              <a:ext uri="{FF2B5EF4-FFF2-40B4-BE49-F238E27FC236}">
                <a16:creationId xmlns:a16="http://schemas.microsoft.com/office/drawing/2014/main" id="{C12438D7-C220-8578-8E88-69A5482EC3CA}"/>
              </a:ext>
            </a:extLst>
          </p:cNvPr>
          <p:cNvSpPr/>
          <p:nvPr/>
        </p:nvSpPr>
        <p:spPr>
          <a:xfrm>
            <a:off x="4550189" y="1818679"/>
            <a:ext cx="72000" cy="475184"/>
          </a:xfrm>
          <a:prstGeom prst="rect">
            <a:avLst/>
          </a:prstGeom>
          <a:solidFill>
            <a:srgbClr val="B1050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楷体" panose="02010609060101010101" pitchFamily="49" charset="-122"/>
              <a:ea typeface="楷体" panose="02010609060101010101" pitchFamily="49" charset="-122"/>
              <a:cs typeface="+mn-ea"/>
              <a:sym typeface="+mn-lt"/>
            </a:endParaRPr>
          </a:p>
        </p:txBody>
      </p:sp>
      <p:cxnSp>
        <p:nvCxnSpPr>
          <p:cNvPr id="3" name="直接连接符 2">
            <a:extLst>
              <a:ext uri="{FF2B5EF4-FFF2-40B4-BE49-F238E27FC236}">
                <a16:creationId xmlns:a16="http://schemas.microsoft.com/office/drawing/2014/main" id="{B649FF2D-DFC5-930C-EDF9-9C17E3D29A23}"/>
              </a:ext>
            </a:extLst>
          </p:cNvPr>
          <p:cNvCxnSpPr/>
          <p:nvPr/>
        </p:nvCxnSpPr>
        <p:spPr>
          <a:xfrm flipH="1" flipV="1">
            <a:off x="4586189" y="2216324"/>
            <a:ext cx="0" cy="2788195"/>
          </a:xfrm>
          <a:prstGeom prst="line">
            <a:avLst/>
          </a:prstGeom>
          <a:ln>
            <a:solidFill>
              <a:srgbClr val="B1050A"/>
            </a:solidFill>
          </a:ln>
        </p:spPr>
        <p:style>
          <a:lnRef idx="1">
            <a:schemeClr val="accent1"/>
          </a:lnRef>
          <a:fillRef idx="0">
            <a:schemeClr val="accent1"/>
          </a:fillRef>
          <a:effectRef idx="0">
            <a:schemeClr val="accent1"/>
          </a:effectRef>
          <a:fontRef idx="minor">
            <a:schemeClr val="tx1"/>
          </a:fontRef>
        </p:style>
      </p:cxnSp>
      <p:pic>
        <p:nvPicPr>
          <p:cNvPr id="40" name="图片 39">
            <a:extLst>
              <a:ext uri="{FF2B5EF4-FFF2-40B4-BE49-F238E27FC236}">
                <a16:creationId xmlns:a16="http://schemas.microsoft.com/office/drawing/2014/main" id="{9E0A3232-C8B9-7570-2678-AFD92F8464BA}"/>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585901" y="377337"/>
            <a:ext cx="646232" cy="256054"/>
          </a:xfrm>
          <a:prstGeom prst="rect">
            <a:avLst/>
          </a:prstGeom>
        </p:spPr>
      </p:pic>
      <p:pic>
        <p:nvPicPr>
          <p:cNvPr id="17" name="Picture 3">
            <a:extLst>
              <a:ext uri="{FF2B5EF4-FFF2-40B4-BE49-F238E27FC236}">
                <a16:creationId xmlns:a16="http://schemas.microsoft.com/office/drawing/2014/main" id="{DFE07975-17C5-C364-4EB2-10E3472BCF9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p:blipFill>
        <p:spPr>
          <a:xfrm>
            <a:off x="909017" y="2026012"/>
            <a:ext cx="3367935" cy="2559630"/>
          </a:xfrm>
          <a:custGeom>
            <a:avLst/>
            <a:gdLst>
              <a:gd name="connsiteX0" fmla="*/ 0 w 3595845"/>
              <a:gd name="connsiteY0" fmla="*/ 2675631 h 2675631"/>
              <a:gd name="connsiteX1" fmla="*/ 0 w 3595845"/>
              <a:gd name="connsiteY1" fmla="*/ 0 h 2675631"/>
              <a:gd name="connsiteX2" fmla="*/ 3595845 w 3595845"/>
              <a:gd name="connsiteY2" fmla="*/ 0 h 2675631"/>
              <a:gd name="connsiteX3" fmla="*/ 3595845 w 3595845"/>
              <a:gd name="connsiteY3" fmla="*/ 2675631 h 2675631"/>
            </a:gdLst>
            <a:ahLst/>
            <a:cxnLst>
              <a:cxn ang="0">
                <a:pos x="connsiteX0" y="connsiteY0"/>
              </a:cxn>
              <a:cxn ang="0">
                <a:pos x="connsiteX1" y="connsiteY1"/>
              </a:cxn>
              <a:cxn ang="0">
                <a:pos x="connsiteX2" y="connsiteY2"/>
              </a:cxn>
              <a:cxn ang="0">
                <a:pos x="connsiteX3" y="connsiteY3"/>
              </a:cxn>
            </a:cxnLst>
            <a:rect l="l" t="t" r="r" b="b"/>
            <a:pathLst>
              <a:path w="3595845" h="2675631">
                <a:moveTo>
                  <a:pt x="0" y="2675631"/>
                </a:moveTo>
                <a:lnTo>
                  <a:pt x="0" y="0"/>
                </a:lnTo>
                <a:lnTo>
                  <a:pt x="3595845" y="0"/>
                </a:lnTo>
                <a:lnTo>
                  <a:pt x="3595845" y="2675631"/>
                </a:lnTo>
                <a:close/>
              </a:path>
            </a:pathLst>
          </a:custGeom>
          <a:noFill/>
          <a:ln w="19050">
            <a:solidFill>
              <a:schemeClr val="bg1"/>
            </a:solidFill>
          </a:ln>
          <a:effectLst>
            <a:outerShdw blurRad="190500" dist="152400" dir="2700000" algn="tl" rotWithShape="0">
              <a:prstClr val="black">
                <a:alpha val="28000"/>
              </a:prstClr>
            </a:outerShdw>
          </a:effectLst>
          <a:extLst>
            <a:ext uri="{909E8E84-426E-40DD-AFC4-6F175D3DCCD1}">
              <a14:hiddenFill xmlns:a14="http://schemas.microsoft.com/office/drawing/2010/main">
                <a:solidFill>
                  <a:srgbClr val="FFFFFF"/>
                </a:solidFill>
              </a14:hiddenFill>
            </a:ext>
          </a:extLst>
        </p:spPr>
      </p:pic>
      <p:sp>
        <p:nvSpPr>
          <p:cNvPr id="2" name="标题 1">
            <a:extLst>
              <a:ext uri="{FF2B5EF4-FFF2-40B4-BE49-F238E27FC236}">
                <a16:creationId xmlns:a16="http://schemas.microsoft.com/office/drawing/2014/main" id="{0BECAB03-87FF-C9CE-17E7-B5C15C5537DC}"/>
              </a:ext>
            </a:extLst>
          </p:cNvPr>
          <p:cNvSpPr txBox="1"/>
          <p:nvPr/>
        </p:nvSpPr>
        <p:spPr>
          <a:xfrm>
            <a:off x="4945471" y="5055762"/>
            <a:ext cx="4825056" cy="596470"/>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200000"/>
              </a:lnSpc>
            </a:pPr>
            <a:r>
              <a:rPr lang="zh-CN" altLang="en-US" sz="1800" dirty="0">
                <a:solidFill>
                  <a:srgbClr val="B1050A"/>
                </a:solidFill>
                <a:latin typeface="+mn-ea"/>
                <a:ea typeface="+mn-ea"/>
              </a:rPr>
              <a:t>力量源于人民，智慧来自人民，胜利属于人民</a:t>
            </a:r>
          </a:p>
        </p:txBody>
      </p:sp>
      <p:cxnSp>
        <p:nvCxnSpPr>
          <p:cNvPr id="4" name="直接连接符 3">
            <a:extLst>
              <a:ext uri="{FF2B5EF4-FFF2-40B4-BE49-F238E27FC236}">
                <a16:creationId xmlns:a16="http://schemas.microsoft.com/office/drawing/2014/main" id="{A33EBB35-0D04-DD85-9F48-2958DDC7D79F}"/>
              </a:ext>
            </a:extLst>
          </p:cNvPr>
          <p:cNvCxnSpPr>
            <a:cxnSpLocks/>
          </p:cNvCxnSpPr>
          <p:nvPr/>
        </p:nvCxnSpPr>
        <p:spPr>
          <a:xfrm>
            <a:off x="5048952" y="5655772"/>
            <a:ext cx="4721581" cy="0"/>
          </a:xfrm>
          <a:prstGeom prst="line">
            <a:avLst/>
          </a:prstGeom>
          <a:ln>
            <a:solidFill>
              <a:srgbClr val="B1050A"/>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52312164"/>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descr="图片包含 游戏机, 花, 雏菊, 灯光&#10;&#10;描述已自动生成">
            <a:extLst>
              <a:ext uri="{FF2B5EF4-FFF2-40B4-BE49-F238E27FC236}">
                <a16:creationId xmlns:a16="http://schemas.microsoft.com/office/drawing/2014/main" id="{15AC1339-C91C-B7DD-4CED-70F5567C15D2}"/>
              </a:ext>
            </a:extLst>
          </p:cNvPr>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a:xfrm rot="10800000" flipV="1">
            <a:off x="-16879" y="0"/>
            <a:ext cx="5380318" cy="7134776"/>
          </a:xfrm>
          <a:prstGeom prst="rect">
            <a:avLst/>
          </a:prstGeom>
        </p:spPr>
      </p:pic>
      <p:sp>
        <p:nvSpPr>
          <p:cNvPr id="22" name="Rectangle 4"/>
          <p:cNvSpPr txBox="1">
            <a:spLocks noChangeArrowheads="1"/>
          </p:cNvSpPr>
          <p:nvPr/>
        </p:nvSpPr>
        <p:spPr bwMode="auto">
          <a:xfrm>
            <a:off x="8342301" y="166086"/>
            <a:ext cx="3690041" cy="5509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04" tIns="45702" rIns="91404" bIns="45702" numCol="1" anchor="ctr" anchorCtr="0" compatLnSpc="1"/>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rgbClr val="C00000"/>
                </a:solidFill>
                <a:effectLst/>
                <a:uLnTx/>
                <a:uFillTx/>
                <a:ea typeface="微软雅黑" panose="020B0503020204020204" pitchFamily="34" charset="-122"/>
                <a:cs typeface="+mj-cs"/>
              </a:rPr>
              <a:t>当代价值：永不过时的精神财富</a:t>
            </a:r>
          </a:p>
        </p:txBody>
      </p:sp>
      <p:cxnSp>
        <p:nvCxnSpPr>
          <p:cNvPr id="23" name="直接连接符 22"/>
          <p:cNvCxnSpPr/>
          <p:nvPr/>
        </p:nvCxnSpPr>
        <p:spPr>
          <a:xfrm flipH="1">
            <a:off x="7890647" y="441551"/>
            <a:ext cx="622068" cy="0"/>
          </a:xfrm>
          <a:prstGeom prst="line">
            <a:avLst/>
          </a:prstGeom>
          <a:ln>
            <a:solidFill>
              <a:srgbClr val="C00000"/>
            </a:solidFill>
            <a:prstDash val="dash"/>
          </a:ln>
        </p:spPr>
        <p:style>
          <a:lnRef idx="1">
            <a:schemeClr val="accent1"/>
          </a:lnRef>
          <a:fillRef idx="0">
            <a:schemeClr val="accent1"/>
          </a:fillRef>
          <a:effectRef idx="0">
            <a:schemeClr val="accent1"/>
          </a:effectRef>
          <a:fontRef idx="minor">
            <a:schemeClr val="tx1"/>
          </a:fontRef>
        </p:style>
      </p:cxnSp>
      <p:pic>
        <p:nvPicPr>
          <p:cNvPr id="53" name="图片 52" descr="图片包含 游戏机, 花, 雏菊, 灯光&#10;&#10;描述已自动生成"/>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flipV="1">
            <a:off x="10023968" y="3982997"/>
            <a:ext cx="2168032" cy="2875000"/>
          </a:xfrm>
          <a:prstGeom prst="rect">
            <a:avLst/>
          </a:prstGeom>
        </p:spPr>
      </p:pic>
      <p:sp>
        <p:nvSpPr>
          <p:cNvPr id="9" name="文本框 8"/>
          <p:cNvSpPr txBox="1"/>
          <p:nvPr/>
        </p:nvSpPr>
        <p:spPr>
          <a:xfrm>
            <a:off x="6039195" y="1919501"/>
            <a:ext cx="2483695" cy="1446550"/>
          </a:xfrm>
          <a:prstGeom prst="rect">
            <a:avLst/>
          </a:prstGeom>
          <a:noFill/>
        </p:spPr>
        <p:txBody>
          <a:bodyPr wrap="square" rtlCol="0">
            <a:sp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altLang="zh-CN" sz="8800" b="1" i="0" u="none" strike="noStrike" kern="1200" cap="none" spc="0" normalizeH="0" baseline="0" noProof="0">
                <a:ln w="25400">
                  <a:gradFill>
                    <a:gsLst>
                      <a:gs pos="0">
                        <a:srgbClr val="B1050A">
                          <a:alpha val="88000"/>
                        </a:srgbClr>
                      </a:gs>
                      <a:gs pos="70000">
                        <a:srgbClr val="B1050A">
                          <a:alpha val="0"/>
                        </a:srgbClr>
                      </a:gs>
                    </a:gsLst>
                    <a:lin ang="5400000" scaled="1"/>
                  </a:gradFill>
                </a:ln>
                <a:noFill/>
                <a:effectLst/>
                <a:uLnTx/>
                <a:uFillTx/>
                <a:latin typeface="站酷小薇LOGO体" panose="02010600010101010101" pitchFamily="2" charset="-122"/>
                <a:ea typeface="站酷小薇LOGO体" panose="02010600010101010101" pitchFamily="2" charset="-122"/>
                <a:cs typeface="+mn-cs"/>
              </a:rPr>
              <a:t>03</a:t>
            </a:r>
            <a:endParaRPr kumimoji="0" lang="zh-CN" altLang="en-US" sz="8800" b="1" i="0" u="none" strike="noStrike" kern="1200" cap="none" spc="0" normalizeH="0" baseline="0" noProof="0">
              <a:ln w="25400">
                <a:gradFill>
                  <a:gsLst>
                    <a:gs pos="0">
                      <a:srgbClr val="B1050A">
                        <a:alpha val="88000"/>
                      </a:srgbClr>
                    </a:gs>
                    <a:gs pos="70000">
                      <a:srgbClr val="B1050A">
                        <a:alpha val="0"/>
                      </a:srgbClr>
                    </a:gs>
                  </a:gsLst>
                  <a:lin ang="5400000" scaled="1"/>
                </a:gradFill>
              </a:ln>
              <a:noFill/>
              <a:effectLst/>
              <a:uLnTx/>
              <a:uFillTx/>
              <a:latin typeface="站酷小薇LOGO体" panose="02010600010101010101" pitchFamily="2" charset="-122"/>
              <a:ea typeface="站酷小薇LOGO体" panose="02010600010101010101" pitchFamily="2" charset="-122"/>
              <a:cs typeface="+mn-cs"/>
            </a:endParaRPr>
          </a:p>
        </p:txBody>
      </p:sp>
      <p:pic>
        <p:nvPicPr>
          <p:cNvPr id="2" name="图片 1">
            <a:extLst>
              <a:ext uri="{FF2B5EF4-FFF2-40B4-BE49-F238E27FC236}">
                <a16:creationId xmlns:a16="http://schemas.microsoft.com/office/drawing/2014/main" id="{457FE563-3CA5-14FF-497E-73181DF1B3EC}"/>
              </a:ext>
            </a:extLst>
          </p:cNvPr>
          <p:cNvPicPr>
            <a:picLocks noChangeAspect="1"/>
          </p:cNvPicPr>
          <p:nvPr/>
        </p:nvPicPr>
        <p:blipFill>
          <a:blip r:embed="rId4" cstate="email">
            <a:extLst>
              <a:ext uri="{28A0092B-C50C-407E-A947-70E740481C1C}">
                <a14:useLocalDpi xmlns:a14="http://schemas.microsoft.com/office/drawing/2010/main"/>
              </a:ext>
            </a:extLst>
          </a:blip>
          <a:srcRect/>
          <a:stretch>
            <a:fillRect/>
          </a:stretch>
        </p:blipFill>
        <p:spPr>
          <a:xfrm flipH="1">
            <a:off x="-2" y="-1340145"/>
            <a:ext cx="4460490" cy="8198143"/>
          </a:xfrm>
          <a:prstGeom prst="rect">
            <a:avLst/>
          </a:prstGeom>
        </p:spPr>
      </p:pic>
      <p:pic>
        <p:nvPicPr>
          <p:cNvPr id="5" name="图片 4">
            <a:extLst>
              <a:ext uri="{FF2B5EF4-FFF2-40B4-BE49-F238E27FC236}">
                <a16:creationId xmlns:a16="http://schemas.microsoft.com/office/drawing/2014/main" id="{3F6CC315-9A2F-F0F7-48B8-771DA24FBB2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547532" y="2999426"/>
            <a:ext cx="7984067" cy="985047"/>
          </a:xfrm>
          <a:prstGeom prst="rect">
            <a:avLst/>
          </a:prstGeom>
        </p:spPr>
      </p:pic>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B77C9-E9A9-5D99-573C-2B047D13EB2B}"/>
            </a:ext>
          </a:extLst>
        </p:cNvPr>
        <p:cNvGrpSpPr/>
        <p:nvPr/>
      </p:nvGrpSpPr>
      <p:grpSpPr>
        <a:xfrm>
          <a:off x="0" y="0"/>
          <a:ext cx="0" cy="0"/>
          <a:chOff x="0" y="0"/>
          <a:chExt cx="0" cy="0"/>
        </a:xfrm>
      </p:grpSpPr>
      <p:sp>
        <p:nvSpPr>
          <p:cNvPr id="22" name="Rectangle 4">
            <a:extLst>
              <a:ext uri="{FF2B5EF4-FFF2-40B4-BE49-F238E27FC236}">
                <a16:creationId xmlns:a16="http://schemas.microsoft.com/office/drawing/2014/main" id="{2B979A4A-A0DD-EA00-45E9-84664D3B05D2}"/>
              </a:ext>
            </a:extLst>
          </p:cNvPr>
          <p:cNvSpPr txBox="1">
            <a:spLocks noChangeArrowheads="1"/>
          </p:cNvSpPr>
          <p:nvPr/>
        </p:nvSpPr>
        <p:spPr bwMode="auto">
          <a:xfrm>
            <a:off x="8342301" y="166086"/>
            <a:ext cx="3690041" cy="5509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04" tIns="45702" rIns="91404" bIns="45702" numCol="1" anchor="ctr" anchorCtr="0" compatLnSpc="1"/>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rgbClr val="C00000"/>
                </a:solidFill>
                <a:effectLst/>
                <a:uLnTx/>
                <a:uFillTx/>
                <a:ea typeface="微软雅黑" panose="020B0503020204020204" pitchFamily="34" charset="-122"/>
                <a:cs typeface="+mj-cs"/>
              </a:rPr>
              <a:t>当代价值：永不过时的精神财富</a:t>
            </a:r>
          </a:p>
        </p:txBody>
      </p:sp>
      <p:pic>
        <p:nvPicPr>
          <p:cNvPr id="51" name="图片 50">
            <a:extLst>
              <a:ext uri="{FF2B5EF4-FFF2-40B4-BE49-F238E27FC236}">
                <a16:creationId xmlns:a16="http://schemas.microsoft.com/office/drawing/2014/main" id="{5CE13791-14AC-A557-37CE-8D569539087B}"/>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5545836"/>
            <a:ext cx="12192000" cy="1312164"/>
          </a:xfrm>
          <a:prstGeom prst="rect">
            <a:avLst/>
          </a:prstGeom>
        </p:spPr>
      </p:pic>
      <p:pic>
        <p:nvPicPr>
          <p:cNvPr id="52" name="图片 51">
            <a:extLst>
              <a:ext uri="{FF2B5EF4-FFF2-40B4-BE49-F238E27FC236}">
                <a16:creationId xmlns:a16="http://schemas.microsoft.com/office/drawing/2014/main" id="{F595B8B1-66AB-707B-264F-7C302F59FD0F}"/>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flipH="1">
            <a:off x="9982200" y="4154312"/>
            <a:ext cx="2209800" cy="2707228"/>
          </a:xfrm>
          <a:prstGeom prst="rect">
            <a:avLst/>
          </a:prstGeom>
        </p:spPr>
      </p:pic>
      <p:sp>
        <p:nvSpPr>
          <p:cNvPr id="66" name="文本框 65">
            <a:extLst>
              <a:ext uri="{FF2B5EF4-FFF2-40B4-BE49-F238E27FC236}">
                <a16:creationId xmlns:a16="http://schemas.microsoft.com/office/drawing/2014/main" id="{202C8D89-12BB-8825-A5B7-85F82B1203B9}"/>
              </a:ext>
            </a:extLst>
          </p:cNvPr>
          <p:cNvSpPr txBox="1"/>
          <p:nvPr/>
        </p:nvSpPr>
        <p:spPr>
          <a:xfrm>
            <a:off x="1461404" y="231054"/>
            <a:ext cx="4143804" cy="523220"/>
          </a:xfrm>
          <a:prstGeom prst="rect">
            <a:avLst/>
          </a:prstGeom>
          <a:noFill/>
        </p:spPr>
        <p:txBody>
          <a:bodyPr wrap="square" rtlCol="0">
            <a:spAutoFit/>
          </a:bodyPr>
          <a:lstStyle/>
          <a:p>
            <a:pPr marL="0" marR="0" lvl="0" indent="0" defTabSz="914400" rtl="0" eaLnBrk="1" fontAlgn="auto" latinLnBrk="0" hangingPunct="1">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rgbClr val="C00000"/>
                </a:solidFill>
                <a:effectLst/>
                <a:uLnTx/>
                <a:uFillTx/>
                <a:latin typeface="+mn-ea"/>
                <a:cs typeface="阿里巴巴普惠体 H" panose="00020600040101010101" pitchFamily="18" charset="-122"/>
              </a:rPr>
              <a:t>精神财富</a:t>
            </a:r>
          </a:p>
        </p:txBody>
      </p:sp>
      <p:sp>
        <p:nvSpPr>
          <p:cNvPr id="38" name="文本框 37">
            <a:extLst>
              <a:ext uri="{FF2B5EF4-FFF2-40B4-BE49-F238E27FC236}">
                <a16:creationId xmlns:a16="http://schemas.microsoft.com/office/drawing/2014/main" id="{AD935287-4FDE-8981-A759-D65BFEEF7279}"/>
              </a:ext>
            </a:extLst>
          </p:cNvPr>
          <p:cNvSpPr txBox="1"/>
          <p:nvPr/>
        </p:nvSpPr>
        <p:spPr>
          <a:xfrm>
            <a:off x="8201681" y="-1362207"/>
            <a:ext cx="2723823" cy="1107996"/>
          </a:xfrm>
          <a:prstGeom prst="rect">
            <a:avLst/>
          </a:prstGeom>
          <a:noFill/>
        </p:spPr>
        <p:txBody>
          <a:bodyPr wrap="none" rtlCol="0">
            <a:spAutoFit/>
          </a:bodyPr>
          <a:lstStyle>
            <a:defPPr>
              <a:defRPr lang="zh-CN"/>
            </a:defPPr>
            <a:lvl1pPr>
              <a:defRPr sz="8000">
                <a:ln w="12700">
                  <a:gradFill>
                    <a:gsLst>
                      <a:gs pos="0">
                        <a:schemeClr val="bg1"/>
                      </a:gs>
                      <a:gs pos="100000">
                        <a:srgbClr val="F1DAB2">
                          <a:alpha val="0"/>
                        </a:srgbClr>
                      </a:gs>
                    </a:gsLst>
                    <a:lin ang="5400000" scaled="1"/>
                  </a:gradFill>
                </a:ln>
                <a:gradFill flip="none" rotWithShape="1">
                  <a:gsLst>
                    <a:gs pos="0">
                      <a:srgbClr val="A60E0B"/>
                    </a:gs>
                    <a:gs pos="100000">
                      <a:srgbClr val="DD2531"/>
                    </a:gs>
                  </a:gsLst>
                  <a:lin ang="16200000" scaled="1"/>
                </a:gradFill>
                <a:effectLst>
                  <a:outerShdw dist="88900" dir="5400000" algn="t" rotWithShape="0">
                    <a:schemeClr val="tx1">
                      <a:lumMod val="95000"/>
                      <a:lumOff val="5000"/>
                      <a:alpha val="8000"/>
                    </a:schemeClr>
                  </a:outerShdw>
                </a:effectLst>
                <a:latin typeface="演示镇魂行楷" panose="00000500000000000000" pitchFamily="2" charset="-122"/>
                <a:ea typeface="演示镇魂行楷" panose="00000500000000000000" pitchFamily="2" charset="-122"/>
              </a:defRPr>
            </a:lvl1p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6600" b="0" i="0" u="none" strike="noStrike" kern="1200" cap="none" spc="0" normalizeH="0" baseline="0" noProof="0">
                <a:ln w="12700">
                  <a:gradFill>
                    <a:gsLst>
                      <a:gs pos="0">
                        <a:prstClr val="white"/>
                      </a:gs>
                      <a:gs pos="100000">
                        <a:srgbClr val="F1DAB2">
                          <a:alpha val="0"/>
                        </a:srgbClr>
                      </a:gs>
                    </a:gsLst>
                    <a:lin ang="5400000" scaled="1"/>
                  </a:gradFill>
                </a:ln>
                <a:blipFill>
                  <a:blip r:embed="rId4"/>
                  <a:stretch>
                    <a:fillRect/>
                  </a:stretch>
                </a:blipFill>
                <a:effectLst/>
                <a:uLnTx/>
                <a:uFillTx/>
                <a:latin typeface="演示镇魂行楷" panose="00000500000000000000" pitchFamily="2" charset="-122"/>
                <a:ea typeface="演示镇魂行楷" panose="00000500000000000000" pitchFamily="2" charset="-122"/>
                <a:cs typeface="+mn-cs"/>
              </a:rPr>
              <a:t>西柏坡</a:t>
            </a:r>
          </a:p>
        </p:txBody>
      </p:sp>
      <p:sp>
        <p:nvSpPr>
          <p:cNvPr id="39" name="标题 1">
            <a:extLst>
              <a:ext uri="{FF2B5EF4-FFF2-40B4-BE49-F238E27FC236}">
                <a16:creationId xmlns:a16="http://schemas.microsoft.com/office/drawing/2014/main" id="{69A5F7A4-AF7B-B5DD-8AF1-D0BF4E46C913}"/>
              </a:ext>
            </a:extLst>
          </p:cNvPr>
          <p:cNvSpPr txBox="1"/>
          <p:nvPr/>
        </p:nvSpPr>
        <p:spPr>
          <a:xfrm>
            <a:off x="728233" y="994284"/>
            <a:ext cx="4207834" cy="384168"/>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1800" b="1" dirty="0">
                <a:solidFill>
                  <a:srgbClr val="C00000"/>
                </a:solidFill>
                <a:latin typeface="+mn-ea"/>
                <a:ea typeface="+mn-ea"/>
              </a:rPr>
              <a:t>对全面从严治党</a:t>
            </a:r>
          </a:p>
        </p:txBody>
      </p:sp>
      <p:cxnSp>
        <p:nvCxnSpPr>
          <p:cNvPr id="23" name="直接连接符 22">
            <a:extLst>
              <a:ext uri="{FF2B5EF4-FFF2-40B4-BE49-F238E27FC236}">
                <a16:creationId xmlns:a16="http://schemas.microsoft.com/office/drawing/2014/main" id="{1BD7F61F-7928-9D43-2872-2A5B702B91F2}"/>
              </a:ext>
            </a:extLst>
          </p:cNvPr>
          <p:cNvCxnSpPr/>
          <p:nvPr/>
        </p:nvCxnSpPr>
        <p:spPr>
          <a:xfrm flipH="1">
            <a:off x="7890647" y="441551"/>
            <a:ext cx="622068" cy="0"/>
          </a:xfrm>
          <a:prstGeom prst="line">
            <a:avLst/>
          </a:prstGeom>
          <a:ln>
            <a:solidFill>
              <a:srgbClr val="C00000"/>
            </a:solidFill>
            <a:prstDash val="dash"/>
          </a:ln>
        </p:spPr>
        <p:style>
          <a:lnRef idx="1">
            <a:schemeClr val="accent1"/>
          </a:lnRef>
          <a:fillRef idx="0">
            <a:schemeClr val="accent1"/>
          </a:fillRef>
          <a:effectRef idx="0">
            <a:schemeClr val="accent1"/>
          </a:effectRef>
          <a:fontRef idx="minor">
            <a:schemeClr val="tx1"/>
          </a:fontRef>
        </p:style>
      </p:cxnSp>
      <p:grpSp>
        <p:nvGrpSpPr>
          <p:cNvPr id="8" name="组合 7">
            <a:extLst>
              <a:ext uri="{FF2B5EF4-FFF2-40B4-BE49-F238E27FC236}">
                <a16:creationId xmlns:a16="http://schemas.microsoft.com/office/drawing/2014/main" id="{96B0998B-6378-0826-80F6-783C6A738315}"/>
              </a:ext>
            </a:extLst>
          </p:cNvPr>
          <p:cNvGrpSpPr/>
          <p:nvPr/>
        </p:nvGrpSpPr>
        <p:grpSpPr>
          <a:xfrm rot="16200000">
            <a:off x="2859741" y="-467826"/>
            <a:ext cx="46185" cy="4092763"/>
            <a:chOff x="4550189" y="1818679"/>
            <a:chExt cx="72000" cy="3185840"/>
          </a:xfrm>
        </p:grpSpPr>
        <p:sp>
          <p:nvSpPr>
            <p:cNvPr id="48" name="矩形 47">
              <a:extLst>
                <a:ext uri="{FF2B5EF4-FFF2-40B4-BE49-F238E27FC236}">
                  <a16:creationId xmlns:a16="http://schemas.microsoft.com/office/drawing/2014/main" id="{E0C4A2F0-91DE-4691-5FA6-FEE779576360}"/>
                </a:ext>
              </a:extLst>
            </p:cNvPr>
            <p:cNvSpPr/>
            <p:nvPr/>
          </p:nvSpPr>
          <p:spPr>
            <a:xfrm>
              <a:off x="4550189" y="1818679"/>
              <a:ext cx="72000" cy="475184"/>
            </a:xfrm>
            <a:prstGeom prst="rect">
              <a:avLst/>
            </a:prstGeom>
            <a:solidFill>
              <a:srgbClr val="B1050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楷体" panose="02010609060101010101" pitchFamily="49" charset="-122"/>
                <a:ea typeface="楷体" panose="02010609060101010101" pitchFamily="49" charset="-122"/>
                <a:cs typeface="+mn-ea"/>
                <a:sym typeface="+mn-lt"/>
              </a:endParaRPr>
            </a:p>
          </p:txBody>
        </p:sp>
        <p:cxnSp>
          <p:nvCxnSpPr>
            <p:cNvPr id="3" name="直接连接符 2">
              <a:extLst>
                <a:ext uri="{FF2B5EF4-FFF2-40B4-BE49-F238E27FC236}">
                  <a16:creationId xmlns:a16="http://schemas.microsoft.com/office/drawing/2014/main" id="{56A20D01-BACE-7EC4-DB1F-D567E3EE9090}"/>
                </a:ext>
              </a:extLst>
            </p:cNvPr>
            <p:cNvCxnSpPr/>
            <p:nvPr/>
          </p:nvCxnSpPr>
          <p:spPr>
            <a:xfrm flipH="1" flipV="1">
              <a:off x="4583649" y="2216324"/>
              <a:ext cx="0" cy="2788195"/>
            </a:xfrm>
            <a:prstGeom prst="line">
              <a:avLst/>
            </a:prstGeom>
            <a:ln>
              <a:solidFill>
                <a:srgbClr val="B1050A"/>
              </a:solidFill>
            </a:ln>
          </p:spPr>
          <p:style>
            <a:lnRef idx="1">
              <a:schemeClr val="accent1"/>
            </a:lnRef>
            <a:fillRef idx="0">
              <a:schemeClr val="accent1"/>
            </a:fillRef>
            <a:effectRef idx="0">
              <a:schemeClr val="accent1"/>
            </a:effectRef>
            <a:fontRef idx="minor">
              <a:schemeClr val="tx1"/>
            </a:fontRef>
          </p:style>
        </p:cxnSp>
      </p:grpSp>
      <p:pic>
        <p:nvPicPr>
          <p:cNvPr id="36" name="图片 35">
            <a:extLst>
              <a:ext uri="{FF2B5EF4-FFF2-40B4-BE49-F238E27FC236}">
                <a16:creationId xmlns:a16="http://schemas.microsoft.com/office/drawing/2014/main" id="{04EB4360-D38E-0DC3-99DE-FFA7D120C1E5}"/>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585901" y="377337"/>
            <a:ext cx="646232" cy="256054"/>
          </a:xfrm>
          <a:prstGeom prst="rect">
            <a:avLst/>
          </a:prstGeom>
        </p:spPr>
      </p:pic>
      <p:sp>
        <p:nvSpPr>
          <p:cNvPr id="4" name="文本框 3">
            <a:extLst>
              <a:ext uri="{FF2B5EF4-FFF2-40B4-BE49-F238E27FC236}">
                <a16:creationId xmlns:a16="http://schemas.microsoft.com/office/drawing/2014/main" id="{742709CB-F1C8-0B01-9E42-DD8551FABA11}"/>
              </a:ext>
            </a:extLst>
          </p:cNvPr>
          <p:cNvSpPr txBox="1"/>
          <p:nvPr/>
        </p:nvSpPr>
        <p:spPr>
          <a:xfrm>
            <a:off x="692388" y="1772715"/>
            <a:ext cx="10880865" cy="369332"/>
          </a:xfrm>
          <a:prstGeom prst="rect">
            <a:avLst/>
          </a:prstGeom>
          <a:noFill/>
        </p:spPr>
        <p:txBody>
          <a:bodyPr wrap="square">
            <a:spAutoFit/>
          </a:bodyPr>
          <a:lstStyle/>
          <a:p>
            <a:pPr marL="285750" indent="-285750">
              <a:buFont typeface="Wingdings" panose="05000000000000000000" pitchFamily="2" charset="2"/>
              <a:buChar char="l"/>
            </a:pPr>
            <a:r>
              <a:rPr lang="en-US" altLang="zh-CN" dirty="0"/>
              <a:t>“</a:t>
            </a:r>
            <a:r>
              <a:rPr lang="zh-CN" altLang="zh-CN" dirty="0"/>
              <a:t>两个务必</a:t>
            </a:r>
            <a:r>
              <a:rPr lang="en-US" altLang="zh-CN" dirty="0"/>
              <a:t>”</a:t>
            </a:r>
            <a:r>
              <a:rPr lang="zh-CN" altLang="zh-CN" dirty="0"/>
              <a:t>是党永葆先进性和纯洁性的</a:t>
            </a:r>
            <a:r>
              <a:rPr lang="en-US" altLang="zh-CN" dirty="0"/>
              <a:t>“</a:t>
            </a:r>
            <a:r>
              <a:rPr lang="zh-CN" altLang="zh-CN" dirty="0"/>
              <a:t>清醒剂</a:t>
            </a:r>
            <a:r>
              <a:rPr lang="en-US" altLang="zh-CN" dirty="0"/>
              <a:t>”</a:t>
            </a:r>
            <a:r>
              <a:rPr lang="zh-CN" altLang="zh-CN" dirty="0"/>
              <a:t>，是反对</a:t>
            </a:r>
            <a:r>
              <a:rPr lang="en-US" altLang="zh-CN" dirty="0"/>
              <a:t>“</a:t>
            </a:r>
            <a:r>
              <a:rPr lang="zh-CN" altLang="zh-CN" dirty="0"/>
              <a:t>四风</a:t>
            </a:r>
            <a:r>
              <a:rPr lang="en-US" altLang="zh-CN" dirty="0"/>
              <a:t>”</a:t>
            </a:r>
            <a:r>
              <a:rPr lang="zh-CN" altLang="zh-CN" dirty="0"/>
              <a:t>的强大思想武器。</a:t>
            </a:r>
          </a:p>
        </p:txBody>
      </p:sp>
      <p:sp>
        <p:nvSpPr>
          <p:cNvPr id="5" name="标题 1">
            <a:extLst>
              <a:ext uri="{FF2B5EF4-FFF2-40B4-BE49-F238E27FC236}">
                <a16:creationId xmlns:a16="http://schemas.microsoft.com/office/drawing/2014/main" id="{0CB5CB01-43D0-93E1-CF45-E0A75F7E028B}"/>
              </a:ext>
            </a:extLst>
          </p:cNvPr>
          <p:cNvSpPr txBox="1"/>
          <p:nvPr/>
        </p:nvSpPr>
        <p:spPr>
          <a:xfrm>
            <a:off x="764078" y="2106238"/>
            <a:ext cx="4207834" cy="384168"/>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1800" b="1" dirty="0">
                <a:solidFill>
                  <a:srgbClr val="C00000"/>
                </a:solidFill>
                <a:latin typeface="+mn-ea"/>
                <a:ea typeface="+mn-ea"/>
              </a:rPr>
              <a:t>对应对风险挑战</a:t>
            </a:r>
          </a:p>
        </p:txBody>
      </p:sp>
      <p:grpSp>
        <p:nvGrpSpPr>
          <p:cNvPr id="6" name="组合 5">
            <a:extLst>
              <a:ext uri="{FF2B5EF4-FFF2-40B4-BE49-F238E27FC236}">
                <a16:creationId xmlns:a16="http://schemas.microsoft.com/office/drawing/2014/main" id="{CE488EDE-2349-F0C2-3FF8-9B764BC1F787}"/>
              </a:ext>
            </a:extLst>
          </p:cNvPr>
          <p:cNvGrpSpPr/>
          <p:nvPr/>
        </p:nvGrpSpPr>
        <p:grpSpPr>
          <a:xfrm rot="16200000">
            <a:off x="2895586" y="644128"/>
            <a:ext cx="46185" cy="4092763"/>
            <a:chOff x="4550189" y="1818679"/>
            <a:chExt cx="72000" cy="3185840"/>
          </a:xfrm>
        </p:grpSpPr>
        <p:sp>
          <p:nvSpPr>
            <p:cNvPr id="7" name="矩形 6">
              <a:extLst>
                <a:ext uri="{FF2B5EF4-FFF2-40B4-BE49-F238E27FC236}">
                  <a16:creationId xmlns:a16="http://schemas.microsoft.com/office/drawing/2014/main" id="{93487EAB-8B82-6523-489C-BC8C73CFE5F1}"/>
                </a:ext>
              </a:extLst>
            </p:cNvPr>
            <p:cNvSpPr/>
            <p:nvPr/>
          </p:nvSpPr>
          <p:spPr>
            <a:xfrm>
              <a:off x="4550189" y="1818679"/>
              <a:ext cx="72000" cy="475184"/>
            </a:xfrm>
            <a:prstGeom prst="rect">
              <a:avLst/>
            </a:prstGeom>
            <a:solidFill>
              <a:srgbClr val="B1050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楷体" panose="02010609060101010101" pitchFamily="49" charset="-122"/>
                <a:ea typeface="楷体" panose="02010609060101010101" pitchFamily="49" charset="-122"/>
                <a:cs typeface="+mn-ea"/>
                <a:sym typeface="+mn-lt"/>
              </a:endParaRPr>
            </a:p>
          </p:txBody>
        </p:sp>
        <p:cxnSp>
          <p:nvCxnSpPr>
            <p:cNvPr id="9" name="直接连接符 8">
              <a:extLst>
                <a:ext uri="{FF2B5EF4-FFF2-40B4-BE49-F238E27FC236}">
                  <a16:creationId xmlns:a16="http://schemas.microsoft.com/office/drawing/2014/main" id="{4EA54701-373C-AFDD-2878-4E5298150232}"/>
                </a:ext>
              </a:extLst>
            </p:cNvPr>
            <p:cNvCxnSpPr/>
            <p:nvPr/>
          </p:nvCxnSpPr>
          <p:spPr>
            <a:xfrm flipH="1" flipV="1">
              <a:off x="4583649" y="2216324"/>
              <a:ext cx="0" cy="2788195"/>
            </a:xfrm>
            <a:prstGeom prst="line">
              <a:avLst/>
            </a:prstGeom>
            <a:ln>
              <a:solidFill>
                <a:srgbClr val="B1050A"/>
              </a:solidFill>
            </a:ln>
          </p:spPr>
          <p:style>
            <a:lnRef idx="1">
              <a:schemeClr val="accent1"/>
            </a:lnRef>
            <a:fillRef idx="0">
              <a:schemeClr val="accent1"/>
            </a:fillRef>
            <a:effectRef idx="0">
              <a:schemeClr val="accent1"/>
            </a:effectRef>
            <a:fontRef idx="minor">
              <a:schemeClr val="tx1"/>
            </a:fontRef>
          </p:style>
        </p:cxnSp>
      </p:grpSp>
      <p:sp>
        <p:nvSpPr>
          <p:cNvPr id="10" name="文本框 9">
            <a:extLst>
              <a:ext uri="{FF2B5EF4-FFF2-40B4-BE49-F238E27FC236}">
                <a16:creationId xmlns:a16="http://schemas.microsoft.com/office/drawing/2014/main" id="{7C7BE550-084E-3C60-9649-987333ADC737}"/>
              </a:ext>
            </a:extLst>
          </p:cNvPr>
          <p:cNvSpPr txBox="1"/>
          <p:nvPr/>
        </p:nvSpPr>
        <p:spPr>
          <a:xfrm>
            <a:off x="728233" y="2884669"/>
            <a:ext cx="10880865" cy="369332"/>
          </a:xfrm>
          <a:prstGeom prst="rect">
            <a:avLst/>
          </a:prstGeom>
          <a:noFill/>
        </p:spPr>
        <p:txBody>
          <a:bodyPr wrap="square">
            <a:spAutoFit/>
          </a:bodyPr>
          <a:lstStyle/>
          <a:p>
            <a:pPr marL="285750" indent="-285750">
              <a:buFont typeface="Wingdings" panose="05000000000000000000" pitchFamily="2" charset="2"/>
              <a:buChar char="l"/>
            </a:pPr>
            <a:r>
              <a:rPr lang="en-US" altLang="zh-CN" dirty="0"/>
              <a:t>“</a:t>
            </a:r>
            <a:r>
              <a:rPr lang="zh-CN" altLang="zh-CN" dirty="0"/>
              <a:t>敢于斗争、敢于胜利</a:t>
            </a:r>
            <a:r>
              <a:rPr lang="en-US" altLang="zh-CN" dirty="0"/>
              <a:t>”</a:t>
            </a:r>
            <a:r>
              <a:rPr lang="zh-CN" altLang="zh-CN" dirty="0"/>
              <a:t>的精神，激励我们面对复杂国际环境和国内改革发展任务，要勇于攻坚克难。</a:t>
            </a:r>
          </a:p>
        </p:txBody>
      </p:sp>
      <p:sp>
        <p:nvSpPr>
          <p:cNvPr id="11" name="标题 1">
            <a:extLst>
              <a:ext uri="{FF2B5EF4-FFF2-40B4-BE49-F238E27FC236}">
                <a16:creationId xmlns:a16="http://schemas.microsoft.com/office/drawing/2014/main" id="{FCD1362F-9FF4-6E7B-CC0D-43ABFEEAF474}"/>
              </a:ext>
            </a:extLst>
          </p:cNvPr>
          <p:cNvSpPr txBox="1"/>
          <p:nvPr/>
        </p:nvSpPr>
        <p:spPr>
          <a:xfrm>
            <a:off x="728233" y="3286119"/>
            <a:ext cx="4207834" cy="384168"/>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1800" b="1" dirty="0">
                <a:solidFill>
                  <a:srgbClr val="C00000"/>
                </a:solidFill>
                <a:latin typeface="+mn-ea"/>
                <a:ea typeface="+mn-ea"/>
              </a:rPr>
              <a:t>对践行初心使命</a:t>
            </a:r>
          </a:p>
        </p:txBody>
      </p:sp>
      <p:grpSp>
        <p:nvGrpSpPr>
          <p:cNvPr id="12" name="组合 11">
            <a:extLst>
              <a:ext uri="{FF2B5EF4-FFF2-40B4-BE49-F238E27FC236}">
                <a16:creationId xmlns:a16="http://schemas.microsoft.com/office/drawing/2014/main" id="{9DB62E11-1D7D-2200-EDF4-287DB59FDCF8}"/>
              </a:ext>
            </a:extLst>
          </p:cNvPr>
          <p:cNvGrpSpPr/>
          <p:nvPr/>
        </p:nvGrpSpPr>
        <p:grpSpPr>
          <a:xfrm rot="16200000">
            <a:off x="2859741" y="1824009"/>
            <a:ext cx="46185" cy="4092763"/>
            <a:chOff x="4550189" y="1818679"/>
            <a:chExt cx="72000" cy="3185840"/>
          </a:xfrm>
        </p:grpSpPr>
        <p:sp>
          <p:nvSpPr>
            <p:cNvPr id="13" name="矩形 12">
              <a:extLst>
                <a:ext uri="{FF2B5EF4-FFF2-40B4-BE49-F238E27FC236}">
                  <a16:creationId xmlns:a16="http://schemas.microsoft.com/office/drawing/2014/main" id="{DC7510DF-C259-5577-17CB-9C2ABB46A6A5}"/>
                </a:ext>
              </a:extLst>
            </p:cNvPr>
            <p:cNvSpPr/>
            <p:nvPr/>
          </p:nvSpPr>
          <p:spPr>
            <a:xfrm>
              <a:off x="4550189" y="1818679"/>
              <a:ext cx="72000" cy="475184"/>
            </a:xfrm>
            <a:prstGeom prst="rect">
              <a:avLst/>
            </a:prstGeom>
            <a:solidFill>
              <a:srgbClr val="B1050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楷体" panose="02010609060101010101" pitchFamily="49" charset="-122"/>
                <a:ea typeface="楷体" panose="02010609060101010101" pitchFamily="49" charset="-122"/>
                <a:cs typeface="+mn-ea"/>
                <a:sym typeface="+mn-lt"/>
              </a:endParaRPr>
            </a:p>
          </p:txBody>
        </p:sp>
        <p:cxnSp>
          <p:nvCxnSpPr>
            <p:cNvPr id="14" name="直接连接符 13">
              <a:extLst>
                <a:ext uri="{FF2B5EF4-FFF2-40B4-BE49-F238E27FC236}">
                  <a16:creationId xmlns:a16="http://schemas.microsoft.com/office/drawing/2014/main" id="{89CE7290-71AD-6124-676D-014B5D74EDA1}"/>
                </a:ext>
              </a:extLst>
            </p:cNvPr>
            <p:cNvCxnSpPr/>
            <p:nvPr/>
          </p:nvCxnSpPr>
          <p:spPr>
            <a:xfrm flipH="1" flipV="1">
              <a:off x="4583649" y="2216324"/>
              <a:ext cx="0" cy="2788195"/>
            </a:xfrm>
            <a:prstGeom prst="line">
              <a:avLst/>
            </a:prstGeom>
            <a:ln>
              <a:solidFill>
                <a:srgbClr val="B1050A"/>
              </a:solidFill>
            </a:ln>
          </p:spPr>
          <p:style>
            <a:lnRef idx="1">
              <a:schemeClr val="accent1"/>
            </a:lnRef>
            <a:fillRef idx="0">
              <a:schemeClr val="accent1"/>
            </a:fillRef>
            <a:effectRef idx="0">
              <a:schemeClr val="accent1"/>
            </a:effectRef>
            <a:fontRef idx="minor">
              <a:schemeClr val="tx1"/>
            </a:fontRef>
          </p:style>
        </p:cxnSp>
      </p:grpSp>
      <p:sp>
        <p:nvSpPr>
          <p:cNvPr id="15" name="文本框 14">
            <a:extLst>
              <a:ext uri="{FF2B5EF4-FFF2-40B4-BE49-F238E27FC236}">
                <a16:creationId xmlns:a16="http://schemas.microsoft.com/office/drawing/2014/main" id="{CA4CCA64-89C7-BCD7-0F38-AB454F1F2AE0}"/>
              </a:ext>
            </a:extLst>
          </p:cNvPr>
          <p:cNvSpPr txBox="1"/>
          <p:nvPr/>
        </p:nvSpPr>
        <p:spPr>
          <a:xfrm>
            <a:off x="692388" y="4064550"/>
            <a:ext cx="10880865" cy="369332"/>
          </a:xfrm>
          <a:prstGeom prst="rect">
            <a:avLst/>
          </a:prstGeom>
          <a:noFill/>
        </p:spPr>
        <p:txBody>
          <a:bodyPr wrap="square">
            <a:spAutoFit/>
          </a:bodyPr>
          <a:lstStyle/>
          <a:p>
            <a:pPr marL="285750" indent="-285750">
              <a:buFont typeface="Wingdings" panose="05000000000000000000" pitchFamily="2" charset="2"/>
              <a:buChar char="l"/>
            </a:pPr>
            <a:r>
              <a:rPr lang="en-US" altLang="zh-CN" dirty="0"/>
              <a:t> “</a:t>
            </a:r>
            <a:r>
              <a:rPr lang="zh-CN" altLang="zh-CN" dirty="0"/>
              <a:t>依靠群众、团结统一</a:t>
            </a:r>
            <a:r>
              <a:rPr lang="en-US" altLang="zh-CN" dirty="0"/>
              <a:t>”</a:t>
            </a:r>
            <a:r>
              <a:rPr lang="zh-CN" altLang="zh-CN" dirty="0"/>
              <a:t>提醒我们始终坚持以人民为中心的发展思想，凝聚民族复兴的磅礴力量。</a:t>
            </a:r>
          </a:p>
        </p:txBody>
      </p:sp>
      <p:sp>
        <p:nvSpPr>
          <p:cNvPr id="28" name="标题 1">
            <a:extLst>
              <a:ext uri="{FF2B5EF4-FFF2-40B4-BE49-F238E27FC236}">
                <a16:creationId xmlns:a16="http://schemas.microsoft.com/office/drawing/2014/main" id="{47A6AD22-97AE-D87D-5F2C-36D205E1866D}"/>
              </a:ext>
            </a:extLst>
          </p:cNvPr>
          <p:cNvSpPr txBox="1"/>
          <p:nvPr/>
        </p:nvSpPr>
        <p:spPr>
          <a:xfrm>
            <a:off x="764078" y="4412865"/>
            <a:ext cx="4207834" cy="384168"/>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1800" b="1" dirty="0">
                <a:solidFill>
                  <a:srgbClr val="C00000"/>
                </a:solidFill>
                <a:latin typeface="+mn-ea"/>
                <a:ea typeface="+mn-ea"/>
              </a:rPr>
              <a:t>对推进民族复兴</a:t>
            </a:r>
          </a:p>
        </p:txBody>
      </p:sp>
      <p:grpSp>
        <p:nvGrpSpPr>
          <p:cNvPr id="29" name="组合 28">
            <a:extLst>
              <a:ext uri="{FF2B5EF4-FFF2-40B4-BE49-F238E27FC236}">
                <a16:creationId xmlns:a16="http://schemas.microsoft.com/office/drawing/2014/main" id="{5225D3D0-F4EC-7B29-DB7C-C2B6E093F228}"/>
              </a:ext>
            </a:extLst>
          </p:cNvPr>
          <p:cNvGrpSpPr/>
          <p:nvPr/>
        </p:nvGrpSpPr>
        <p:grpSpPr>
          <a:xfrm rot="16200000">
            <a:off x="2895586" y="2950755"/>
            <a:ext cx="46185" cy="4092763"/>
            <a:chOff x="4550189" y="1818679"/>
            <a:chExt cx="72000" cy="3185840"/>
          </a:xfrm>
        </p:grpSpPr>
        <p:sp>
          <p:nvSpPr>
            <p:cNvPr id="30" name="矩形 29">
              <a:extLst>
                <a:ext uri="{FF2B5EF4-FFF2-40B4-BE49-F238E27FC236}">
                  <a16:creationId xmlns:a16="http://schemas.microsoft.com/office/drawing/2014/main" id="{23D49D7B-7D01-F4BE-DFEF-7BE29153D701}"/>
                </a:ext>
              </a:extLst>
            </p:cNvPr>
            <p:cNvSpPr/>
            <p:nvPr/>
          </p:nvSpPr>
          <p:spPr>
            <a:xfrm>
              <a:off x="4550189" y="1818679"/>
              <a:ext cx="72000" cy="475184"/>
            </a:xfrm>
            <a:prstGeom prst="rect">
              <a:avLst/>
            </a:prstGeom>
            <a:solidFill>
              <a:srgbClr val="B1050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楷体" panose="02010609060101010101" pitchFamily="49" charset="-122"/>
                <a:ea typeface="楷体" panose="02010609060101010101" pitchFamily="49" charset="-122"/>
                <a:cs typeface="+mn-ea"/>
                <a:sym typeface="+mn-lt"/>
              </a:endParaRPr>
            </a:p>
          </p:txBody>
        </p:sp>
        <p:cxnSp>
          <p:nvCxnSpPr>
            <p:cNvPr id="31" name="直接连接符 30">
              <a:extLst>
                <a:ext uri="{FF2B5EF4-FFF2-40B4-BE49-F238E27FC236}">
                  <a16:creationId xmlns:a16="http://schemas.microsoft.com/office/drawing/2014/main" id="{129550C6-3C43-ED09-56A0-01929183D302}"/>
                </a:ext>
              </a:extLst>
            </p:cNvPr>
            <p:cNvCxnSpPr/>
            <p:nvPr/>
          </p:nvCxnSpPr>
          <p:spPr>
            <a:xfrm flipH="1" flipV="1">
              <a:off x="4583649" y="2216324"/>
              <a:ext cx="0" cy="2788195"/>
            </a:xfrm>
            <a:prstGeom prst="line">
              <a:avLst/>
            </a:prstGeom>
            <a:ln>
              <a:solidFill>
                <a:srgbClr val="B1050A"/>
              </a:solidFill>
            </a:ln>
          </p:spPr>
          <p:style>
            <a:lnRef idx="1">
              <a:schemeClr val="accent1"/>
            </a:lnRef>
            <a:fillRef idx="0">
              <a:schemeClr val="accent1"/>
            </a:fillRef>
            <a:effectRef idx="0">
              <a:schemeClr val="accent1"/>
            </a:effectRef>
            <a:fontRef idx="minor">
              <a:schemeClr val="tx1"/>
            </a:fontRef>
          </p:style>
        </p:cxnSp>
      </p:grpSp>
      <p:sp>
        <p:nvSpPr>
          <p:cNvPr id="32" name="文本框 31">
            <a:extLst>
              <a:ext uri="{FF2B5EF4-FFF2-40B4-BE49-F238E27FC236}">
                <a16:creationId xmlns:a16="http://schemas.microsoft.com/office/drawing/2014/main" id="{7C5227CA-CCC2-E185-444D-EC9A491853EF}"/>
              </a:ext>
            </a:extLst>
          </p:cNvPr>
          <p:cNvSpPr txBox="1"/>
          <p:nvPr/>
        </p:nvSpPr>
        <p:spPr>
          <a:xfrm>
            <a:off x="728233" y="5191296"/>
            <a:ext cx="10880865" cy="369332"/>
          </a:xfrm>
          <a:prstGeom prst="rect">
            <a:avLst/>
          </a:prstGeom>
          <a:noFill/>
        </p:spPr>
        <p:txBody>
          <a:bodyPr wrap="square">
            <a:spAutoFit/>
          </a:bodyPr>
          <a:lstStyle/>
          <a:p>
            <a:pPr marL="285750" indent="-285750">
              <a:buFont typeface="Wingdings" panose="05000000000000000000" pitchFamily="2" charset="2"/>
              <a:buChar char="l"/>
            </a:pPr>
            <a:r>
              <a:rPr lang="en-US" altLang="zh-CN" dirty="0"/>
              <a:t>“</a:t>
            </a:r>
            <a:r>
              <a:rPr lang="zh-CN" altLang="zh-CN" dirty="0"/>
              <a:t>善于建设一个新世界</a:t>
            </a:r>
            <a:r>
              <a:rPr lang="en-US" altLang="zh-CN" dirty="0"/>
              <a:t>”</a:t>
            </a:r>
            <a:r>
              <a:rPr lang="zh-CN" altLang="zh-CN" dirty="0"/>
              <a:t>要求我们保持科学态度，不断学习，提升执政能力和建设水平。</a:t>
            </a:r>
          </a:p>
        </p:txBody>
      </p:sp>
    </p:spTree>
    <p:extLst>
      <p:ext uri="{BB962C8B-B14F-4D97-AF65-F5344CB8AC3E}">
        <p14:creationId xmlns:p14="http://schemas.microsoft.com/office/powerpoint/2010/main" val="771486343"/>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图片包含 游戏机, 花, 雏菊, 灯光&#10;&#10;描述已自动生成">
            <a:extLst>
              <a:ext uri="{FF2B5EF4-FFF2-40B4-BE49-F238E27FC236}">
                <a16:creationId xmlns:a16="http://schemas.microsoft.com/office/drawing/2014/main" id="{19026E6A-F328-C70B-74FD-009AA112772B}"/>
              </a:ext>
            </a:extLst>
          </p:cNvPr>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a:xfrm rot="10800000" flipV="1">
            <a:off x="-16879" y="0"/>
            <a:ext cx="5380318" cy="7134776"/>
          </a:xfrm>
          <a:prstGeom prst="rect">
            <a:avLst/>
          </a:prstGeom>
        </p:spPr>
      </p:pic>
      <p:sp>
        <p:nvSpPr>
          <p:cNvPr id="22" name="Rectangle 4"/>
          <p:cNvSpPr txBox="1">
            <a:spLocks noChangeArrowheads="1"/>
          </p:cNvSpPr>
          <p:nvPr/>
        </p:nvSpPr>
        <p:spPr bwMode="auto">
          <a:xfrm>
            <a:off x="8342301" y="166086"/>
            <a:ext cx="3690041" cy="5509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04" tIns="45702" rIns="91404" bIns="45702" numCol="1" anchor="ctr" anchorCtr="0" compatLnSpc="1"/>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rgbClr val="C00000"/>
                </a:solidFill>
                <a:effectLst/>
                <a:uLnTx/>
                <a:uFillTx/>
                <a:ea typeface="微软雅黑" panose="020B0503020204020204" pitchFamily="34" charset="-122"/>
                <a:cs typeface="+mj-cs"/>
              </a:rPr>
              <a:t>践行传承：走好新的赶考之路</a:t>
            </a:r>
          </a:p>
        </p:txBody>
      </p:sp>
      <p:cxnSp>
        <p:nvCxnSpPr>
          <p:cNvPr id="23" name="直接连接符 22"/>
          <p:cNvCxnSpPr/>
          <p:nvPr/>
        </p:nvCxnSpPr>
        <p:spPr>
          <a:xfrm flipH="1">
            <a:off x="7890647" y="441551"/>
            <a:ext cx="622068" cy="0"/>
          </a:xfrm>
          <a:prstGeom prst="line">
            <a:avLst/>
          </a:prstGeom>
          <a:ln>
            <a:solidFill>
              <a:srgbClr val="C00000"/>
            </a:solidFill>
            <a:prstDash val="dash"/>
          </a:ln>
        </p:spPr>
        <p:style>
          <a:lnRef idx="1">
            <a:schemeClr val="accent1"/>
          </a:lnRef>
          <a:fillRef idx="0">
            <a:schemeClr val="accent1"/>
          </a:fillRef>
          <a:effectRef idx="0">
            <a:schemeClr val="accent1"/>
          </a:effectRef>
          <a:fontRef idx="minor">
            <a:schemeClr val="tx1"/>
          </a:fontRef>
        </p:style>
      </p:cxnSp>
      <p:pic>
        <p:nvPicPr>
          <p:cNvPr id="53" name="图片 52" descr="图片包含 游戏机, 花, 雏菊, 灯光&#10;&#10;描述已自动生成"/>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flipV="1">
            <a:off x="10023968" y="3982997"/>
            <a:ext cx="2168032" cy="2875000"/>
          </a:xfrm>
          <a:prstGeom prst="rect">
            <a:avLst/>
          </a:prstGeom>
        </p:spPr>
      </p:pic>
      <p:pic>
        <p:nvPicPr>
          <p:cNvPr id="2" name="图片 1"/>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6040399" y="1920338"/>
            <a:ext cx="2481287" cy="1444877"/>
          </a:xfrm>
          <a:prstGeom prst="rect">
            <a:avLst/>
          </a:prstGeom>
        </p:spPr>
      </p:pic>
      <p:pic>
        <p:nvPicPr>
          <p:cNvPr id="4" name="图片 3">
            <a:extLst>
              <a:ext uri="{FF2B5EF4-FFF2-40B4-BE49-F238E27FC236}">
                <a16:creationId xmlns:a16="http://schemas.microsoft.com/office/drawing/2014/main" id="{32ADA398-2067-BE5F-F8EB-5D95F19A0446}"/>
              </a:ext>
            </a:extLst>
          </p:cNvPr>
          <p:cNvPicPr>
            <a:picLocks noChangeAspect="1"/>
          </p:cNvPicPr>
          <p:nvPr/>
        </p:nvPicPr>
        <p:blipFill>
          <a:blip r:embed="rId5" cstate="email">
            <a:extLst>
              <a:ext uri="{28A0092B-C50C-407E-A947-70E740481C1C}">
                <a14:useLocalDpi xmlns:a14="http://schemas.microsoft.com/office/drawing/2010/main"/>
              </a:ext>
            </a:extLst>
          </a:blip>
          <a:srcRect/>
          <a:stretch>
            <a:fillRect/>
          </a:stretch>
        </p:blipFill>
        <p:spPr>
          <a:xfrm flipH="1">
            <a:off x="-2" y="-1340145"/>
            <a:ext cx="4460490" cy="8198143"/>
          </a:xfrm>
          <a:prstGeom prst="rect">
            <a:avLst/>
          </a:prstGeom>
        </p:spPr>
      </p:pic>
      <p:pic>
        <p:nvPicPr>
          <p:cNvPr id="7" name="图片 6">
            <a:extLst>
              <a:ext uri="{FF2B5EF4-FFF2-40B4-BE49-F238E27FC236}">
                <a16:creationId xmlns:a16="http://schemas.microsoft.com/office/drawing/2014/main" id="{8D43F7E8-B159-C37B-F7E1-53AE78A5EA2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596237" y="2965666"/>
            <a:ext cx="7944081" cy="1203444"/>
          </a:xfrm>
          <a:prstGeom prst="rect">
            <a:avLst/>
          </a:prstGeom>
        </p:spPr>
      </p:pic>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DFB1BD-39A2-7F2A-FA23-769CDDBBB88E}"/>
            </a:ext>
          </a:extLst>
        </p:cNvPr>
        <p:cNvGrpSpPr/>
        <p:nvPr/>
      </p:nvGrpSpPr>
      <p:grpSpPr>
        <a:xfrm>
          <a:off x="0" y="0"/>
          <a:ext cx="0" cy="0"/>
          <a:chOff x="0" y="0"/>
          <a:chExt cx="0" cy="0"/>
        </a:xfrm>
      </p:grpSpPr>
      <p:sp>
        <p:nvSpPr>
          <p:cNvPr id="22" name="Rectangle 4">
            <a:extLst>
              <a:ext uri="{FF2B5EF4-FFF2-40B4-BE49-F238E27FC236}">
                <a16:creationId xmlns:a16="http://schemas.microsoft.com/office/drawing/2014/main" id="{912FE10B-1C13-4789-03B8-C2048C892391}"/>
              </a:ext>
            </a:extLst>
          </p:cNvPr>
          <p:cNvSpPr txBox="1">
            <a:spLocks noChangeArrowheads="1"/>
          </p:cNvSpPr>
          <p:nvPr/>
        </p:nvSpPr>
        <p:spPr bwMode="auto">
          <a:xfrm>
            <a:off x="8342301" y="166086"/>
            <a:ext cx="3690041" cy="5509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04" tIns="45702" rIns="91404" bIns="45702" numCol="1" anchor="ctr" anchorCtr="0" compatLnSpc="1"/>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rgbClr val="C00000"/>
                </a:solidFill>
                <a:effectLst/>
                <a:uLnTx/>
                <a:uFillTx/>
                <a:ea typeface="微软雅黑" panose="020B0503020204020204" pitchFamily="34" charset="-122"/>
                <a:cs typeface="+mj-cs"/>
              </a:rPr>
              <a:t>践行传承：走好新的赶考之路</a:t>
            </a:r>
          </a:p>
        </p:txBody>
      </p:sp>
      <p:pic>
        <p:nvPicPr>
          <p:cNvPr id="51" name="图片 50">
            <a:extLst>
              <a:ext uri="{FF2B5EF4-FFF2-40B4-BE49-F238E27FC236}">
                <a16:creationId xmlns:a16="http://schemas.microsoft.com/office/drawing/2014/main" id="{1189E34B-CAED-A9B4-C23B-0973C14A9204}"/>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5545836"/>
            <a:ext cx="12192000" cy="1312164"/>
          </a:xfrm>
          <a:prstGeom prst="rect">
            <a:avLst/>
          </a:prstGeom>
        </p:spPr>
      </p:pic>
      <p:pic>
        <p:nvPicPr>
          <p:cNvPr id="52" name="图片 51">
            <a:extLst>
              <a:ext uri="{FF2B5EF4-FFF2-40B4-BE49-F238E27FC236}">
                <a16:creationId xmlns:a16="http://schemas.microsoft.com/office/drawing/2014/main" id="{017CC206-616E-6B3E-3773-EAAE25FF45A9}"/>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flipH="1">
            <a:off x="9982200" y="4154312"/>
            <a:ext cx="2209800" cy="2707228"/>
          </a:xfrm>
          <a:prstGeom prst="rect">
            <a:avLst/>
          </a:prstGeom>
        </p:spPr>
      </p:pic>
      <p:sp>
        <p:nvSpPr>
          <p:cNvPr id="66" name="文本框 65">
            <a:extLst>
              <a:ext uri="{FF2B5EF4-FFF2-40B4-BE49-F238E27FC236}">
                <a16:creationId xmlns:a16="http://schemas.microsoft.com/office/drawing/2014/main" id="{B953A761-4D17-91DC-930F-844DEB154560}"/>
              </a:ext>
            </a:extLst>
          </p:cNvPr>
          <p:cNvSpPr txBox="1"/>
          <p:nvPr/>
        </p:nvSpPr>
        <p:spPr>
          <a:xfrm>
            <a:off x="1461404" y="231054"/>
            <a:ext cx="4143804" cy="523220"/>
          </a:xfrm>
          <a:prstGeom prst="rect">
            <a:avLst/>
          </a:prstGeom>
          <a:noFill/>
        </p:spPr>
        <p:txBody>
          <a:bodyPr wrap="square" rtlCol="0">
            <a:spAutoFit/>
          </a:bodyPr>
          <a:lstStyle/>
          <a:p>
            <a:pPr marL="0" marR="0" lvl="0" indent="0" defTabSz="914400" rtl="0" eaLnBrk="1" fontAlgn="auto" latinLnBrk="0" hangingPunct="1">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rgbClr val="C00000"/>
                </a:solidFill>
                <a:effectLst/>
                <a:uLnTx/>
                <a:uFillTx/>
                <a:latin typeface="+mn-ea"/>
                <a:cs typeface="阿里巴巴普惠体 H" panose="00020600040101010101" pitchFamily="18" charset="-122"/>
              </a:rPr>
              <a:t>赶考之路</a:t>
            </a:r>
          </a:p>
        </p:txBody>
      </p:sp>
      <p:sp>
        <p:nvSpPr>
          <p:cNvPr id="38" name="文本框 37">
            <a:extLst>
              <a:ext uri="{FF2B5EF4-FFF2-40B4-BE49-F238E27FC236}">
                <a16:creationId xmlns:a16="http://schemas.microsoft.com/office/drawing/2014/main" id="{33DFAF4D-AC65-9E3E-174C-DD8D0E79EBAA}"/>
              </a:ext>
            </a:extLst>
          </p:cNvPr>
          <p:cNvSpPr txBox="1"/>
          <p:nvPr/>
        </p:nvSpPr>
        <p:spPr>
          <a:xfrm>
            <a:off x="8201681" y="-1362207"/>
            <a:ext cx="2723823" cy="1107996"/>
          </a:xfrm>
          <a:prstGeom prst="rect">
            <a:avLst/>
          </a:prstGeom>
          <a:noFill/>
        </p:spPr>
        <p:txBody>
          <a:bodyPr wrap="none" rtlCol="0">
            <a:spAutoFit/>
          </a:bodyPr>
          <a:lstStyle>
            <a:defPPr>
              <a:defRPr lang="zh-CN"/>
            </a:defPPr>
            <a:lvl1pPr>
              <a:defRPr sz="8000">
                <a:ln w="12700">
                  <a:gradFill>
                    <a:gsLst>
                      <a:gs pos="0">
                        <a:schemeClr val="bg1"/>
                      </a:gs>
                      <a:gs pos="100000">
                        <a:srgbClr val="F1DAB2">
                          <a:alpha val="0"/>
                        </a:srgbClr>
                      </a:gs>
                    </a:gsLst>
                    <a:lin ang="5400000" scaled="1"/>
                  </a:gradFill>
                </a:ln>
                <a:gradFill flip="none" rotWithShape="1">
                  <a:gsLst>
                    <a:gs pos="0">
                      <a:srgbClr val="A60E0B"/>
                    </a:gs>
                    <a:gs pos="100000">
                      <a:srgbClr val="DD2531"/>
                    </a:gs>
                  </a:gsLst>
                  <a:lin ang="16200000" scaled="1"/>
                </a:gradFill>
                <a:effectLst>
                  <a:outerShdw dist="88900" dir="5400000" algn="t" rotWithShape="0">
                    <a:schemeClr val="tx1">
                      <a:lumMod val="95000"/>
                      <a:lumOff val="5000"/>
                      <a:alpha val="8000"/>
                    </a:schemeClr>
                  </a:outerShdw>
                </a:effectLst>
                <a:latin typeface="演示镇魂行楷" panose="00000500000000000000" pitchFamily="2" charset="-122"/>
                <a:ea typeface="演示镇魂行楷" panose="00000500000000000000" pitchFamily="2" charset="-122"/>
              </a:defRPr>
            </a:lvl1p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6600" b="0" i="0" u="none" strike="noStrike" kern="1200" cap="none" spc="0" normalizeH="0" baseline="0" noProof="0">
                <a:ln w="12700">
                  <a:gradFill>
                    <a:gsLst>
                      <a:gs pos="0">
                        <a:prstClr val="white"/>
                      </a:gs>
                      <a:gs pos="100000">
                        <a:srgbClr val="F1DAB2">
                          <a:alpha val="0"/>
                        </a:srgbClr>
                      </a:gs>
                    </a:gsLst>
                    <a:lin ang="5400000" scaled="1"/>
                  </a:gradFill>
                </a:ln>
                <a:blipFill>
                  <a:blip r:embed="rId4"/>
                  <a:stretch>
                    <a:fillRect/>
                  </a:stretch>
                </a:blipFill>
                <a:effectLst/>
                <a:uLnTx/>
                <a:uFillTx/>
                <a:latin typeface="演示镇魂行楷" panose="00000500000000000000" pitchFamily="2" charset="-122"/>
                <a:ea typeface="演示镇魂行楷" panose="00000500000000000000" pitchFamily="2" charset="-122"/>
                <a:cs typeface="+mn-cs"/>
              </a:rPr>
              <a:t>西柏坡</a:t>
            </a:r>
          </a:p>
        </p:txBody>
      </p:sp>
      <p:sp>
        <p:nvSpPr>
          <p:cNvPr id="39" name="标题 1">
            <a:extLst>
              <a:ext uri="{FF2B5EF4-FFF2-40B4-BE49-F238E27FC236}">
                <a16:creationId xmlns:a16="http://schemas.microsoft.com/office/drawing/2014/main" id="{0DB506D4-F0B9-1057-E03C-2B8904C7C550}"/>
              </a:ext>
            </a:extLst>
          </p:cNvPr>
          <p:cNvSpPr txBox="1"/>
          <p:nvPr/>
        </p:nvSpPr>
        <p:spPr>
          <a:xfrm>
            <a:off x="944863" y="1463733"/>
            <a:ext cx="3396830" cy="63786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1800" b="1" dirty="0">
                <a:solidFill>
                  <a:schemeClr val="tx1">
                    <a:lumMod val="75000"/>
                    <a:lumOff val="25000"/>
                  </a:schemeClr>
                </a:solidFill>
                <a:latin typeface="+mn-ea"/>
                <a:ea typeface="+mn-ea"/>
              </a:rPr>
              <a:t>“赶考”之路的含义</a:t>
            </a:r>
          </a:p>
        </p:txBody>
      </p:sp>
      <p:cxnSp>
        <p:nvCxnSpPr>
          <p:cNvPr id="23" name="直接连接符 22">
            <a:extLst>
              <a:ext uri="{FF2B5EF4-FFF2-40B4-BE49-F238E27FC236}">
                <a16:creationId xmlns:a16="http://schemas.microsoft.com/office/drawing/2014/main" id="{393BCEE3-EB04-B655-B8FB-7565BA845255}"/>
              </a:ext>
            </a:extLst>
          </p:cNvPr>
          <p:cNvCxnSpPr/>
          <p:nvPr/>
        </p:nvCxnSpPr>
        <p:spPr>
          <a:xfrm flipH="1">
            <a:off x="7890647" y="441551"/>
            <a:ext cx="622068" cy="0"/>
          </a:xfrm>
          <a:prstGeom prst="line">
            <a:avLst/>
          </a:prstGeom>
          <a:ln>
            <a:solidFill>
              <a:srgbClr val="C00000"/>
            </a:solidFill>
            <a:prstDash val="dash"/>
          </a:ln>
        </p:spPr>
        <p:style>
          <a:lnRef idx="1">
            <a:schemeClr val="accent1"/>
          </a:lnRef>
          <a:fillRef idx="0">
            <a:schemeClr val="accent1"/>
          </a:fillRef>
          <a:effectRef idx="0">
            <a:schemeClr val="accent1"/>
          </a:effectRef>
          <a:fontRef idx="minor">
            <a:schemeClr val="tx1"/>
          </a:fontRef>
        </p:style>
      </p:cxnSp>
      <p:sp>
        <p:nvSpPr>
          <p:cNvPr id="37" name="标题 1">
            <a:extLst>
              <a:ext uri="{FF2B5EF4-FFF2-40B4-BE49-F238E27FC236}">
                <a16:creationId xmlns:a16="http://schemas.microsoft.com/office/drawing/2014/main" id="{A06F07A0-177F-B837-6899-45A2695A781B}"/>
              </a:ext>
            </a:extLst>
          </p:cNvPr>
          <p:cNvSpPr txBox="1"/>
          <p:nvPr/>
        </p:nvSpPr>
        <p:spPr>
          <a:xfrm>
            <a:off x="944863" y="2049467"/>
            <a:ext cx="10587220" cy="2104845"/>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285750" indent="-285750">
              <a:lnSpc>
                <a:spcPct val="150000"/>
              </a:lnSpc>
              <a:buFont typeface="Wingdings" panose="05000000000000000000" pitchFamily="2" charset="2"/>
              <a:buChar char="l"/>
            </a:pPr>
            <a:r>
              <a:rPr lang="en-US" altLang="zh-CN" sz="1800" dirty="0">
                <a:solidFill>
                  <a:schemeClr val="tx1">
                    <a:lumMod val="75000"/>
                    <a:lumOff val="25000"/>
                  </a:schemeClr>
                </a:solidFill>
                <a:latin typeface="+mn-ea"/>
                <a:ea typeface="+mn-ea"/>
              </a:rPr>
              <a:t>1949</a:t>
            </a:r>
            <a:r>
              <a:rPr lang="zh-CN" altLang="en-US" sz="1800" dirty="0">
                <a:solidFill>
                  <a:schemeClr val="tx1">
                    <a:lumMod val="75000"/>
                    <a:lumOff val="25000"/>
                  </a:schemeClr>
                </a:solidFill>
                <a:latin typeface="+mn-ea"/>
                <a:ea typeface="+mn-ea"/>
              </a:rPr>
              <a:t>年</a:t>
            </a:r>
            <a:r>
              <a:rPr lang="en-US" altLang="zh-CN" sz="1800" dirty="0">
                <a:solidFill>
                  <a:schemeClr val="tx1">
                    <a:lumMod val="75000"/>
                    <a:lumOff val="25000"/>
                  </a:schemeClr>
                </a:solidFill>
                <a:latin typeface="+mn-ea"/>
                <a:ea typeface="+mn-ea"/>
              </a:rPr>
              <a:t>3</a:t>
            </a:r>
            <a:r>
              <a:rPr lang="zh-CN" altLang="en-US" sz="1800" dirty="0">
                <a:solidFill>
                  <a:schemeClr val="tx1">
                    <a:lumMod val="75000"/>
                    <a:lumOff val="25000"/>
                  </a:schemeClr>
                </a:solidFill>
                <a:latin typeface="+mn-ea"/>
                <a:ea typeface="+mn-ea"/>
              </a:rPr>
              <a:t>月</a:t>
            </a:r>
            <a:r>
              <a:rPr lang="en-US" altLang="zh-CN" sz="1800" dirty="0">
                <a:solidFill>
                  <a:schemeClr val="tx1">
                    <a:lumMod val="75000"/>
                    <a:lumOff val="25000"/>
                  </a:schemeClr>
                </a:solidFill>
                <a:latin typeface="+mn-ea"/>
                <a:ea typeface="+mn-ea"/>
              </a:rPr>
              <a:t>23</a:t>
            </a:r>
            <a:r>
              <a:rPr lang="zh-CN" altLang="en-US" sz="1800" dirty="0">
                <a:solidFill>
                  <a:schemeClr val="tx1">
                    <a:lumMod val="75000"/>
                    <a:lumOff val="25000"/>
                  </a:schemeClr>
                </a:solidFill>
                <a:latin typeface="+mn-ea"/>
                <a:ea typeface="+mn-ea"/>
              </a:rPr>
              <a:t>日，党中央从西柏坡启程前往北平。临行前，毛泽东主席意味深长地说：“今天是进京赶考的日子。” 周恩来同志笑着说：“我们应当都能考试及格，不要退回来。” 毛泽东坚定地说：“退回来就失败了。我们决不当李自成，我们都希望考个好成绩。”</a:t>
            </a:r>
          </a:p>
          <a:p>
            <a:pPr marL="285750" indent="-285750">
              <a:lnSpc>
                <a:spcPct val="150000"/>
              </a:lnSpc>
              <a:buFont typeface="Wingdings" panose="05000000000000000000" pitchFamily="2" charset="2"/>
              <a:buChar char="l"/>
            </a:pPr>
            <a:endParaRPr lang="en-US" altLang="zh-CN" sz="1800" dirty="0">
              <a:solidFill>
                <a:schemeClr val="tx1">
                  <a:lumMod val="75000"/>
                  <a:lumOff val="25000"/>
                </a:schemeClr>
              </a:solidFill>
              <a:latin typeface="+mn-ea"/>
              <a:ea typeface="+mn-ea"/>
            </a:endParaRPr>
          </a:p>
          <a:p>
            <a:pPr marL="285750" indent="-285750">
              <a:lnSpc>
                <a:spcPct val="150000"/>
              </a:lnSpc>
              <a:buFont typeface="Wingdings" panose="05000000000000000000" pitchFamily="2" charset="2"/>
              <a:buChar char="l"/>
            </a:pPr>
            <a:r>
              <a:rPr lang="zh-CN" altLang="en-US" sz="1800" dirty="0">
                <a:solidFill>
                  <a:schemeClr val="tx1">
                    <a:lumMod val="75000"/>
                    <a:lumOff val="25000"/>
                  </a:schemeClr>
                </a:solidFill>
                <a:latin typeface="+mn-ea"/>
                <a:ea typeface="+mn-ea"/>
              </a:rPr>
              <a:t>“赶考”这个比喻，形象地说明了中国共产党人面对执政这场大考时的清醒和自觉。习总书记曾说过：“时代是出卷人，我们是答卷人，人民是阅卷人”。进入新时代，面对新题型，我们要以西柏坡精神为指引，走好新时代“赶考”之路。 </a:t>
            </a:r>
          </a:p>
        </p:txBody>
      </p:sp>
      <p:grpSp>
        <p:nvGrpSpPr>
          <p:cNvPr id="8" name="组合 7">
            <a:extLst>
              <a:ext uri="{FF2B5EF4-FFF2-40B4-BE49-F238E27FC236}">
                <a16:creationId xmlns:a16="http://schemas.microsoft.com/office/drawing/2014/main" id="{823A64DB-5DF8-F1DE-9193-E467BA10F239}"/>
              </a:ext>
            </a:extLst>
          </p:cNvPr>
          <p:cNvGrpSpPr/>
          <p:nvPr/>
        </p:nvGrpSpPr>
        <p:grpSpPr>
          <a:xfrm rot="16200000">
            <a:off x="2610002" y="472680"/>
            <a:ext cx="72000" cy="3185840"/>
            <a:chOff x="4550189" y="1818679"/>
            <a:chExt cx="72000" cy="3185840"/>
          </a:xfrm>
        </p:grpSpPr>
        <p:sp>
          <p:nvSpPr>
            <p:cNvPr id="48" name="矩形 47">
              <a:extLst>
                <a:ext uri="{FF2B5EF4-FFF2-40B4-BE49-F238E27FC236}">
                  <a16:creationId xmlns:a16="http://schemas.microsoft.com/office/drawing/2014/main" id="{3E1C21CB-64E7-A096-F10A-23B40DE2F9D9}"/>
                </a:ext>
              </a:extLst>
            </p:cNvPr>
            <p:cNvSpPr/>
            <p:nvPr/>
          </p:nvSpPr>
          <p:spPr>
            <a:xfrm>
              <a:off x="4550189" y="1818679"/>
              <a:ext cx="72000" cy="475184"/>
            </a:xfrm>
            <a:prstGeom prst="rect">
              <a:avLst/>
            </a:prstGeom>
            <a:solidFill>
              <a:srgbClr val="B1050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楷体" panose="02010609060101010101" pitchFamily="49" charset="-122"/>
                <a:ea typeface="楷体" panose="02010609060101010101" pitchFamily="49" charset="-122"/>
                <a:cs typeface="+mn-ea"/>
                <a:sym typeface="+mn-lt"/>
              </a:endParaRPr>
            </a:p>
          </p:txBody>
        </p:sp>
        <p:cxnSp>
          <p:nvCxnSpPr>
            <p:cNvPr id="3" name="直接连接符 2">
              <a:extLst>
                <a:ext uri="{FF2B5EF4-FFF2-40B4-BE49-F238E27FC236}">
                  <a16:creationId xmlns:a16="http://schemas.microsoft.com/office/drawing/2014/main" id="{3C3846A5-A453-A402-DCAC-46B32D2AF1A1}"/>
                </a:ext>
              </a:extLst>
            </p:cNvPr>
            <p:cNvCxnSpPr/>
            <p:nvPr/>
          </p:nvCxnSpPr>
          <p:spPr>
            <a:xfrm flipH="1" flipV="1">
              <a:off x="4583649" y="2216324"/>
              <a:ext cx="0" cy="2788195"/>
            </a:xfrm>
            <a:prstGeom prst="line">
              <a:avLst/>
            </a:prstGeom>
            <a:ln>
              <a:solidFill>
                <a:srgbClr val="B1050A"/>
              </a:solidFill>
            </a:ln>
          </p:spPr>
          <p:style>
            <a:lnRef idx="1">
              <a:schemeClr val="accent1"/>
            </a:lnRef>
            <a:fillRef idx="0">
              <a:schemeClr val="accent1"/>
            </a:fillRef>
            <a:effectRef idx="0">
              <a:schemeClr val="accent1"/>
            </a:effectRef>
            <a:fontRef idx="minor">
              <a:schemeClr val="tx1"/>
            </a:fontRef>
          </p:style>
        </p:cxnSp>
      </p:grpSp>
      <p:pic>
        <p:nvPicPr>
          <p:cNvPr id="42" name="图片 41">
            <a:extLst>
              <a:ext uri="{FF2B5EF4-FFF2-40B4-BE49-F238E27FC236}">
                <a16:creationId xmlns:a16="http://schemas.microsoft.com/office/drawing/2014/main" id="{3050F480-B382-B1D2-3124-4D56B6E24B39}"/>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585901" y="377337"/>
            <a:ext cx="646232" cy="256054"/>
          </a:xfrm>
          <a:prstGeom prst="rect">
            <a:avLst/>
          </a:prstGeom>
        </p:spPr>
      </p:pic>
    </p:spTree>
    <p:extLst>
      <p:ext uri="{BB962C8B-B14F-4D97-AF65-F5344CB8AC3E}">
        <p14:creationId xmlns:p14="http://schemas.microsoft.com/office/powerpoint/2010/main" val="2828005778"/>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4"/>
          <p:cNvSpPr txBox="1">
            <a:spLocks noChangeArrowheads="1"/>
          </p:cNvSpPr>
          <p:nvPr/>
        </p:nvSpPr>
        <p:spPr bwMode="auto">
          <a:xfrm>
            <a:off x="8342301" y="166086"/>
            <a:ext cx="3690041" cy="5509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04" tIns="45702" rIns="91404" bIns="45702" numCol="1" anchor="ctr" anchorCtr="0" compatLnSpc="1"/>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lvl="0" fontAlgn="base">
              <a:spcBef>
                <a:spcPct val="0"/>
              </a:spcBef>
              <a:spcAft>
                <a:spcPct val="0"/>
              </a:spcAft>
              <a:defRPr/>
            </a:pPr>
            <a:r>
              <a:rPr lang="zh-CN" altLang="en-US" sz="1800" b="0" dirty="0">
                <a:solidFill>
                  <a:srgbClr val="C00000"/>
                </a:solidFill>
                <a:ea typeface="微软雅黑" panose="020B0503020204020204" pitchFamily="34" charset="-122"/>
              </a:rPr>
              <a:t>践行传承：走好新的赶考之路</a:t>
            </a:r>
          </a:p>
        </p:txBody>
      </p:sp>
      <p:pic>
        <p:nvPicPr>
          <p:cNvPr id="51" name="图片 50"/>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5545836"/>
            <a:ext cx="12192000" cy="1312164"/>
          </a:xfrm>
          <a:prstGeom prst="rect">
            <a:avLst/>
          </a:prstGeom>
        </p:spPr>
      </p:pic>
      <p:pic>
        <p:nvPicPr>
          <p:cNvPr id="52" name="图片 51"/>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flipH="1">
            <a:off x="9982200" y="4154312"/>
            <a:ext cx="2209800" cy="2707228"/>
          </a:xfrm>
          <a:prstGeom prst="rect">
            <a:avLst/>
          </a:prstGeom>
        </p:spPr>
      </p:pic>
      <p:sp>
        <p:nvSpPr>
          <p:cNvPr id="66" name="文本框 65"/>
          <p:cNvSpPr txBox="1"/>
          <p:nvPr/>
        </p:nvSpPr>
        <p:spPr>
          <a:xfrm>
            <a:off x="1461404" y="231054"/>
            <a:ext cx="4143804" cy="523220"/>
          </a:xfrm>
          <a:prstGeom prst="rect">
            <a:avLst/>
          </a:prstGeom>
          <a:noFill/>
        </p:spPr>
        <p:txBody>
          <a:bodyPr wrap="square" rtlCol="0">
            <a:spAutoFit/>
          </a:bodyPr>
          <a:lstStyle/>
          <a:p>
            <a:pPr marL="0" marR="0" lvl="0" indent="0" defTabSz="914400" rtl="0" eaLnBrk="1" fontAlgn="auto" latinLnBrk="0" hangingPunct="1">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rgbClr val="C00000"/>
                </a:solidFill>
                <a:effectLst/>
                <a:uLnTx/>
                <a:uFillTx/>
                <a:latin typeface="+mn-ea"/>
                <a:cs typeface="阿里巴巴普惠体 H" panose="00020600040101010101" pitchFamily="18" charset="-122"/>
              </a:rPr>
              <a:t>赶考之路</a:t>
            </a:r>
          </a:p>
        </p:txBody>
      </p:sp>
      <p:sp>
        <p:nvSpPr>
          <p:cNvPr id="38" name="文本框 37"/>
          <p:cNvSpPr txBox="1"/>
          <p:nvPr/>
        </p:nvSpPr>
        <p:spPr>
          <a:xfrm>
            <a:off x="8201681" y="-1362207"/>
            <a:ext cx="2723823" cy="1107996"/>
          </a:xfrm>
          <a:prstGeom prst="rect">
            <a:avLst/>
          </a:prstGeom>
          <a:noFill/>
        </p:spPr>
        <p:txBody>
          <a:bodyPr wrap="none" rtlCol="0">
            <a:spAutoFit/>
          </a:bodyPr>
          <a:lstStyle>
            <a:defPPr>
              <a:defRPr lang="zh-CN"/>
            </a:defPPr>
            <a:lvl1pPr>
              <a:defRPr sz="8000">
                <a:ln w="12700">
                  <a:gradFill>
                    <a:gsLst>
                      <a:gs pos="0">
                        <a:schemeClr val="bg1"/>
                      </a:gs>
                      <a:gs pos="100000">
                        <a:srgbClr val="F1DAB2">
                          <a:alpha val="0"/>
                        </a:srgbClr>
                      </a:gs>
                    </a:gsLst>
                    <a:lin ang="5400000" scaled="1"/>
                  </a:gradFill>
                </a:ln>
                <a:gradFill flip="none" rotWithShape="1">
                  <a:gsLst>
                    <a:gs pos="0">
                      <a:srgbClr val="A60E0B"/>
                    </a:gs>
                    <a:gs pos="100000">
                      <a:srgbClr val="DD2531"/>
                    </a:gs>
                  </a:gsLst>
                  <a:lin ang="16200000" scaled="1"/>
                </a:gradFill>
                <a:effectLst>
                  <a:outerShdw dist="88900" dir="5400000" algn="t" rotWithShape="0">
                    <a:schemeClr val="tx1">
                      <a:lumMod val="95000"/>
                      <a:lumOff val="5000"/>
                      <a:alpha val="8000"/>
                    </a:schemeClr>
                  </a:outerShdw>
                </a:effectLst>
                <a:latin typeface="演示镇魂行楷" panose="00000500000000000000" pitchFamily="2" charset="-122"/>
                <a:ea typeface="演示镇魂行楷" panose="00000500000000000000" pitchFamily="2" charset="-122"/>
              </a:defRPr>
            </a:lvl1p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6600" b="0" i="0" u="none" strike="noStrike" kern="1200" cap="none" spc="0" normalizeH="0" baseline="0" noProof="0">
                <a:ln w="12700">
                  <a:gradFill>
                    <a:gsLst>
                      <a:gs pos="0">
                        <a:prstClr val="white"/>
                      </a:gs>
                      <a:gs pos="100000">
                        <a:srgbClr val="F1DAB2">
                          <a:alpha val="0"/>
                        </a:srgbClr>
                      </a:gs>
                    </a:gsLst>
                    <a:lin ang="5400000" scaled="1"/>
                  </a:gradFill>
                </a:ln>
                <a:blipFill>
                  <a:blip r:embed="rId4"/>
                  <a:stretch>
                    <a:fillRect/>
                  </a:stretch>
                </a:blipFill>
                <a:effectLst/>
                <a:uLnTx/>
                <a:uFillTx/>
                <a:latin typeface="演示镇魂行楷" panose="00000500000000000000" pitchFamily="2" charset="-122"/>
                <a:ea typeface="演示镇魂行楷" panose="00000500000000000000" pitchFamily="2" charset="-122"/>
                <a:cs typeface="+mn-cs"/>
              </a:rPr>
              <a:t>西柏坡</a:t>
            </a:r>
          </a:p>
        </p:txBody>
      </p:sp>
      <p:sp>
        <p:nvSpPr>
          <p:cNvPr id="39" name="标题 1"/>
          <p:cNvSpPr txBox="1"/>
          <p:nvPr/>
        </p:nvSpPr>
        <p:spPr>
          <a:xfrm>
            <a:off x="944863" y="1463733"/>
            <a:ext cx="3396830" cy="63786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1800" b="1" dirty="0">
                <a:solidFill>
                  <a:schemeClr val="tx1">
                    <a:lumMod val="75000"/>
                    <a:lumOff val="25000"/>
                  </a:schemeClr>
                </a:solidFill>
                <a:latin typeface="+mn-ea"/>
                <a:ea typeface="+mn-ea"/>
              </a:rPr>
              <a:t>新时代的“赶考之路”</a:t>
            </a:r>
          </a:p>
        </p:txBody>
      </p:sp>
      <p:cxnSp>
        <p:nvCxnSpPr>
          <p:cNvPr id="23" name="直接连接符 22"/>
          <p:cNvCxnSpPr/>
          <p:nvPr/>
        </p:nvCxnSpPr>
        <p:spPr>
          <a:xfrm flipH="1">
            <a:off x="7890647" y="441551"/>
            <a:ext cx="622068" cy="0"/>
          </a:xfrm>
          <a:prstGeom prst="line">
            <a:avLst/>
          </a:prstGeom>
          <a:ln>
            <a:solidFill>
              <a:srgbClr val="C00000"/>
            </a:solidFill>
            <a:prstDash val="dash"/>
          </a:ln>
        </p:spPr>
        <p:style>
          <a:lnRef idx="1">
            <a:schemeClr val="accent1"/>
          </a:lnRef>
          <a:fillRef idx="0">
            <a:schemeClr val="accent1"/>
          </a:fillRef>
          <a:effectRef idx="0">
            <a:schemeClr val="accent1"/>
          </a:effectRef>
          <a:fontRef idx="minor">
            <a:schemeClr val="tx1"/>
          </a:fontRef>
        </p:style>
      </p:cxnSp>
      <p:sp>
        <p:nvSpPr>
          <p:cNvPr id="37" name="标题 1"/>
          <p:cNvSpPr txBox="1"/>
          <p:nvPr/>
        </p:nvSpPr>
        <p:spPr>
          <a:xfrm>
            <a:off x="944863" y="2407242"/>
            <a:ext cx="10587220" cy="2104845"/>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285750" indent="-285750">
              <a:lnSpc>
                <a:spcPct val="150000"/>
              </a:lnSpc>
              <a:buFont typeface="Wingdings" panose="05000000000000000000" pitchFamily="2" charset="2"/>
              <a:buChar char="l"/>
            </a:pPr>
            <a:r>
              <a:rPr lang="zh-CN" altLang="en-US" sz="1800" dirty="0">
                <a:solidFill>
                  <a:schemeClr val="tx1">
                    <a:lumMod val="75000"/>
                    <a:lumOff val="25000"/>
                  </a:schemeClr>
                </a:solidFill>
                <a:latin typeface="+mn-ea"/>
                <a:ea typeface="+mn-ea"/>
              </a:rPr>
              <a:t>思想上： 始终保持“赶考”的清醒，常怀忧患意识，筑牢思想防线。</a:t>
            </a:r>
          </a:p>
          <a:p>
            <a:pPr marL="285750" indent="-285750">
              <a:lnSpc>
                <a:spcPct val="150000"/>
              </a:lnSpc>
              <a:buFont typeface="Wingdings" panose="05000000000000000000" pitchFamily="2" charset="2"/>
              <a:buChar char="l"/>
            </a:pPr>
            <a:r>
              <a:rPr lang="zh-CN" altLang="en-US" sz="1800" dirty="0">
                <a:solidFill>
                  <a:schemeClr val="tx1">
                    <a:lumMod val="75000"/>
                    <a:lumOff val="25000"/>
                  </a:schemeClr>
                </a:solidFill>
                <a:latin typeface="+mn-ea"/>
                <a:ea typeface="+mn-ea"/>
              </a:rPr>
              <a:t>作风上： 践行“两个务必”，力戒骄娇二气，脚踏实地，勤俭节约。</a:t>
            </a:r>
          </a:p>
          <a:p>
            <a:pPr marL="285750" indent="-285750">
              <a:lnSpc>
                <a:spcPct val="150000"/>
              </a:lnSpc>
              <a:buFont typeface="Wingdings" panose="05000000000000000000" pitchFamily="2" charset="2"/>
              <a:buChar char="l"/>
            </a:pPr>
            <a:r>
              <a:rPr lang="zh-CN" altLang="en-US" sz="1800" dirty="0">
                <a:solidFill>
                  <a:schemeClr val="tx1">
                    <a:lumMod val="75000"/>
                    <a:lumOff val="25000"/>
                  </a:schemeClr>
                </a:solidFill>
                <a:latin typeface="+mn-ea"/>
                <a:ea typeface="+mn-ea"/>
              </a:rPr>
              <a:t>行动上： 敢于担当作为，在自己的岗位上发扬斗争精神，创造新业绩。</a:t>
            </a:r>
          </a:p>
          <a:p>
            <a:pPr marL="285750" indent="-285750">
              <a:lnSpc>
                <a:spcPct val="150000"/>
              </a:lnSpc>
              <a:buFont typeface="Wingdings" panose="05000000000000000000" pitchFamily="2" charset="2"/>
              <a:buChar char="l"/>
            </a:pPr>
            <a:r>
              <a:rPr lang="zh-CN" altLang="en-US" sz="1800" dirty="0">
                <a:solidFill>
                  <a:schemeClr val="tx1">
                    <a:lumMod val="75000"/>
                    <a:lumOff val="25000"/>
                  </a:schemeClr>
                </a:solidFill>
                <a:latin typeface="+mn-ea"/>
                <a:ea typeface="+mn-ea"/>
              </a:rPr>
              <a:t>目标上： 将个人奋斗融入国家发展，为实现中华民族伟大复兴的中国梦贡献力量。</a:t>
            </a:r>
          </a:p>
        </p:txBody>
      </p:sp>
      <p:grpSp>
        <p:nvGrpSpPr>
          <p:cNvPr id="8" name="组合 7"/>
          <p:cNvGrpSpPr/>
          <p:nvPr/>
        </p:nvGrpSpPr>
        <p:grpSpPr>
          <a:xfrm rot="16200000">
            <a:off x="2610002" y="472680"/>
            <a:ext cx="72000" cy="3185840"/>
            <a:chOff x="4550189" y="1818679"/>
            <a:chExt cx="72000" cy="3185840"/>
          </a:xfrm>
        </p:grpSpPr>
        <p:sp>
          <p:nvSpPr>
            <p:cNvPr id="48" name="矩形 47"/>
            <p:cNvSpPr/>
            <p:nvPr/>
          </p:nvSpPr>
          <p:spPr>
            <a:xfrm>
              <a:off x="4550189" y="1818679"/>
              <a:ext cx="72000" cy="475184"/>
            </a:xfrm>
            <a:prstGeom prst="rect">
              <a:avLst/>
            </a:prstGeom>
            <a:solidFill>
              <a:srgbClr val="B1050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楷体" panose="02010609060101010101" pitchFamily="49" charset="-122"/>
                <a:ea typeface="楷体" panose="02010609060101010101" pitchFamily="49" charset="-122"/>
                <a:cs typeface="+mn-ea"/>
                <a:sym typeface="+mn-lt"/>
              </a:endParaRPr>
            </a:p>
          </p:txBody>
        </p:sp>
        <p:cxnSp>
          <p:nvCxnSpPr>
            <p:cNvPr id="3" name="直接连接符 2"/>
            <p:cNvCxnSpPr/>
            <p:nvPr/>
          </p:nvCxnSpPr>
          <p:spPr>
            <a:xfrm flipH="1" flipV="1">
              <a:off x="4583649" y="2216324"/>
              <a:ext cx="0" cy="2788195"/>
            </a:xfrm>
            <a:prstGeom prst="line">
              <a:avLst/>
            </a:prstGeom>
            <a:ln>
              <a:solidFill>
                <a:srgbClr val="B1050A"/>
              </a:solidFill>
            </a:ln>
          </p:spPr>
          <p:style>
            <a:lnRef idx="1">
              <a:schemeClr val="accent1"/>
            </a:lnRef>
            <a:fillRef idx="0">
              <a:schemeClr val="accent1"/>
            </a:fillRef>
            <a:effectRef idx="0">
              <a:schemeClr val="accent1"/>
            </a:effectRef>
            <a:fontRef idx="minor">
              <a:schemeClr val="tx1"/>
            </a:fontRef>
          </p:style>
        </p:cxnSp>
      </p:grpSp>
      <p:pic>
        <p:nvPicPr>
          <p:cNvPr id="42" name="图片 41"/>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585901" y="377337"/>
            <a:ext cx="646232" cy="256054"/>
          </a:xfrm>
          <a:prstGeom prst="rect">
            <a:avLst/>
          </a:prstGeom>
        </p:spPr>
      </p:pic>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4"/>
          <p:cNvSpPr txBox="1">
            <a:spLocks noChangeArrowheads="1"/>
          </p:cNvSpPr>
          <p:nvPr/>
        </p:nvSpPr>
        <p:spPr bwMode="auto">
          <a:xfrm>
            <a:off x="8342301" y="166086"/>
            <a:ext cx="3690041" cy="5509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04" tIns="45702" rIns="91404" bIns="45702" numCol="1" anchor="ctr" anchorCtr="0" compatLnSpc="1"/>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rgbClr val="C00000"/>
                </a:solidFill>
                <a:effectLst/>
                <a:uLnTx/>
                <a:uFillTx/>
                <a:ea typeface="微软雅黑" panose="020B0503020204020204" pitchFamily="34" charset="-122"/>
                <a:cs typeface="+mj-cs"/>
              </a:rPr>
              <a:t>践行传承：走好新的赶考之路</a:t>
            </a:r>
          </a:p>
        </p:txBody>
      </p:sp>
      <p:pic>
        <p:nvPicPr>
          <p:cNvPr id="51" name="图片 50"/>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5545836"/>
            <a:ext cx="12192000" cy="1312164"/>
          </a:xfrm>
          <a:prstGeom prst="rect">
            <a:avLst/>
          </a:prstGeom>
        </p:spPr>
      </p:pic>
      <p:pic>
        <p:nvPicPr>
          <p:cNvPr id="52" name="图片 51"/>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flipH="1">
            <a:off x="9982200" y="4154312"/>
            <a:ext cx="2209800" cy="2707228"/>
          </a:xfrm>
          <a:prstGeom prst="rect">
            <a:avLst/>
          </a:prstGeom>
        </p:spPr>
      </p:pic>
      <p:sp>
        <p:nvSpPr>
          <p:cNvPr id="66" name="文本框 65"/>
          <p:cNvSpPr txBox="1"/>
          <p:nvPr/>
        </p:nvSpPr>
        <p:spPr>
          <a:xfrm>
            <a:off x="1461404" y="231054"/>
            <a:ext cx="4143804" cy="523220"/>
          </a:xfrm>
          <a:prstGeom prst="rect">
            <a:avLst/>
          </a:prstGeom>
          <a:noFill/>
        </p:spPr>
        <p:txBody>
          <a:bodyPr wrap="square" rtlCol="0">
            <a:spAutoFit/>
          </a:bodyPr>
          <a:lstStyle/>
          <a:p>
            <a:pPr marL="0" marR="0" lvl="0" indent="0" defTabSz="914400" rtl="0" eaLnBrk="1" fontAlgn="auto" latinLnBrk="0" hangingPunct="1">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rgbClr val="C00000"/>
                </a:solidFill>
                <a:effectLst/>
                <a:uLnTx/>
                <a:uFillTx/>
                <a:latin typeface="+mn-ea"/>
                <a:cs typeface="阿里巴巴普惠体 H" panose="00020600040101010101" pitchFamily="18" charset="-122"/>
              </a:rPr>
              <a:t>赶考之路</a:t>
            </a:r>
          </a:p>
        </p:txBody>
      </p:sp>
      <p:cxnSp>
        <p:nvCxnSpPr>
          <p:cNvPr id="23" name="直接连接符 22"/>
          <p:cNvCxnSpPr/>
          <p:nvPr/>
        </p:nvCxnSpPr>
        <p:spPr>
          <a:xfrm flipH="1">
            <a:off x="7890647" y="441551"/>
            <a:ext cx="622068" cy="0"/>
          </a:xfrm>
          <a:prstGeom prst="line">
            <a:avLst/>
          </a:prstGeom>
          <a:ln>
            <a:solidFill>
              <a:srgbClr val="C00000"/>
            </a:solidFill>
            <a:prstDash val="dash"/>
          </a:ln>
        </p:spPr>
        <p:style>
          <a:lnRef idx="1">
            <a:schemeClr val="accent1"/>
          </a:lnRef>
          <a:fillRef idx="0">
            <a:schemeClr val="accent1"/>
          </a:fillRef>
          <a:effectRef idx="0">
            <a:schemeClr val="accent1"/>
          </a:effectRef>
          <a:fontRef idx="minor">
            <a:schemeClr val="tx1"/>
          </a:fontRef>
        </p:style>
      </p:cxnSp>
      <p:sp>
        <p:nvSpPr>
          <p:cNvPr id="36" name="标题 1"/>
          <p:cNvSpPr txBox="1"/>
          <p:nvPr/>
        </p:nvSpPr>
        <p:spPr>
          <a:xfrm>
            <a:off x="1717135" y="3407943"/>
            <a:ext cx="8587607" cy="2123658"/>
          </a:xfrm>
          <a:prstGeom prst="rect">
            <a:avLst/>
          </a:prstGeom>
          <a:noFill/>
        </p:spPr>
        <p:txBody>
          <a:bodyPr wrap="none" rtlCol="0">
            <a:spAutoFit/>
          </a:bodyPr>
          <a:lstStyle>
            <a:defPPr>
              <a:defRPr lang="zh-CN"/>
            </a:defPPr>
            <a:lvl1pPr marR="0" lvl="0" indent="0" fontAlgn="auto">
              <a:lnSpc>
                <a:spcPct val="100000"/>
              </a:lnSpc>
              <a:spcBef>
                <a:spcPct val="0"/>
              </a:spcBef>
              <a:spcAft>
                <a:spcPct val="0"/>
              </a:spcAft>
              <a:buClrTx/>
              <a:buSzTx/>
              <a:buFontTx/>
              <a:buNone/>
              <a:defRPr kumimoji="0" sz="6600" b="0" i="0" u="none" strike="noStrike" cap="none" spc="0" normalizeH="0" baseline="0">
                <a:ln w="12700">
                  <a:gradFill>
                    <a:gsLst>
                      <a:gs pos="0">
                        <a:prstClr val="white"/>
                      </a:gs>
                      <a:gs pos="100000">
                        <a:srgbClr val="F1DAB2">
                          <a:alpha val="0"/>
                        </a:srgbClr>
                      </a:gs>
                    </a:gsLst>
                    <a:lin ang="5400000" scaled="1"/>
                  </a:gradFill>
                </a:ln>
                <a:blipFill>
                  <a:blip r:embed="rId4"/>
                  <a:stretch>
                    <a:fillRect/>
                  </a:stretch>
                </a:blipFill>
                <a:effectLst/>
                <a:uLnTx/>
                <a:uFillTx/>
                <a:latin typeface="演示镇魂行楷" panose="00000500000000000000" pitchFamily="2" charset="-122"/>
                <a:ea typeface="演示镇魂行楷" panose="00000500000000000000" pitchFamily="2" charset="-122"/>
              </a:defRPr>
            </a:lvl1pPr>
          </a:lstStyle>
          <a:p>
            <a:pPr algn="ctr">
              <a:lnSpc>
                <a:spcPct val="200000"/>
              </a:lnSpc>
            </a:pPr>
            <a:r>
              <a:rPr lang="zh-CN" altLang="en-US" sz="3600"/>
              <a:t>让我们一起努力 ，去建设我们的祖国</a:t>
            </a:r>
          </a:p>
          <a:p>
            <a:pPr algn="ctr">
              <a:lnSpc>
                <a:spcPct val="200000"/>
              </a:lnSpc>
            </a:pPr>
            <a:r>
              <a:rPr lang="zh-CN" altLang="en-US" sz="3600"/>
              <a:t>弘扬西柏坡精神，继承发扬爱国主义品德 </a:t>
            </a:r>
          </a:p>
        </p:txBody>
      </p:sp>
      <p:pic>
        <p:nvPicPr>
          <p:cNvPr id="40" name="图片 39"/>
          <p:cNvPicPr>
            <a:picLocks noChangeAspect="1"/>
          </p:cNvPicPr>
          <p:nvPr/>
        </p:nvPicPr>
        <p:blipFill>
          <a:blip r:embed="rId5" cstate="email">
            <a:extLst>
              <a:ext uri="{28A0092B-C50C-407E-A947-70E740481C1C}">
                <a14:useLocalDpi xmlns:a14="http://schemas.microsoft.com/office/drawing/2010/main"/>
              </a:ext>
            </a:extLst>
          </a:blip>
          <a:srcRect/>
          <a:stretch>
            <a:fillRect/>
          </a:stretch>
        </p:blipFill>
        <p:spPr>
          <a:xfrm>
            <a:off x="9647283" y="2804966"/>
            <a:ext cx="1655164" cy="2367686"/>
          </a:xfrm>
          <a:prstGeom prst="rect">
            <a:avLst/>
          </a:prstGeom>
        </p:spPr>
      </p:pic>
      <p:pic>
        <p:nvPicPr>
          <p:cNvPr id="42" name="图片 41"/>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585901" y="377337"/>
            <a:ext cx="646232" cy="256054"/>
          </a:xfrm>
          <a:prstGeom prst="rect">
            <a:avLst/>
          </a:prstGeom>
        </p:spPr>
      </p:pic>
      <p:pic>
        <p:nvPicPr>
          <p:cNvPr id="3" name="图片 2">
            <a:extLst>
              <a:ext uri="{FF2B5EF4-FFF2-40B4-BE49-F238E27FC236}">
                <a16:creationId xmlns:a16="http://schemas.microsoft.com/office/drawing/2014/main" id="{95208498-22CF-F3B0-7753-4FF2CED5C15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461404" y="992482"/>
            <a:ext cx="3277854" cy="2728183"/>
          </a:xfrm>
          <a:prstGeom prst="snip2DiagRect">
            <a:avLst/>
          </a:prstGeom>
          <a:solidFill>
            <a:srgbClr val="FFFFFF">
              <a:shade val="85000"/>
            </a:srgbClr>
          </a:solidFill>
          <a:ln w="88900" cap="sq">
            <a:solidFill>
              <a:srgbClr val="FFFFFF"/>
            </a:solidFill>
            <a:miter lim="800000"/>
          </a:ln>
          <a:effectLst>
            <a:outerShdw blurRad="50800" dist="38100" dir="8100000" algn="tr" rotWithShape="0">
              <a:prstClr val="black">
                <a:alpha val="40000"/>
              </a:prstClr>
            </a:outerShdw>
          </a:effectLst>
          <a:scene3d>
            <a:camera prst="orthographicFront"/>
            <a:lightRig rig="twoPt" dir="t">
              <a:rot lat="0" lon="0" rev="7200000"/>
            </a:lightRig>
          </a:scene3d>
          <a:sp3d>
            <a:bevelT w="25400" h="19050"/>
            <a:contourClr>
              <a:srgbClr val="FFFFFF"/>
            </a:contourClr>
          </a:sp3d>
        </p:spPr>
      </p:pic>
      <p:sp>
        <p:nvSpPr>
          <p:cNvPr id="4" name="文本框 3">
            <a:extLst>
              <a:ext uri="{FF2B5EF4-FFF2-40B4-BE49-F238E27FC236}">
                <a16:creationId xmlns:a16="http://schemas.microsoft.com/office/drawing/2014/main" id="{DE034B79-E737-D735-452C-0603EBCF6DFC}"/>
              </a:ext>
            </a:extLst>
          </p:cNvPr>
          <p:cNvSpPr txBox="1"/>
          <p:nvPr/>
        </p:nvSpPr>
        <p:spPr>
          <a:xfrm>
            <a:off x="4875481" y="1826560"/>
            <a:ext cx="6652400" cy="1015663"/>
          </a:xfrm>
          <a:prstGeom prst="rect">
            <a:avLst/>
          </a:prstGeom>
          <a:noFill/>
        </p:spPr>
        <p:txBody>
          <a:bodyPr wrap="square" rtlCol="0">
            <a:spAutoFit/>
          </a:bodyPr>
          <a:lstStyle/>
          <a:p>
            <a:pPr algn="ctr"/>
            <a:r>
              <a:rPr lang="zh-CN" altLang="en-US" sz="2000" b="1" dirty="0"/>
              <a:t>习总书记说“</a:t>
            </a:r>
            <a:r>
              <a:rPr lang="zh-CN" altLang="zh-CN" sz="2000" b="1" dirty="0"/>
              <a:t>过去一百年，中国共产党向人民、向历史交出了一份优异的答卷。现在，中国共产党团结带领中国人民又踏上了实现第二个百年奋斗目标新的赶考之路。</a:t>
            </a:r>
            <a:r>
              <a:rPr lang="en-US" altLang="zh-CN" sz="2000" b="1" dirty="0"/>
              <a:t>”</a:t>
            </a:r>
            <a:endParaRPr lang="zh-CN" altLang="en-US" sz="2000" b="1" dirty="0"/>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descr="图片包含 游戏机, 花, 雏菊, 灯光&#10;&#10;描述已自动生成"/>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a:xfrm flipV="1">
            <a:off x="8933012" y="2536295"/>
            <a:ext cx="3258988" cy="4321703"/>
          </a:xfrm>
          <a:prstGeom prst="rect">
            <a:avLst/>
          </a:prstGeom>
        </p:spPr>
      </p:pic>
      <p:sp>
        <p:nvSpPr>
          <p:cNvPr id="18" name="文本框 17"/>
          <p:cNvSpPr txBox="1"/>
          <p:nvPr/>
        </p:nvSpPr>
        <p:spPr>
          <a:xfrm>
            <a:off x="3541455" y="1910442"/>
            <a:ext cx="5109091" cy="1569660"/>
          </a:xfrm>
          <a:prstGeom prst="rect">
            <a:avLst/>
          </a:prstGeom>
          <a:noFill/>
        </p:spPr>
        <p:txBody>
          <a:bodyPr wrap="none" rtlCol="0">
            <a:spAutoFit/>
          </a:bodyPr>
          <a:lstStyle>
            <a:defPPr>
              <a:defRPr lang="zh-CN"/>
            </a:defPPr>
            <a:lvl1pPr>
              <a:defRPr sz="8000">
                <a:ln w="12700">
                  <a:gradFill>
                    <a:gsLst>
                      <a:gs pos="0">
                        <a:schemeClr val="bg1"/>
                      </a:gs>
                      <a:gs pos="100000">
                        <a:srgbClr val="F1DAB2">
                          <a:alpha val="0"/>
                        </a:srgbClr>
                      </a:gs>
                    </a:gsLst>
                    <a:lin ang="5400000" scaled="1"/>
                  </a:gradFill>
                </a:ln>
                <a:gradFill flip="none" rotWithShape="1">
                  <a:gsLst>
                    <a:gs pos="0">
                      <a:srgbClr val="A60E0B"/>
                    </a:gs>
                    <a:gs pos="100000">
                      <a:srgbClr val="DD2531"/>
                    </a:gs>
                  </a:gsLst>
                  <a:lin ang="16200000" scaled="1"/>
                </a:gradFill>
                <a:effectLst>
                  <a:outerShdw dist="88900" dir="5400000" algn="t" rotWithShape="0">
                    <a:schemeClr val="tx1">
                      <a:lumMod val="95000"/>
                      <a:lumOff val="5000"/>
                      <a:alpha val="8000"/>
                    </a:schemeClr>
                  </a:outerShdw>
                </a:effectLst>
                <a:latin typeface="演示镇魂行楷" panose="00000500000000000000" pitchFamily="2" charset="-122"/>
                <a:ea typeface="演示镇魂行楷" panose="00000500000000000000" pitchFamily="2" charset="-122"/>
              </a:defRPr>
            </a:lvl1p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zh-CN" altLang="en-US" sz="9600" b="0" i="0" u="none" strike="noStrike" kern="1200" cap="none" spc="0" normalizeH="0" baseline="0" noProof="0">
                <a:ln w="12700">
                  <a:gradFill>
                    <a:gsLst>
                      <a:gs pos="0">
                        <a:prstClr val="white"/>
                      </a:gs>
                      <a:gs pos="100000">
                        <a:srgbClr val="F1DAB2">
                          <a:alpha val="0"/>
                        </a:srgbClr>
                      </a:gs>
                    </a:gsLst>
                    <a:lin ang="5400000" scaled="1"/>
                  </a:gradFill>
                </a:ln>
                <a:blipFill>
                  <a:blip r:embed="rId3"/>
                  <a:stretch>
                    <a:fillRect/>
                  </a:stretch>
                </a:blipFill>
                <a:effectLst/>
                <a:uLnTx/>
                <a:uFillTx/>
                <a:latin typeface="演示镇魂行楷" panose="00000500000000000000" pitchFamily="2" charset="-122"/>
                <a:ea typeface="演示镇魂行楷" panose="00000500000000000000" pitchFamily="2" charset="-122"/>
                <a:cs typeface="+mn-cs"/>
              </a:rPr>
              <a:t>感谢观看</a:t>
            </a:r>
          </a:p>
        </p:txBody>
      </p:sp>
      <p:pic>
        <p:nvPicPr>
          <p:cNvPr id="30" name="图片 29"/>
          <p:cNvPicPr>
            <a:picLocks noChangeAspect="1"/>
          </p:cNvPicPr>
          <p:nvPr/>
        </p:nvPicPr>
        <p:blipFill>
          <a:blip r:embed="rId4" cstate="email">
            <a:alphaModFix amt="85000"/>
            <a:biLevel thresh="25000"/>
            <a:extLst>
              <a:ext uri="{28A0092B-C50C-407E-A947-70E740481C1C}">
                <a14:useLocalDpi xmlns:a14="http://schemas.microsoft.com/office/drawing/2010/main"/>
              </a:ext>
            </a:extLst>
          </a:blip>
          <a:stretch>
            <a:fillRect/>
          </a:stretch>
        </p:blipFill>
        <p:spPr>
          <a:xfrm>
            <a:off x="6275248" y="2680814"/>
            <a:ext cx="873739" cy="799288"/>
          </a:xfrm>
          <a:prstGeom prst="rect">
            <a:avLst/>
          </a:prstGeom>
        </p:spPr>
      </p:pic>
      <p:pic>
        <p:nvPicPr>
          <p:cNvPr id="33" name="图片 32"/>
          <p:cNvPicPr>
            <a:picLocks noChangeAspect="1"/>
          </p:cNvPicPr>
          <p:nvPr/>
        </p:nvPicPr>
        <p:blipFill>
          <a:blip r:embed="rId5" cstate="email">
            <a:extLst>
              <a:ext uri="{28A0092B-C50C-407E-A947-70E740481C1C}">
                <a14:useLocalDpi xmlns:a14="http://schemas.microsoft.com/office/drawing/2010/main"/>
              </a:ext>
            </a:extLst>
          </a:blip>
          <a:srcRect/>
          <a:stretch>
            <a:fillRect/>
          </a:stretch>
        </p:blipFill>
        <p:spPr>
          <a:xfrm flipH="1">
            <a:off x="-2" y="2017486"/>
            <a:ext cx="2633652" cy="4840512"/>
          </a:xfrm>
          <a:prstGeom prst="rect">
            <a:avLst/>
          </a:prstGeom>
        </p:spPr>
      </p:pic>
      <p:pic>
        <p:nvPicPr>
          <p:cNvPr id="41" name="图片 40" descr="卡通人物&#10;&#10;低可信度描述已自动生成"/>
          <p:cNvPicPr>
            <a:picLocks noChangeAspect="1"/>
          </p:cNvPicPr>
          <p:nvPr/>
        </p:nvPicPr>
        <p:blipFill>
          <a:blip r:embed="rId6" cstate="email">
            <a:extLst>
              <a:ext uri="{28A0092B-C50C-407E-A947-70E740481C1C}">
                <a14:useLocalDpi xmlns:a14="http://schemas.microsoft.com/office/drawing/2010/main"/>
              </a:ext>
            </a:extLst>
          </a:blip>
          <a:srcRect/>
          <a:stretch>
            <a:fillRect/>
          </a:stretch>
        </p:blipFill>
        <p:spPr>
          <a:xfrm>
            <a:off x="2228720" y="1750458"/>
            <a:ext cx="809860" cy="1138904"/>
          </a:xfrm>
          <a:custGeom>
            <a:avLst/>
            <a:gdLst>
              <a:gd name="connsiteX0" fmla="*/ 644690 w 809860"/>
              <a:gd name="connsiteY0" fmla="*/ 66844 h 1138904"/>
              <a:gd name="connsiteX1" fmla="*/ 669027 w 809860"/>
              <a:gd name="connsiteY1" fmla="*/ 73023 h 1138904"/>
              <a:gd name="connsiteX2" fmla="*/ 649968 w 809860"/>
              <a:gd name="connsiteY2" fmla="*/ 69729 h 1138904"/>
              <a:gd name="connsiteX3" fmla="*/ 304800 w 809860"/>
              <a:gd name="connsiteY3" fmla="*/ 0 h 1138904"/>
              <a:gd name="connsiteX4" fmla="*/ 409575 w 809860"/>
              <a:gd name="connsiteY4" fmla="*/ 19050 h 1138904"/>
              <a:gd name="connsiteX5" fmla="*/ 457200 w 809860"/>
              <a:gd name="connsiteY5" fmla="*/ 28575 h 1138904"/>
              <a:gd name="connsiteX6" fmla="*/ 533400 w 809860"/>
              <a:gd name="connsiteY6" fmla="*/ 47625 h 1138904"/>
              <a:gd name="connsiteX7" fmla="*/ 624499 w 809860"/>
              <a:gd name="connsiteY7" fmla="*/ 65326 h 1138904"/>
              <a:gd name="connsiteX8" fmla="*/ 649968 w 809860"/>
              <a:gd name="connsiteY8" fmla="*/ 69729 h 1138904"/>
              <a:gd name="connsiteX9" fmla="*/ 653805 w 809860"/>
              <a:gd name="connsiteY9" fmla="*/ 71826 h 1138904"/>
              <a:gd name="connsiteX10" fmla="*/ 695325 w 809860"/>
              <a:gd name="connsiteY10" fmla="*/ 85725 h 1138904"/>
              <a:gd name="connsiteX11" fmla="*/ 756294 w 809860"/>
              <a:gd name="connsiteY11" fmla="*/ 102682 h 1138904"/>
              <a:gd name="connsiteX12" fmla="*/ 809860 w 809860"/>
              <a:gd name="connsiteY12" fmla="*/ 117233 h 1138904"/>
              <a:gd name="connsiteX13" fmla="*/ 809860 w 809860"/>
              <a:gd name="connsiteY13" fmla="*/ 1138904 h 1138904"/>
              <a:gd name="connsiteX14" fmla="*/ 390986 w 809860"/>
              <a:gd name="connsiteY14" fmla="*/ 1138904 h 1138904"/>
              <a:gd name="connsiteX15" fmla="*/ 388728 w 809860"/>
              <a:gd name="connsiteY15" fmla="*/ 1138349 h 1138904"/>
              <a:gd name="connsiteX16" fmla="*/ 257175 w 809860"/>
              <a:gd name="connsiteY16" fmla="*/ 1095375 h 1138904"/>
              <a:gd name="connsiteX17" fmla="*/ 85725 w 809860"/>
              <a:gd name="connsiteY17" fmla="*/ 971550 h 1138904"/>
              <a:gd name="connsiteX18" fmla="*/ 9525 w 809860"/>
              <a:gd name="connsiteY18" fmla="*/ 790575 h 1138904"/>
              <a:gd name="connsiteX19" fmla="*/ 0 w 809860"/>
              <a:gd name="connsiteY19" fmla="*/ 542925 h 1138904"/>
              <a:gd name="connsiteX20" fmla="*/ 28575 w 809860"/>
              <a:gd name="connsiteY20" fmla="*/ 342900 h 1138904"/>
              <a:gd name="connsiteX21" fmla="*/ 304800 w 809860"/>
              <a:gd name="connsiteY21" fmla="*/ 0 h 1138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809860" h="1138904">
                <a:moveTo>
                  <a:pt x="644690" y="66844"/>
                </a:moveTo>
                <a:cubicBezTo>
                  <a:pt x="648290" y="64746"/>
                  <a:pt x="703202" y="78019"/>
                  <a:pt x="669027" y="73023"/>
                </a:cubicBezTo>
                <a:lnTo>
                  <a:pt x="649968" y="69729"/>
                </a:lnTo>
                <a:close/>
                <a:moveTo>
                  <a:pt x="304800" y="0"/>
                </a:moveTo>
                <a:cubicBezTo>
                  <a:pt x="322263" y="3175"/>
                  <a:pt x="323688" y="-770"/>
                  <a:pt x="409575" y="19050"/>
                </a:cubicBezTo>
                <a:cubicBezTo>
                  <a:pt x="425350" y="22690"/>
                  <a:pt x="441425" y="24935"/>
                  <a:pt x="457200" y="28575"/>
                </a:cubicBezTo>
                <a:cubicBezTo>
                  <a:pt x="482711" y="34462"/>
                  <a:pt x="507727" y="42490"/>
                  <a:pt x="533400" y="47625"/>
                </a:cubicBezTo>
                <a:cubicBezTo>
                  <a:pt x="572991" y="55543"/>
                  <a:pt x="602626" y="61268"/>
                  <a:pt x="624499" y="65326"/>
                </a:cubicBezTo>
                <a:lnTo>
                  <a:pt x="649968" y="69729"/>
                </a:lnTo>
                <a:lnTo>
                  <a:pt x="653805" y="71826"/>
                </a:lnTo>
                <a:cubicBezTo>
                  <a:pt x="661513" y="74797"/>
                  <a:pt x="674622" y="79255"/>
                  <a:pt x="695325" y="85725"/>
                </a:cubicBezTo>
                <a:cubicBezTo>
                  <a:pt x="716767" y="92426"/>
                  <a:pt x="736916" y="97692"/>
                  <a:pt x="756294" y="102682"/>
                </a:cubicBezTo>
                <a:lnTo>
                  <a:pt x="809860" y="117233"/>
                </a:lnTo>
                <a:lnTo>
                  <a:pt x="809860" y="1138904"/>
                </a:lnTo>
                <a:lnTo>
                  <a:pt x="390986" y="1138904"/>
                </a:lnTo>
                <a:lnTo>
                  <a:pt x="388728" y="1138349"/>
                </a:lnTo>
                <a:cubicBezTo>
                  <a:pt x="343679" y="1127274"/>
                  <a:pt x="299229" y="1114574"/>
                  <a:pt x="257175" y="1095375"/>
                </a:cubicBezTo>
                <a:cubicBezTo>
                  <a:pt x="193045" y="1066098"/>
                  <a:pt x="138779" y="1017972"/>
                  <a:pt x="85725" y="971550"/>
                </a:cubicBezTo>
                <a:cubicBezTo>
                  <a:pt x="23605" y="917195"/>
                  <a:pt x="15998" y="870414"/>
                  <a:pt x="9525" y="790575"/>
                </a:cubicBezTo>
                <a:cubicBezTo>
                  <a:pt x="2849" y="708234"/>
                  <a:pt x="3175" y="625475"/>
                  <a:pt x="0" y="542925"/>
                </a:cubicBezTo>
                <a:cubicBezTo>
                  <a:pt x="4616" y="496768"/>
                  <a:pt x="13208" y="385159"/>
                  <a:pt x="28575" y="342900"/>
                </a:cubicBezTo>
                <a:cubicBezTo>
                  <a:pt x="77403" y="208622"/>
                  <a:pt x="221374" y="90680"/>
                  <a:pt x="304800" y="0"/>
                </a:cubicBezTo>
                <a:close/>
              </a:path>
            </a:pathLst>
          </a:custGeom>
        </p:spPr>
      </p:pic>
      <p:pic>
        <p:nvPicPr>
          <p:cNvPr id="43" name="图片 42" descr="卡通人物&#10;&#10;低可信度描述已自动生成"/>
          <p:cNvPicPr>
            <a:picLocks noChangeAspect="1"/>
          </p:cNvPicPr>
          <p:nvPr/>
        </p:nvPicPr>
        <p:blipFill>
          <a:blip r:embed="rId7" cstate="email">
            <a:extLst>
              <a:ext uri="{28A0092B-C50C-407E-A947-70E740481C1C}">
                <a14:useLocalDpi xmlns:a14="http://schemas.microsoft.com/office/drawing/2010/main"/>
              </a:ext>
            </a:extLst>
          </a:blip>
          <a:srcRect/>
          <a:stretch>
            <a:fillRect/>
          </a:stretch>
        </p:blipFill>
        <p:spPr>
          <a:xfrm>
            <a:off x="3791552" y="1234154"/>
            <a:ext cx="920864" cy="1032608"/>
          </a:xfrm>
          <a:custGeom>
            <a:avLst/>
            <a:gdLst>
              <a:gd name="connsiteX0" fmla="*/ 175240 w 789706"/>
              <a:gd name="connsiteY0" fmla="*/ 0 h 885534"/>
              <a:gd name="connsiteX1" fmla="*/ 413365 w 789706"/>
              <a:gd name="connsiteY1" fmla="*/ 23812 h 885534"/>
              <a:gd name="connsiteX2" fmla="*/ 513378 w 789706"/>
              <a:gd name="connsiteY2" fmla="*/ 42862 h 885534"/>
              <a:gd name="connsiteX3" fmla="*/ 594340 w 789706"/>
              <a:gd name="connsiteY3" fmla="*/ 85725 h 885534"/>
              <a:gd name="connsiteX4" fmla="*/ 665778 w 789706"/>
              <a:gd name="connsiteY4" fmla="*/ 133350 h 885534"/>
              <a:gd name="connsiteX5" fmla="*/ 746740 w 789706"/>
              <a:gd name="connsiteY5" fmla="*/ 223837 h 885534"/>
              <a:gd name="connsiteX6" fmla="*/ 751503 w 789706"/>
              <a:gd name="connsiteY6" fmla="*/ 276225 h 885534"/>
              <a:gd name="connsiteX7" fmla="*/ 761028 w 789706"/>
              <a:gd name="connsiteY7" fmla="*/ 328612 h 885534"/>
              <a:gd name="connsiteX8" fmla="*/ 775315 w 789706"/>
              <a:gd name="connsiteY8" fmla="*/ 390525 h 885534"/>
              <a:gd name="connsiteX9" fmla="*/ 789603 w 789706"/>
              <a:gd name="connsiteY9" fmla="*/ 633412 h 885534"/>
              <a:gd name="connsiteX10" fmla="*/ 722928 w 789706"/>
              <a:gd name="connsiteY10" fmla="*/ 819150 h 885534"/>
              <a:gd name="connsiteX11" fmla="*/ 651490 w 789706"/>
              <a:gd name="connsiteY11" fmla="*/ 866775 h 885534"/>
              <a:gd name="connsiteX12" fmla="*/ 370503 w 789706"/>
              <a:gd name="connsiteY12" fmla="*/ 871537 h 885534"/>
              <a:gd name="connsiteX13" fmla="*/ 32365 w 789706"/>
              <a:gd name="connsiteY13" fmla="*/ 847725 h 885534"/>
              <a:gd name="connsiteX14" fmla="*/ 0 w 789706"/>
              <a:gd name="connsiteY14" fmla="*/ 836068 h 885534"/>
              <a:gd name="connsiteX15" fmla="*/ 0 w 789706"/>
              <a:gd name="connsiteY15" fmla="*/ 5429 h 885534"/>
              <a:gd name="connsiteX16" fmla="*/ 53585 w 789706"/>
              <a:gd name="connsiteY16" fmla="*/ 2184 h 885534"/>
              <a:gd name="connsiteX17" fmla="*/ 175240 w 789706"/>
              <a:gd name="connsiteY17" fmla="*/ 0 h 885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89706" h="885534">
                <a:moveTo>
                  <a:pt x="175240" y="0"/>
                </a:moveTo>
                <a:cubicBezTo>
                  <a:pt x="254792" y="6629"/>
                  <a:pt x="334319" y="12039"/>
                  <a:pt x="413365" y="23812"/>
                </a:cubicBezTo>
                <a:cubicBezTo>
                  <a:pt x="446932" y="28811"/>
                  <a:pt x="481268" y="31877"/>
                  <a:pt x="513378" y="42862"/>
                </a:cubicBezTo>
                <a:cubicBezTo>
                  <a:pt x="542270" y="52746"/>
                  <a:pt x="568083" y="70135"/>
                  <a:pt x="594340" y="85725"/>
                </a:cubicBezTo>
                <a:cubicBezTo>
                  <a:pt x="618948" y="100336"/>
                  <a:pt x="642671" y="116464"/>
                  <a:pt x="665778" y="133350"/>
                </a:cubicBezTo>
                <a:cubicBezTo>
                  <a:pt x="701149" y="159198"/>
                  <a:pt x="732276" y="180445"/>
                  <a:pt x="746740" y="223837"/>
                </a:cubicBezTo>
                <a:cubicBezTo>
                  <a:pt x="752285" y="240472"/>
                  <a:pt x="749134" y="258851"/>
                  <a:pt x="751503" y="276225"/>
                </a:cubicBezTo>
                <a:cubicBezTo>
                  <a:pt x="753901" y="293811"/>
                  <a:pt x="757408" y="311236"/>
                  <a:pt x="761028" y="328612"/>
                </a:cubicBezTo>
                <a:cubicBezTo>
                  <a:pt x="765348" y="349347"/>
                  <a:pt x="773338" y="369437"/>
                  <a:pt x="775315" y="390525"/>
                </a:cubicBezTo>
                <a:cubicBezTo>
                  <a:pt x="782885" y="471273"/>
                  <a:pt x="790699" y="552317"/>
                  <a:pt x="789603" y="633412"/>
                </a:cubicBezTo>
                <a:cubicBezTo>
                  <a:pt x="788217" y="735986"/>
                  <a:pt x="771771" y="741001"/>
                  <a:pt x="722928" y="819150"/>
                </a:cubicBezTo>
                <a:cubicBezTo>
                  <a:pt x="699115" y="835025"/>
                  <a:pt x="679439" y="860617"/>
                  <a:pt x="651490" y="866775"/>
                </a:cubicBezTo>
                <a:cubicBezTo>
                  <a:pt x="518437" y="896091"/>
                  <a:pt x="476866" y="885719"/>
                  <a:pt x="370503" y="871537"/>
                </a:cubicBezTo>
                <a:cubicBezTo>
                  <a:pt x="343722" y="870421"/>
                  <a:pt x="102326" y="867076"/>
                  <a:pt x="32365" y="847725"/>
                </a:cubicBezTo>
                <a:lnTo>
                  <a:pt x="0" y="836068"/>
                </a:lnTo>
                <a:lnTo>
                  <a:pt x="0" y="5429"/>
                </a:lnTo>
                <a:lnTo>
                  <a:pt x="53585" y="2184"/>
                </a:lnTo>
                <a:cubicBezTo>
                  <a:pt x="94137" y="1456"/>
                  <a:pt x="134759" y="1588"/>
                  <a:pt x="175240" y="0"/>
                </a:cubicBezTo>
                <a:close/>
              </a:path>
            </a:pathLst>
          </a:custGeom>
        </p:spPr>
      </p:pic>
      <p:sp>
        <p:nvSpPr>
          <p:cNvPr id="22" name="Rectangle 4"/>
          <p:cNvSpPr txBox="1">
            <a:spLocks noChangeArrowheads="1"/>
          </p:cNvSpPr>
          <p:nvPr/>
        </p:nvSpPr>
        <p:spPr bwMode="auto">
          <a:xfrm>
            <a:off x="8342301" y="166086"/>
            <a:ext cx="3690041" cy="5509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04" tIns="45702" rIns="91404" bIns="45702" numCol="1" anchor="ctr" anchorCtr="0" compatLnSpc="1"/>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a:ln>
                  <a:noFill/>
                </a:ln>
                <a:solidFill>
                  <a:srgbClr val="C00000"/>
                </a:solidFill>
                <a:effectLst/>
                <a:uLnTx/>
                <a:uFillTx/>
                <a:ea typeface="微软雅黑" panose="020B0503020204020204" pitchFamily="34" charset="-122"/>
                <a:cs typeface="+mj-cs"/>
              </a:rPr>
              <a:t>学党史  悟精神  办实事  开新局</a:t>
            </a:r>
            <a:endParaRPr kumimoji="0" lang="zh-CN" altLang="zh-CN" sz="1800" b="0" i="0" u="none" strike="noStrike" kern="1200" cap="none" spc="0" normalizeH="0" baseline="0" noProof="0">
              <a:ln>
                <a:noFill/>
              </a:ln>
              <a:solidFill>
                <a:srgbClr val="C00000"/>
              </a:solidFill>
              <a:effectLst/>
              <a:uLnTx/>
              <a:uFillTx/>
              <a:ea typeface="微软雅黑" panose="020B0503020204020204" pitchFamily="34" charset="-122"/>
              <a:cs typeface="+mj-cs"/>
            </a:endParaRPr>
          </a:p>
        </p:txBody>
      </p:sp>
      <p:cxnSp>
        <p:nvCxnSpPr>
          <p:cNvPr id="23" name="直接连接符 22"/>
          <p:cNvCxnSpPr/>
          <p:nvPr/>
        </p:nvCxnSpPr>
        <p:spPr>
          <a:xfrm flipH="1">
            <a:off x="7890647" y="441551"/>
            <a:ext cx="622068" cy="0"/>
          </a:xfrm>
          <a:prstGeom prst="line">
            <a:avLst/>
          </a:prstGeom>
          <a:ln>
            <a:solidFill>
              <a:srgbClr val="C00000"/>
            </a:solidFill>
            <a:prstDash val="dash"/>
          </a:ln>
        </p:spPr>
        <p:style>
          <a:lnRef idx="1">
            <a:schemeClr val="accent1"/>
          </a:lnRef>
          <a:fillRef idx="0">
            <a:schemeClr val="accent1"/>
          </a:fillRef>
          <a:effectRef idx="0">
            <a:schemeClr val="accent1"/>
          </a:effectRef>
          <a:fontRef idx="minor">
            <a:schemeClr val="tx1"/>
          </a:fontRef>
        </p:style>
      </p:cxnSp>
      <p:pic>
        <p:nvPicPr>
          <p:cNvPr id="44" name="New picture"/>
          <p:cNvPicPr/>
          <p:nvPr/>
        </p:nvPicPr>
        <p:blipFill>
          <a:blip r:embed="rId8"/>
          <a:stretch>
            <a:fillRect/>
          </a:stretch>
        </p:blipFill>
        <p:spPr>
          <a:xfrm>
            <a:off x="11468100" y="11049000"/>
            <a:ext cx="342900" cy="254000"/>
          </a:xfrm>
          <a:prstGeom prst="cube">
            <a:avLst/>
          </a:prstGeom>
        </p:spPr>
      </p:pic>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OS" val="Unix 3.10 unknown"/>
  <p:tag name="AS_RELEASE_DATE" val="2020.11.30"/>
  <p:tag name="AS_TITLE" val="Aspose.Slides for Java"/>
  <p:tag name="AS_VERSION" val="20.11"/>
</p:tagLst>
</file>

<file path=ppt/theme/theme1.xml><?xml version="1.0" encoding="utf-8"?>
<a:theme xmlns:a="http://schemas.openxmlformats.org/drawingml/2006/main" name="第一PPT模板网-WWW.1PPT.COM​​">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湘能数据中中心">
      <a:majorFont>
        <a:latin typeface="微软雅黑"/>
        <a:ea typeface="微软雅黑"/>
        <a:cs typeface="Arial"/>
      </a:majorFont>
      <a:minorFont>
        <a:latin typeface="微软雅黑"/>
        <a:ea typeface="微软雅黑"/>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106</TotalTime>
  <Words>1469</Words>
  <Application>Microsoft Office PowerPoint</Application>
  <PresentationFormat>宽屏</PresentationFormat>
  <Paragraphs>112</Paragraphs>
  <Slides>21</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21</vt:i4>
      </vt:variant>
    </vt:vector>
  </HeadingPairs>
  <TitlesOfParts>
    <vt:vector size="33" baseType="lpstr">
      <vt:lpstr>阿里巴巴普惠体 B</vt:lpstr>
      <vt:lpstr>等线</vt:lpstr>
      <vt:lpstr>汉仪尚巍手书W</vt:lpstr>
      <vt:lpstr>楷体</vt:lpstr>
      <vt:lpstr>思源宋體 Heavy</vt:lpstr>
      <vt:lpstr>微软雅黑</vt:lpstr>
      <vt:lpstr>演示镇魂行楷</vt:lpstr>
      <vt:lpstr>站酷小薇LOGO体</vt:lpstr>
      <vt:lpstr>Arial</vt:lpstr>
      <vt:lpstr>Calibri</vt:lpstr>
      <vt:lpstr>Wingdings</vt:lpstr>
      <vt:lpstr>第一PPT模板网-WWW.1PPT.COM​​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第一PPT模板网-WWW.1PPT.COM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第一PPT模板网-WWW.1PPT.COM</dc:creator>
  <cp:lastModifiedBy>著星 梁</cp:lastModifiedBy>
  <cp:revision>19</cp:revision>
  <cp:lastPrinted>2021-05-27T00:37:20Z</cp:lastPrinted>
  <dcterms:created xsi:type="dcterms:W3CDTF">2021-05-27T00:37:20Z</dcterms:created>
  <dcterms:modified xsi:type="dcterms:W3CDTF">2025-10-10T12:18:49Z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lbum">
    <vt:lpwstr>rbm.xkw.com</vt:lpwstr>
  </property>
  <property fmtid="{D5CDD505-2E9C-101B-9397-08002B2CF9AE}" pid="3" name="author">
    <vt:lpwstr>rbm.xkw.com</vt:lpwstr>
  </property>
  <property fmtid="{D5CDD505-2E9C-101B-9397-08002B2CF9AE}" pid="4" name="company">
    <vt:lpwstr>学科网</vt:lpwstr>
  </property>
  <property fmtid="{D5CDD505-2E9C-101B-9397-08002B2CF9AE}" pid="5" name="copyright">
    <vt:lpwstr>学科网版权所有</vt:lpwstr>
  </property>
</Properties>
</file>