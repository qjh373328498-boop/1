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49" r:id="rId2"/>
  </p:sldMasterIdLst>
  <p:notesMasterIdLst>
    <p:notesMasterId r:id="rId15"/>
  </p:notesMasterIdLst>
  <p:handoutMasterIdLst>
    <p:handoutMasterId r:id="rId16"/>
  </p:handoutMasterIdLst>
  <p:sldIdLst>
    <p:sldId id="257" r:id="rId3"/>
    <p:sldId id="258" r:id="rId4"/>
    <p:sldId id="259" r:id="rId5"/>
    <p:sldId id="279" r:id="rId6"/>
    <p:sldId id="262" r:id="rId7"/>
    <p:sldId id="260" r:id="rId8"/>
    <p:sldId id="261" r:id="rId9"/>
    <p:sldId id="264" r:id="rId10"/>
    <p:sldId id="263" r:id="rId11"/>
    <p:sldId id="268" r:id="rId12"/>
    <p:sldId id="273" r:id="rId13"/>
    <p:sldId id="274"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6">
          <p15:clr>
            <a:srgbClr val="A4A3A4"/>
          </p15:clr>
        </p15:guide>
        <p15:guide id="2" pos="380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90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5296" autoAdjust="0"/>
  </p:normalViewPr>
  <p:slideViewPr>
    <p:cSldViewPr snapToGrid="0" showGuides="1">
      <p:cViewPr varScale="1">
        <p:scale>
          <a:sx n="96" d="100"/>
          <a:sy n="96" d="100"/>
        </p:scale>
        <p:origin x="480" y="52"/>
      </p:cViewPr>
      <p:guideLst>
        <p:guide orient="horz" pos="2246"/>
        <p:guide pos="380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9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a:ea typeface="思源宋体"/>
              <a:cs typeface="思源宋体" panose="02020400000000000000" charset="-122"/>
            </a:endParaRPr>
          </a:p>
        </p:txBody>
      </p:sp>
      <p:sp>
        <p:nvSpPr>
          <p:cNvPr id="1048891"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宋体" panose="02020400000000000000" charset="-122"/>
              </a:rPr>
              <a:t>2024/10/24</a:t>
            </a:fld>
            <a:endParaRPr lang="zh-CN" altLang="en-US">
              <a:cs typeface="思源宋体" panose="02020400000000000000" charset="-122"/>
            </a:endParaRPr>
          </a:p>
        </p:txBody>
      </p:sp>
      <p:sp>
        <p:nvSpPr>
          <p:cNvPr id="1048892"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a:ea typeface="思源宋体"/>
              <a:cs typeface="思源宋体" panose="02020400000000000000" charset="-122"/>
            </a:endParaRPr>
          </a:p>
        </p:txBody>
      </p:sp>
      <p:sp>
        <p:nvSpPr>
          <p:cNvPr id="1048893"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宋体" panose="02020400000000000000" charset="-122"/>
              </a:rPr>
              <a:t>‹#›</a:t>
            </a:fld>
            <a:endParaRPr lang="zh-CN" altLang="en-US">
              <a:cs typeface="思源宋体" panose="02020400000000000000"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84"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a:ea typeface="思源宋体"/>
                <a:cs typeface="思源宋体" panose="02020400000000000000" charset="-122"/>
              </a:defRPr>
            </a:lvl1pPr>
          </a:lstStyle>
          <a:p>
            <a:endParaRPr lang="zh-CN" altLang="en-US"/>
          </a:p>
        </p:txBody>
      </p:sp>
      <p:sp>
        <p:nvSpPr>
          <p:cNvPr id="1048885"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a:ea typeface="思源宋体"/>
                <a:cs typeface="思源宋体" panose="02020400000000000000" charset="-122"/>
              </a:defRPr>
            </a:lvl1pPr>
          </a:lstStyle>
          <a:p>
            <a:fld id="{D2A48B96-639E-45A3-A0BA-2464DFDB1FAA}" type="datetimeFigureOut">
              <a:rPr lang="zh-CN" altLang="en-US" smtClean="0"/>
              <a:t>2024/10/24</a:t>
            </a:fld>
            <a:endParaRPr lang="zh-CN" altLang="en-US"/>
          </a:p>
        </p:txBody>
      </p:sp>
      <p:sp>
        <p:nvSpPr>
          <p:cNvPr id="1048886"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1048887"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88"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a:ea typeface="思源宋体"/>
                <a:cs typeface="思源宋体" panose="02020400000000000000" charset="-122"/>
              </a:defRPr>
            </a:lvl1pPr>
          </a:lstStyle>
          <a:p>
            <a:endParaRPr lang="zh-CN" altLang="en-US"/>
          </a:p>
        </p:txBody>
      </p:sp>
      <p:sp>
        <p:nvSpPr>
          <p:cNvPr id="1048889"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a:ea typeface="思源宋体"/>
                <a:cs typeface="思源宋体" panose="02020400000000000000"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思源宋体"/>
        <a:ea typeface="思源宋体"/>
        <a:cs typeface="思源宋体" panose="02020400000000000000" charset="-122"/>
      </a:defRPr>
    </a:lvl1pPr>
    <a:lvl2pPr marL="457200" algn="l" defTabSz="914400" rtl="0" eaLnBrk="1" latinLnBrk="0" hangingPunct="1">
      <a:defRPr sz="1200" kern="1200">
        <a:solidFill>
          <a:schemeClr val="tx1"/>
        </a:solidFill>
        <a:latin typeface="思源宋体"/>
        <a:ea typeface="思源宋体"/>
        <a:cs typeface="思源宋体" panose="02020400000000000000" charset="-122"/>
      </a:defRPr>
    </a:lvl2pPr>
    <a:lvl3pPr marL="914400" algn="l" defTabSz="914400" rtl="0" eaLnBrk="1" latinLnBrk="0" hangingPunct="1">
      <a:defRPr sz="1200" kern="1200">
        <a:solidFill>
          <a:schemeClr val="tx1"/>
        </a:solidFill>
        <a:latin typeface="思源宋体"/>
        <a:ea typeface="思源宋体"/>
        <a:cs typeface="思源宋体" panose="02020400000000000000" charset="-122"/>
      </a:defRPr>
    </a:lvl3pPr>
    <a:lvl4pPr marL="1371600" algn="l" defTabSz="914400" rtl="0" eaLnBrk="1" latinLnBrk="0" hangingPunct="1">
      <a:defRPr sz="1200" kern="1200">
        <a:solidFill>
          <a:schemeClr val="tx1"/>
        </a:solidFill>
        <a:latin typeface="思源宋体"/>
        <a:ea typeface="思源宋体"/>
        <a:cs typeface="思源宋体" panose="02020400000000000000" charset="-122"/>
      </a:defRPr>
    </a:lvl4pPr>
    <a:lvl5pPr marL="1828800" algn="l" defTabSz="914400" rtl="0" eaLnBrk="1" latinLnBrk="0" hangingPunct="1">
      <a:defRPr sz="1200" kern="1200">
        <a:solidFill>
          <a:schemeClr val="tx1"/>
        </a:solidFill>
        <a:latin typeface="思源宋体"/>
        <a:ea typeface="思源宋体"/>
        <a:cs typeface="思源宋体" panose="020204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9" name="幻灯片图像占位符 1"/>
          <p:cNvSpPr>
            <a:spLocks noGrp="1" noRot="1" noChangeAspect="1"/>
          </p:cNvSpPr>
          <p:nvPr>
            <p:ph type="sldImg" idx="2"/>
          </p:nvPr>
        </p:nvSpPr>
        <p:spPr/>
      </p:sp>
      <p:sp>
        <p:nvSpPr>
          <p:cNvPr id="1048870" name="文本占位符 2"/>
          <p:cNvSpPr>
            <a:spLocks noGrp="1"/>
          </p:cNvSpPr>
          <p:nvPr>
            <p:ph type="body" idx="3"/>
          </p:nvPr>
        </p:nvSpPr>
        <p:spPr/>
        <p:txBody>
          <a:bodyPr/>
          <a:lstStyle/>
          <a:p>
            <a:r>
              <a:rPr lang="zh-CN" altLang="en-US"/>
              <a:t>模板来自于： 第一PPT https://www.1ppt.com/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advTm="2000">
    <p:wedge/>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55" name="图片 1" descr="浅色柔色"/>
          <p:cNvPicPr>
            <a:picLocks noChangeAspect="1"/>
          </p:cNvPicPr>
          <p:nvPr userDrawn="1"/>
        </p:nvPicPr>
        <p:blipFill>
          <a:blip r:embed="rId2"/>
          <a:stretch>
            <a:fillRect/>
          </a:stretch>
        </p:blipFill>
        <p:spPr>
          <a:xfrm rot="16200000">
            <a:off x="2669540" y="-2668905"/>
            <a:ext cx="6854190" cy="12192635"/>
          </a:xfrm>
          <a:prstGeom prst="rect">
            <a:avLst/>
          </a:prstGeom>
        </p:spPr>
      </p:pic>
      <p:sp>
        <p:nvSpPr>
          <p:cNvPr id="1048615" name="矩形 2"/>
          <p:cNvSpPr/>
          <p:nvPr userDrawn="1"/>
        </p:nvSpPr>
        <p:spPr>
          <a:xfrm>
            <a:off x="288290" y="635"/>
            <a:ext cx="11617325" cy="6854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Tree>
  </p:cSld>
  <p:clrMapOvr>
    <a:masterClrMapping/>
  </p:clrMapOvr>
  <p:transition advTm="2000">
    <p:wedge/>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87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104887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1048877"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1048878"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879"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4888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88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48882" name="页脚占位符 7"/>
          <p:cNvSpPr>
            <a:spLocks noGrp="1"/>
          </p:cNvSpPr>
          <p:nvPr>
            <p:ph type="ftr" sz="quarter" idx="11"/>
          </p:nvPr>
        </p:nvSpPr>
        <p:spPr>
          <a:xfrm>
            <a:off x="4038600" y="6356350"/>
            <a:ext cx="4114800" cy="365125"/>
          </a:xfrm>
        </p:spPr>
        <p:txBody>
          <a:bodyPr/>
          <a:lstStyle/>
          <a:p>
            <a:endParaRPr lang="zh-CN" altLang="en-US"/>
          </a:p>
        </p:txBody>
      </p:sp>
      <p:sp>
        <p:nvSpPr>
          <p:cNvPr id="104888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2097162" name="图片 6" descr="浅色柔色"/>
          <p:cNvPicPr>
            <a:picLocks noChangeAspect="1"/>
          </p:cNvPicPr>
          <p:nvPr userDrawn="1"/>
        </p:nvPicPr>
        <p:blipFill>
          <a:blip r:embed="rId2"/>
          <a:stretch>
            <a:fillRect/>
          </a:stretch>
        </p:blipFill>
        <p:spPr>
          <a:xfrm rot="16200000">
            <a:off x="2669540" y="-2668905"/>
            <a:ext cx="6854190" cy="12192635"/>
          </a:xfrm>
          <a:prstGeom prst="rect">
            <a:avLst/>
          </a:prstGeom>
        </p:spPr>
      </p:pic>
      <p:sp>
        <p:nvSpPr>
          <p:cNvPr id="1048641" name="矩形 19"/>
          <p:cNvSpPr/>
          <p:nvPr userDrawn="1"/>
        </p:nvSpPr>
        <p:spPr>
          <a:xfrm>
            <a:off x="321310" y="363220"/>
            <a:ext cx="11551285" cy="6131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Tree>
  </p:cSld>
  <p:clrMapOvr>
    <a:masterClrMapping/>
  </p:clrMapOvr>
  <p:transition advTm="2000">
    <p:wedge/>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ustDataLst>
      <p:tags r:id="rId6"/>
    </p:custData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Lst>
  <p:transition advTm="2000">
    <p:wedge/>
  </p:transition>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7"/>
          <p:cNvGrpSpPr/>
          <p:nvPr/>
        </p:nvGrpSpPr>
        <p:grpSpPr>
          <a:xfrm>
            <a:off x="635" y="0"/>
            <a:ext cx="12192635" cy="6854190"/>
            <a:chOff x="1" y="0"/>
            <a:chExt cx="19201" cy="10794"/>
          </a:xfrm>
        </p:grpSpPr>
        <p:pic>
          <p:nvPicPr>
            <p:cNvPr id="2097152" name="图片 5" descr="浅色柔色"/>
            <p:cNvPicPr>
              <a:picLocks noChangeAspect="1"/>
            </p:cNvPicPr>
            <p:nvPr/>
          </p:nvPicPr>
          <p:blipFill>
            <a:blip r:embed="rId3"/>
            <a:stretch>
              <a:fillRect/>
            </a:stretch>
          </p:blipFill>
          <p:spPr>
            <a:xfrm rot="16200000">
              <a:off x="4204" y="-4203"/>
              <a:ext cx="10794" cy="19201"/>
            </a:xfrm>
            <a:prstGeom prst="rect">
              <a:avLst/>
            </a:prstGeom>
          </p:spPr>
        </p:pic>
        <p:sp>
          <p:nvSpPr>
            <p:cNvPr id="1048576" name="文本框 13"/>
            <p:cNvSpPr txBox="1"/>
            <p:nvPr/>
          </p:nvSpPr>
          <p:spPr>
            <a:xfrm>
              <a:off x="2892" y="3797"/>
              <a:ext cx="13634" cy="2044"/>
            </a:xfrm>
            <a:prstGeom prst="rect">
              <a:avLst/>
            </a:prstGeom>
            <a:noFill/>
          </p:spPr>
          <p:txBody>
            <a:bodyPr wrap="square" rtlCol="0">
              <a:spAutoFit/>
            </a:bodyPr>
            <a:lstStyle/>
            <a:p>
              <a:pPr algn="ctr"/>
              <a:r>
                <a:rPr lang="zh-CN" altLang="en-US" sz="7200" dirty="0">
                  <a:solidFill>
                    <a:schemeClr val="tx1">
                      <a:lumMod val="85000"/>
                      <a:lumOff val="15000"/>
                    </a:schemeClr>
                  </a:solidFill>
                  <a:latin typeface="印品灵秀体（非商用）" panose="02000000000000000000" charset="-122"/>
                  <a:ea typeface="印品灵秀体（非商用）" panose="02000000000000000000" charset="-122"/>
                  <a:cs typeface="思源黑体 CN Bold" panose="020B0800000000000000" charset="-122"/>
                </a:rPr>
                <a:t>大学生职业生涯规划</a:t>
              </a:r>
            </a:p>
          </p:txBody>
        </p:sp>
        <p:sp>
          <p:nvSpPr>
            <p:cNvPr id="1048577" name="文本框 12"/>
            <p:cNvSpPr txBox="1"/>
            <p:nvPr/>
          </p:nvSpPr>
          <p:spPr>
            <a:xfrm>
              <a:off x="5734" y="2781"/>
              <a:ext cx="7947" cy="1104"/>
            </a:xfrm>
            <a:prstGeom prst="rect">
              <a:avLst/>
            </a:prstGeom>
            <a:noFill/>
          </p:spPr>
          <p:txBody>
            <a:bodyPr wrap="square" rtlCol="0">
              <a:spAutoFit/>
            </a:bodyPr>
            <a:lstStyle/>
            <a:p>
              <a:pPr algn="dist"/>
              <a:r>
                <a:rPr lang="zh-CN" altLang="en-US" sz="3600" dirty="0">
                  <a:solidFill>
                    <a:srgbClr val="ECC1D5"/>
                  </a:solidFill>
                  <a:latin typeface="Arial" panose="020B0604020202020204" pitchFamily="34" charset="0"/>
                  <a:ea typeface="幼圆" panose="02010509060101010101" charset="-122"/>
                  <a:cs typeface="思源宋体" panose="02020400000000000000" charset="-122"/>
                </a:rPr>
                <a:t>CAREER</a:t>
              </a:r>
              <a:r>
                <a:rPr lang="zh-CN" altLang="en-US" sz="3600" dirty="0">
                  <a:latin typeface="Arial" panose="020B0604020202020204" pitchFamily="34" charset="0"/>
                  <a:ea typeface="幼圆" panose="02010509060101010101" charset="-122"/>
                  <a:cs typeface="思源宋体" panose="02020400000000000000" charset="-122"/>
                </a:rPr>
                <a:t> </a:t>
              </a:r>
              <a:r>
                <a:rPr lang="zh-CN" altLang="en-US" sz="3600" dirty="0">
                  <a:solidFill>
                    <a:srgbClr val="64BDBF"/>
                  </a:solidFill>
                  <a:latin typeface="Arial" panose="020B0604020202020204" pitchFamily="34" charset="0"/>
                  <a:ea typeface="幼圆" panose="02010509060101010101" charset="-122"/>
                  <a:cs typeface="思源宋体" panose="02020400000000000000" charset="-122"/>
                </a:rPr>
                <a:t>PLANNING</a:t>
              </a:r>
            </a:p>
          </p:txBody>
        </p:sp>
        <p:sp>
          <p:nvSpPr>
            <p:cNvPr id="1048578" name="文本框 17"/>
            <p:cNvSpPr txBox="1"/>
            <p:nvPr/>
          </p:nvSpPr>
          <p:spPr>
            <a:xfrm>
              <a:off x="2890" y="5685"/>
              <a:ext cx="13634" cy="2124"/>
            </a:xfrm>
            <a:prstGeom prst="rect">
              <a:avLst/>
            </a:prstGeom>
            <a:noFill/>
          </p:spPr>
          <p:txBody>
            <a:bodyPr wrap="square" rtlCol="0">
              <a:spAutoFit/>
            </a:bodyPr>
            <a:lstStyle/>
            <a:p>
              <a:pPr algn="ctr">
                <a:lnSpc>
                  <a:spcPct val="150000"/>
                </a:lnSpc>
                <a:spcBef>
                  <a:spcPct val="0"/>
                </a:spcBef>
                <a:spcAft>
                  <a:spcPct val="0"/>
                </a:spcAft>
              </a:pPr>
              <a:r>
                <a:rPr lang="en-US" altLang="zh-CN" sz="12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en-US" altLang="zh-CN" sz="16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对于高考结束的我们，如今站在哪个学校已成定局，与其关心和在意高考的发挥，还不如思考我们接下来该如何规划好我们的人生，做好人生规划是拥有一个充实且快乐的大学生活必不可少的一环。</a:t>
              </a:r>
              <a:endParaRPr lang="en-US"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581" name="文本框 16"/>
            <p:cNvSpPr txBox="1"/>
            <p:nvPr/>
          </p:nvSpPr>
          <p:spPr>
            <a:xfrm>
              <a:off x="17134" y="2704"/>
              <a:ext cx="506" cy="5387"/>
            </a:xfrm>
            <a:prstGeom prst="rect">
              <a:avLst/>
            </a:prstGeom>
            <a:noFill/>
          </p:spPr>
          <p:txBody>
            <a:bodyPr vert="eaVert" wrap="square" rtlCol="0">
              <a:spAutoFit/>
            </a:bodyPr>
            <a:lstStyle/>
            <a:p>
              <a:pPr algn="dist"/>
              <a:r>
                <a:rPr lang="en-US" altLang="zh-CN" sz="900" dirty="0">
                  <a:solidFill>
                    <a:srgbClr val="ECC1D5"/>
                  </a:solidFill>
                  <a:latin typeface="Arial" panose="020B0604020202020204" pitchFamily="34" charset="0"/>
                  <a:ea typeface="幼圆" panose="02010509060101010101" charset="-122"/>
                  <a:cs typeface="思源宋体" panose="02020400000000000000" charset="-122"/>
                  <a:sym typeface="+mn-ea"/>
                </a:rPr>
                <a:t>www.58.pic.com</a:t>
              </a:r>
            </a:p>
          </p:txBody>
        </p:sp>
      </p:grpSp>
    </p:spTree>
    <p:custDataLst>
      <p:tags r:id="rId1"/>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32" dur="500" fill="hold" nodeType="afterEffect">
                                  <p:stCondLst>
                                    <p:cond delay="0"/>
                                  </p:stCondLst>
                                  <p:childTnLst>
                                    <p:set>
                                      <p:cBhvr>
                                        <p:cTn id="6" dur="500" fill="hold">
                                          <p:stCondLst>
                                            <p:cond delay="0"/>
                                          </p:stCondLst>
                                        </p:cTn>
                                        <p:tgtEl>
                                          <p:spTgt spid="21"/>
                                        </p:tgtEl>
                                        <p:attrNameLst>
                                          <p:attrName>style.visibility</p:attrName>
                                        </p:attrNameLst>
                                      </p:cBhvr>
                                      <p:to>
                                        <p:strVal val="visible"/>
                                      </p:to>
                                    </p:set>
                                    <p:animEffect transition="in" filter="plus(out)">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72"/>
          <p:cNvGrpSpPr/>
          <p:nvPr/>
        </p:nvGrpSpPr>
        <p:grpSpPr>
          <a:xfrm>
            <a:off x="635" y="0"/>
            <a:ext cx="12192635" cy="6854190"/>
            <a:chOff x="1" y="0"/>
            <a:chExt cx="19201" cy="10794"/>
          </a:xfrm>
        </p:grpSpPr>
        <p:pic>
          <p:nvPicPr>
            <p:cNvPr id="2097153" name="图片 6" descr="浅色柔色"/>
            <p:cNvPicPr>
              <a:picLocks noChangeAspect="1"/>
            </p:cNvPicPr>
            <p:nvPr/>
          </p:nvPicPr>
          <p:blipFill>
            <a:blip r:embed="rId3"/>
            <a:stretch>
              <a:fillRect/>
            </a:stretch>
          </p:blipFill>
          <p:spPr>
            <a:xfrm rot="16200000">
              <a:off x="4204" y="-4203"/>
              <a:ext cx="10794" cy="19201"/>
            </a:xfrm>
            <a:prstGeom prst="rect">
              <a:avLst/>
            </a:prstGeom>
          </p:spPr>
        </p:pic>
        <p:sp>
          <p:nvSpPr>
            <p:cNvPr id="1048582" name="矩形 19"/>
            <p:cNvSpPr/>
            <p:nvPr/>
          </p:nvSpPr>
          <p:spPr>
            <a:xfrm>
              <a:off x="504" y="572"/>
              <a:ext cx="18191" cy="9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583" name="矩形 20"/>
            <p:cNvSpPr/>
            <p:nvPr/>
          </p:nvSpPr>
          <p:spPr>
            <a:xfrm>
              <a:off x="5693" y="4524"/>
              <a:ext cx="4117" cy="4110"/>
            </a:xfrm>
            <a:prstGeom prst="rect">
              <a:avLst/>
            </a:prstGeom>
            <a:solidFill>
              <a:srgbClr val="ECC1D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84" name="矩形 25"/>
            <p:cNvSpPr/>
            <p:nvPr/>
          </p:nvSpPr>
          <p:spPr>
            <a:xfrm>
              <a:off x="5693"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85" name="文本框 35"/>
            <p:cNvSpPr txBox="1"/>
            <p:nvPr/>
          </p:nvSpPr>
          <p:spPr>
            <a:xfrm>
              <a:off x="5933" y="6311"/>
              <a:ext cx="3636" cy="884"/>
            </a:xfrm>
            <a:prstGeom prst="rect">
              <a:avLst/>
            </a:prstGeom>
            <a:noFill/>
          </p:spPr>
          <p:txBody>
            <a:bodyPr wrap="square" rtlCol="0">
              <a:spAutoFit/>
            </a:bodyPr>
            <a:lstStyle/>
            <a:p>
              <a:pPr lvl="0" algn="ct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职业分析</a:t>
              </a:r>
            </a:p>
          </p:txBody>
        </p:sp>
        <p:sp>
          <p:nvSpPr>
            <p:cNvPr id="1048586" name="矩形 47"/>
            <p:cNvSpPr/>
            <p:nvPr/>
          </p:nvSpPr>
          <p:spPr>
            <a:xfrm>
              <a:off x="1488" y="4524"/>
              <a:ext cx="4117" cy="4110"/>
            </a:xfrm>
            <a:prstGeom prst="rect">
              <a:avLst/>
            </a:prstGeom>
            <a:solidFill>
              <a:srgbClr val="8ACEC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87" name="矩形 48"/>
            <p:cNvSpPr/>
            <p:nvPr/>
          </p:nvSpPr>
          <p:spPr>
            <a:xfrm>
              <a:off x="1488"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88" name="文本框 49"/>
            <p:cNvSpPr txBox="1"/>
            <p:nvPr/>
          </p:nvSpPr>
          <p:spPr>
            <a:xfrm>
              <a:off x="1728" y="6311"/>
              <a:ext cx="3636" cy="884"/>
            </a:xfrm>
            <a:prstGeom prst="rect">
              <a:avLst/>
            </a:prstGeom>
            <a:noFill/>
          </p:spPr>
          <p:txBody>
            <a:bodyPr wrap="square" rtlCol="0">
              <a:spAutoFit/>
            </a:bodyPr>
            <a:lstStyle/>
            <a:p>
              <a:pPr lvl="0" algn="ct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职业前景</a:t>
              </a:r>
              <a:endParaRPr lang="zh-CN" altLang="en-US"/>
            </a:p>
          </p:txBody>
        </p:sp>
        <p:sp>
          <p:nvSpPr>
            <p:cNvPr id="1048589" name="文本框 50"/>
            <p:cNvSpPr txBox="1"/>
            <p:nvPr/>
          </p:nvSpPr>
          <p:spPr>
            <a:xfrm>
              <a:off x="2864" y="5001"/>
              <a:ext cx="1364" cy="1304"/>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pPr>
              <a:r>
                <a:rPr kumimoji="0" lang="en-US" altLang="zh-CN" sz="4400" b="1" i="0" u="none" strike="noStrike" kern="1200" cap="none" spc="0" normalizeH="0" baseline="0" noProof="0">
                  <a:ln>
                    <a:noFill/>
                  </a:ln>
                  <a:solidFill>
                    <a:srgbClr val="64BDBF"/>
                  </a:solidFill>
                  <a:effectLst/>
                  <a:uLnTx/>
                  <a:uFillTx/>
                  <a:latin typeface="Arial" panose="020B0604020202020204" pitchFamily="34" charset="0"/>
                  <a:ea typeface="幼圆" panose="02010509060101010101" charset="-122"/>
                  <a:cs typeface="Arial" panose="020B0604020202020204" pitchFamily="34" charset="0"/>
                </a:rPr>
                <a:t>01</a:t>
              </a:r>
            </a:p>
          </p:txBody>
        </p:sp>
        <p:sp>
          <p:nvSpPr>
            <p:cNvPr id="1048591" name="矩形 53"/>
            <p:cNvSpPr/>
            <p:nvPr/>
          </p:nvSpPr>
          <p:spPr>
            <a:xfrm>
              <a:off x="9898" y="4524"/>
              <a:ext cx="4117" cy="4110"/>
            </a:xfrm>
            <a:prstGeom prst="rect">
              <a:avLst/>
            </a:prstGeom>
            <a:solidFill>
              <a:srgbClr val="8ACEC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92" name="矩形 54"/>
            <p:cNvSpPr/>
            <p:nvPr/>
          </p:nvSpPr>
          <p:spPr>
            <a:xfrm>
              <a:off x="9898"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93" name="文本框 55"/>
            <p:cNvSpPr txBox="1"/>
            <p:nvPr/>
          </p:nvSpPr>
          <p:spPr>
            <a:xfrm>
              <a:off x="10138" y="6311"/>
              <a:ext cx="3636" cy="884"/>
            </a:xfrm>
            <a:prstGeom prst="rect">
              <a:avLst/>
            </a:prstGeom>
            <a:noFill/>
          </p:spPr>
          <p:txBody>
            <a:bodyPr wrap="square" rtlCol="0">
              <a:spAutoFit/>
            </a:bodyPr>
            <a:lstStyle/>
            <a:p>
              <a:pPr lvl="0" algn="ct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自我定位</a:t>
              </a:r>
            </a:p>
          </p:txBody>
        </p:sp>
        <p:sp>
          <p:nvSpPr>
            <p:cNvPr id="1048594" name="矩形 59"/>
            <p:cNvSpPr/>
            <p:nvPr/>
          </p:nvSpPr>
          <p:spPr>
            <a:xfrm>
              <a:off x="14103" y="4524"/>
              <a:ext cx="4117" cy="4110"/>
            </a:xfrm>
            <a:prstGeom prst="rect">
              <a:avLst/>
            </a:prstGeom>
            <a:solidFill>
              <a:srgbClr val="ECC1D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95" name="矩形 60"/>
            <p:cNvSpPr/>
            <p:nvPr/>
          </p:nvSpPr>
          <p:spPr>
            <a:xfrm>
              <a:off x="14103"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1048596" name="文本框 61"/>
            <p:cNvSpPr txBox="1"/>
            <p:nvPr/>
          </p:nvSpPr>
          <p:spPr>
            <a:xfrm>
              <a:off x="14343" y="6311"/>
              <a:ext cx="3636" cy="884"/>
            </a:xfrm>
            <a:prstGeom prst="rect">
              <a:avLst/>
            </a:prstGeom>
            <a:noFill/>
          </p:spPr>
          <p:txBody>
            <a:bodyPr wrap="square" rtlCol="0">
              <a:spAutoFit/>
            </a:bodyPr>
            <a:lstStyle/>
            <a:p>
              <a:pPr lvl="0" algn="ct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规划方案</a:t>
              </a:r>
            </a:p>
          </p:txBody>
        </p:sp>
        <p:sp>
          <p:nvSpPr>
            <p:cNvPr id="1048597" name="文本框 64"/>
            <p:cNvSpPr txBox="1"/>
            <p:nvPr/>
          </p:nvSpPr>
          <p:spPr>
            <a:xfrm>
              <a:off x="6865" y="5001"/>
              <a:ext cx="1773" cy="1304"/>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pPr>
              <a:r>
                <a:rPr kumimoji="0" lang="en-US" altLang="zh-CN" sz="4400" b="1" i="0" u="none" strike="noStrike" kern="1200" cap="none" spc="0" normalizeH="0" baseline="0" noProof="0">
                  <a:ln>
                    <a:noFill/>
                  </a:ln>
                  <a:solidFill>
                    <a:srgbClr val="ECC1D5"/>
                  </a:solidFill>
                  <a:effectLst/>
                  <a:uLnTx/>
                  <a:uFillTx/>
                  <a:latin typeface="Arial" panose="020B0604020202020204" pitchFamily="34" charset="0"/>
                  <a:ea typeface="幼圆" panose="02010509060101010101" charset="-122"/>
                  <a:cs typeface="Arial" panose="020B0604020202020204" pitchFamily="34" charset="0"/>
                </a:rPr>
                <a:t>02</a:t>
              </a:r>
            </a:p>
          </p:txBody>
        </p:sp>
        <p:sp>
          <p:nvSpPr>
            <p:cNvPr id="1048598" name="文本框 65"/>
            <p:cNvSpPr txBox="1"/>
            <p:nvPr/>
          </p:nvSpPr>
          <p:spPr>
            <a:xfrm>
              <a:off x="11070" y="5001"/>
              <a:ext cx="1773" cy="1304"/>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pPr>
              <a:r>
                <a:rPr kumimoji="0" lang="en-US" altLang="zh-CN" sz="4400" b="1" i="0" u="none" strike="noStrike" kern="1200" cap="none" spc="0" normalizeH="0" baseline="0" noProof="0">
                  <a:ln>
                    <a:noFill/>
                  </a:ln>
                  <a:solidFill>
                    <a:srgbClr val="64BDBF"/>
                  </a:solidFill>
                  <a:effectLst/>
                  <a:uLnTx/>
                  <a:uFillTx/>
                  <a:latin typeface="Arial" panose="020B0604020202020204" pitchFamily="34" charset="0"/>
                  <a:ea typeface="幼圆" panose="02010509060101010101" charset="-122"/>
                  <a:cs typeface="Arial" panose="020B0604020202020204" pitchFamily="34" charset="0"/>
                </a:rPr>
                <a:t>03</a:t>
              </a:r>
            </a:p>
          </p:txBody>
        </p:sp>
        <p:sp>
          <p:nvSpPr>
            <p:cNvPr id="1048599" name="文本框 66"/>
            <p:cNvSpPr txBox="1"/>
            <p:nvPr/>
          </p:nvSpPr>
          <p:spPr>
            <a:xfrm>
              <a:off x="15274" y="5001"/>
              <a:ext cx="1773" cy="1304"/>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pPr>
              <a:r>
                <a:rPr kumimoji="0" lang="en-US" altLang="zh-CN" sz="4400" b="1" i="0" u="none" strike="noStrike" kern="1200" cap="none" spc="0" normalizeH="0" baseline="0" noProof="0">
                  <a:ln>
                    <a:noFill/>
                  </a:ln>
                  <a:solidFill>
                    <a:srgbClr val="ECC1D5"/>
                  </a:solidFill>
                  <a:effectLst/>
                  <a:uLnTx/>
                  <a:uFillTx/>
                  <a:latin typeface="Arial" panose="020B0604020202020204" pitchFamily="34" charset="0"/>
                  <a:ea typeface="幼圆" panose="02010509060101010101" charset="-122"/>
                  <a:cs typeface="Arial" panose="020B0604020202020204" pitchFamily="34" charset="0"/>
                </a:rPr>
                <a:t>04</a:t>
              </a:r>
            </a:p>
          </p:txBody>
        </p:sp>
        <p:sp>
          <p:nvSpPr>
            <p:cNvPr id="1048603" name="文本框 70"/>
            <p:cNvSpPr txBox="1"/>
            <p:nvPr/>
          </p:nvSpPr>
          <p:spPr>
            <a:xfrm>
              <a:off x="1749" y="1313"/>
              <a:ext cx="1317" cy="5224"/>
            </a:xfrm>
            <a:prstGeom prst="rect">
              <a:avLst/>
            </a:prstGeom>
            <a:noFill/>
          </p:spPr>
          <p:txBody>
            <a:bodyPr wrap="square" rtlCol="0">
              <a:spAutoFit/>
            </a:bodyPr>
            <a:lstStyle/>
            <a:p>
              <a:pPr algn="l"/>
              <a:r>
                <a:rPr lang="en-US" altLang="zh-CN" sz="9600" dirty="0">
                  <a:solidFill>
                    <a:srgbClr val="64BDBF"/>
                  </a:solidFill>
                  <a:latin typeface="Arial" panose="020B0604020202020204" pitchFamily="34" charset="0"/>
                  <a:ea typeface="幼圆" panose="02010509060101010101" charset="-122"/>
                  <a:cs typeface="思源宋体" panose="02020400000000000000" charset="-122"/>
                </a:rPr>
                <a:t>C</a:t>
              </a:r>
            </a:p>
          </p:txBody>
        </p:sp>
        <p:sp>
          <p:nvSpPr>
            <p:cNvPr id="1048604" name="文本框 71"/>
            <p:cNvSpPr txBox="1"/>
            <p:nvPr/>
          </p:nvSpPr>
          <p:spPr>
            <a:xfrm>
              <a:off x="3170" y="1940"/>
              <a:ext cx="3601" cy="884"/>
            </a:xfrm>
            <a:prstGeom prst="rect">
              <a:avLst/>
            </a:prstGeom>
            <a:noFill/>
          </p:spPr>
          <p:txBody>
            <a:bodyPr wrap="square" rtlCol="0" anchor="t">
              <a:spAutoFit/>
            </a:bodyPr>
            <a:lstStyle/>
            <a:p>
              <a:pPr algn="l"/>
              <a:r>
                <a:rPr lang="en-US" altLang="zh-CN" sz="28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ONTENTS</a:t>
              </a:r>
            </a:p>
          </p:txBody>
        </p:sp>
        <p:sp>
          <p:nvSpPr>
            <p:cNvPr id="1048605" name="文本框 84"/>
            <p:cNvSpPr txBox="1"/>
            <p:nvPr/>
          </p:nvSpPr>
          <p:spPr>
            <a:xfrm>
              <a:off x="3130" y="2583"/>
              <a:ext cx="3452" cy="884"/>
            </a:xfrm>
            <a:prstGeom prst="rect">
              <a:avLst/>
            </a:prstGeom>
            <a:noFill/>
          </p:spPr>
          <p:txBody>
            <a:bodyPr wrap="square" rtlCol="0">
              <a:spAutoFit/>
            </a:bodyPr>
            <a:lstStyle/>
            <a:p>
              <a:pPr algn="dist"/>
              <a:r>
                <a:rPr lang="zh-CN" altLang="en-US" sz="2800" b="1" dirty="0">
                  <a:solidFill>
                    <a:srgbClr val="ECC1D5"/>
                  </a:solidFill>
                  <a:latin typeface="Arial" panose="020B0604020202020204" pitchFamily="34" charset="0"/>
                  <a:ea typeface="幼圆" panose="02010509060101010101" charset="-122"/>
                  <a:cs typeface="思源宋体" panose="02020400000000000000" charset="-122"/>
                </a:rPr>
                <a:t>目录标题</a:t>
              </a:r>
            </a:p>
          </p:txBody>
        </p:sp>
      </p:grpSp>
    </p:spTree>
    <p:custDataLst>
      <p:tags r:id="rId1"/>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5" dur="50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vertic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24"/>
          <p:cNvGrpSpPr/>
          <p:nvPr/>
        </p:nvGrpSpPr>
        <p:grpSpPr>
          <a:xfrm>
            <a:off x="0" y="0"/>
            <a:ext cx="12192635" cy="6854190"/>
            <a:chOff x="1" y="0"/>
            <a:chExt cx="19201" cy="10794"/>
          </a:xfrm>
        </p:grpSpPr>
        <p:pic>
          <p:nvPicPr>
            <p:cNvPr id="2097154" name="图片 6" descr="浅色柔色"/>
            <p:cNvPicPr>
              <a:picLocks noChangeAspect="1"/>
            </p:cNvPicPr>
            <p:nvPr/>
          </p:nvPicPr>
          <p:blipFill>
            <a:blip r:embed="rId3"/>
            <a:stretch>
              <a:fillRect/>
            </a:stretch>
          </p:blipFill>
          <p:spPr>
            <a:xfrm rot="16200000">
              <a:off x="4204" y="-4203"/>
              <a:ext cx="10794" cy="19201"/>
            </a:xfrm>
            <a:prstGeom prst="rect">
              <a:avLst/>
            </a:prstGeom>
          </p:spPr>
        </p:pic>
        <p:sp>
          <p:nvSpPr>
            <p:cNvPr id="1048606" name="矩形 19"/>
            <p:cNvSpPr/>
            <p:nvPr/>
          </p:nvSpPr>
          <p:spPr>
            <a:xfrm>
              <a:off x="506" y="572"/>
              <a:ext cx="18191" cy="9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grpSp>
          <p:nvGrpSpPr>
            <p:cNvPr id="35" name="组合 7"/>
            <p:cNvGrpSpPr/>
            <p:nvPr/>
          </p:nvGrpSpPr>
          <p:grpSpPr>
            <a:xfrm>
              <a:off x="2331" y="2562"/>
              <a:ext cx="15408" cy="6484"/>
              <a:chOff x="1991" y="2621"/>
              <a:chExt cx="15408" cy="6484"/>
            </a:xfrm>
          </p:grpSpPr>
          <p:grpSp>
            <p:nvGrpSpPr>
              <p:cNvPr id="36" name="组合 12"/>
              <p:cNvGrpSpPr/>
              <p:nvPr/>
            </p:nvGrpSpPr>
            <p:grpSpPr>
              <a:xfrm>
                <a:off x="1991" y="2621"/>
                <a:ext cx="15408" cy="6484"/>
                <a:chOff x="1976" y="2722"/>
                <a:chExt cx="15408" cy="6484"/>
              </a:xfrm>
            </p:grpSpPr>
            <p:grpSp>
              <p:nvGrpSpPr>
                <p:cNvPr id="37" name="组合 13"/>
                <p:cNvGrpSpPr/>
                <p:nvPr/>
              </p:nvGrpSpPr>
              <p:grpSpPr>
                <a:xfrm>
                  <a:off x="8405" y="5179"/>
                  <a:ext cx="5719" cy="704"/>
                  <a:chOff x="8345" y="5659"/>
                  <a:chExt cx="5719" cy="704"/>
                </a:xfrm>
              </p:grpSpPr>
              <p:sp>
                <p:nvSpPr>
                  <p:cNvPr id="1048607" name="矩形 16"/>
                  <p:cNvSpPr/>
                  <p:nvPr/>
                </p:nvSpPr>
                <p:spPr>
                  <a:xfrm>
                    <a:off x="8345" y="5659"/>
                    <a:ext cx="5719"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08" name="文本框 17"/>
                  <p:cNvSpPr txBox="1"/>
                  <p:nvPr/>
                </p:nvSpPr>
                <p:spPr>
                  <a:xfrm>
                    <a:off x="8345" y="5746"/>
                    <a:ext cx="5719" cy="584"/>
                  </a:xfrm>
                  <a:prstGeom prst="rect">
                    <a:avLst/>
                  </a:prstGeom>
                  <a:noFill/>
                </p:spPr>
                <p:txBody>
                  <a:bodyPr wrap="square" rtlCol="0">
                    <a:spAutoFit/>
                  </a:bodyPr>
                  <a:lstStyle/>
                  <a:p>
                    <a:pPr algn="ctr"/>
                    <a:r>
                      <a:rPr lang="zh-CN" altLang="en-US" sz="1600" dirty="0">
                        <a:solidFill>
                          <a:schemeClr val="bg1"/>
                        </a:solidFill>
                        <a:latin typeface="Arial" panose="020B0604020202020204" pitchFamily="34" charset="0"/>
                        <a:ea typeface="幼圆" panose="02010509060101010101" charset="-122"/>
                        <a:cs typeface="思源宋体" panose="02020400000000000000" charset="-122"/>
                      </a:rPr>
                      <a:t>ENTER THE TITLE CONTENT HERE</a:t>
                    </a:r>
                  </a:p>
                </p:txBody>
              </p:sp>
            </p:grpSp>
            <p:sp>
              <p:nvSpPr>
                <p:cNvPr id="1048609" name="文本框 18"/>
                <p:cNvSpPr txBox="1"/>
                <p:nvPr/>
              </p:nvSpPr>
              <p:spPr>
                <a:xfrm>
                  <a:off x="8250" y="3667"/>
                  <a:ext cx="5874" cy="1744"/>
                </a:xfrm>
                <a:prstGeom prst="rect">
                  <a:avLst/>
                </a:prstGeom>
                <a:noFill/>
              </p:spPr>
              <p:txBody>
                <a:bodyPr wrap="square" rtlCol="0">
                  <a:spAutoFit/>
                </a:bodyPr>
                <a:lstStyle/>
                <a:p>
                  <a:pPr algn="dist"/>
                  <a:r>
                    <a:rPr lang="zh-CN" altLang="en-US" sz="6000" dirty="0">
                      <a:solidFill>
                        <a:schemeClr val="tx1">
                          <a:lumMod val="75000"/>
                          <a:lumOff val="25000"/>
                        </a:schemeClr>
                      </a:solidFill>
                      <a:latin typeface="印品灵秀体（非商用）" panose="02000000000000000000" pitchFamily="2" charset="-122"/>
                      <a:ea typeface="印品灵秀体（非商用）" panose="02000000000000000000" pitchFamily="2" charset="-122"/>
                      <a:cs typeface="思源宋体" panose="02020400000000000000" charset="-122"/>
                    </a:rPr>
                    <a:t>职业前景</a:t>
                  </a:r>
                  <a:endParaRPr lang="zh-CN" altLang="en-US"/>
                </a:p>
              </p:txBody>
            </p:sp>
            <p:sp>
              <p:nvSpPr>
                <p:cNvPr id="1048610" name="文本框 20"/>
                <p:cNvSpPr txBox="1"/>
                <p:nvPr/>
              </p:nvSpPr>
              <p:spPr>
                <a:xfrm>
                  <a:off x="8359" y="5943"/>
                  <a:ext cx="9025" cy="864"/>
                </a:xfrm>
                <a:prstGeom prst="rect">
                  <a:avLst/>
                </a:prstGeom>
                <a:noFill/>
              </p:spPr>
              <p:txBody>
                <a:bodyPr wrap="square" rtlCol="0">
                  <a:spAutoFit/>
                </a:bodyPr>
                <a:lstStyle/>
                <a:p>
                  <a:pPr>
                    <a:lnSpc>
                      <a:spcPct val="150000"/>
                    </a:lnSpc>
                    <a:spcBef>
                      <a:spcPct val="0"/>
                    </a:spcBef>
                    <a:spcAft>
                      <a:spcPct val="0"/>
                    </a:spcAft>
                  </a:pPr>
                  <a:endParaRPr/>
                </a:p>
              </p:txBody>
            </p:sp>
            <p:sp>
              <p:nvSpPr>
                <p:cNvPr id="1048611" name="文本框 21"/>
                <p:cNvSpPr txBox="1"/>
                <p:nvPr/>
              </p:nvSpPr>
              <p:spPr>
                <a:xfrm>
                  <a:off x="1976" y="2722"/>
                  <a:ext cx="5834" cy="6484"/>
                </a:xfrm>
                <a:prstGeom prst="rect">
                  <a:avLst/>
                </a:prstGeom>
                <a:noFill/>
              </p:spPr>
              <p:txBody>
                <a:bodyPr wrap="square" rtlCol="0">
                  <a:spAutoFit/>
                </a:bodyPr>
                <a:lstStyle/>
                <a:p>
                  <a:pPr algn="ctr"/>
                  <a:r>
                    <a:rPr lang="en-US" altLang="zh-CN" sz="23900" b="1" dirty="0">
                      <a:solidFill>
                        <a:srgbClr val="64BDBF"/>
                      </a:solidFill>
                      <a:latin typeface="Arial" panose="020B0604020202020204" pitchFamily="34" charset="0"/>
                      <a:ea typeface="幼圆" panose="02010509060101010101" charset="-122"/>
                      <a:cs typeface="思源宋体" panose="02020400000000000000" charset="-122"/>
                    </a:rPr>
                    <a:t>01</a:t>
                  </a:r>
                </a:p>
              </p:txBody>
            </p:sp>
          </p:grpSp>
          <p:sp>
            <p:nvSpPr>
              <p:cNvPr id="1048612" name="矩形 22"/>
              <p:cNvSpPr/>
              <p:nvPr/>
            </p:nvSpPr>
            <p:spPr>
              <a:xfrm>
                <a:off x="2415" y="5078"/>
                <a:ext cx="4664"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13" name="文本框 23"/>
              <p:cNvSpPr txBox="1"/>
              <p:nvPr/>
            </p:nvSpPr>
            <p:spPr>
              <a:xfrm>
                <a:off x="2414" y="5125"/>
                <a:ext cx="4666" cy="884"/>
              </a:xfrm>
              <a:prstGeom prst="rect">
                <a:avLst/>
              </a:prstGeom>
              <a:noFill/>
            </p:spPr>
            <p:txBody>
              <a:bodyPr wrap="square" rtlCol="0">
                <a:spAutoFit/>
              </a:bodyPr>
              <a:lstStyle/>
              <a:p>
                <a:r>
                  <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p>
            </p:txBody>
          </p:sp>
        </p:grpSp>
      </p:grpSp>
      <p:sp>
        <p:nvSpPr>
          <p:cNvPr id="1048614" name="文本框 1048613"/>
          <p:cNvSpPr txBox="1"/>
          <p:nvPr/>
        </p:nvSpPr>
        <p:spPr>
          <a:xfrm>
            <a:off x="5562600" y="3738880"/>
            <a:ext cx="4572000" cy="954107"/>
          </a:xfrm>
          <a:prstGeom prst="rect">
            <a:avLst/>
          </a:prstGeom>
        </p:spPr>
        <p:txBody>
          <a:bodyPr wrap="square" rtlCol="0">
            <a:spAutoFit/>
          </a:bodyPr>
          <a:lstStyle/>
          <a:p>
            <a:r>
              <a:rPr lang="zh-CN" sz="1400" b="0" i="0" dirty="0">
                <a:solidFill>
                  <a:srgbClr val="000000"/>
                </a:solidFill>
                <a:latin typeface="华文楷体" panose="02010600040101010101" pitchFamily="2" charset="-122"/>
                <a:ea typeface="华文楷体" panose="02010600040101010101" pitchFamily="2" charset="-122"/>
                <a:cs typeface="宋体"/>
              </a:rPr>
              <a:t>对自己专业和未来职业的深刻了解和心得，是做好一个科学合理的职业生涯规划的前提条件，而职业在当下未来的发展方向和形势是想我们制定职业生涯规划的重要因素。</a:t>
            </a:r>
            <a:endParaRPr lang="zh-CN" altLang="en-US" sz="2000" dirty="0">
              <a:latin typeface="华文楷体" panose="02010600040101010101" pitchFamily="2" charset="-122"/>
              <a:ea typeface="华文楷体" panose="02010600040101010101" pitchFamily="2" charset="-122"/>
            </a:endParaRPr>
          </a:p>
        </p:txBody>
      </p:sp>
    </p:spTree>
    <p:custDataLst>
      <p:tags r:id="rId1"/>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 presetClass="entr" presetSubtype="16" dur="500" fill="hold" nodeType="afterEffect">
                                  <p:stCondLst>
                                    <p:cond delay="0"/>
                                  </p:stCondLst>
                                  <p:childTnLst>
                                    <p:set>
                                      <p:cBhvr>
                                        <p:cTn id="6" dur="500" fill="hold">
                                          <p:stCondLst>
                                            <p:cond delay="0"/>
                                          </p:stCondLst>
                                        </p:cTn>
                                        <p:tgtEl>
                                          <p:spTgt spid="34"/>
                                        </p:tgtEl>
                                        <p:attrNameLst>
                                          <p:attrName>style.visibility</p:attrName>
                                        </p:attrNameLst>
                                      </p:cBhvr>
                                      <p:to>
                                        <p:strVal val="visible"/>
                                      </p:to>
                                    </p:set>
                                    <p:animEffect transition="in" filter="box(in)">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3" name="文本框 13"/>
          <p:cNvSpPr txBox="1"/>
          <p:nvPr/>
        </p:nvSpPr>
        <p:spPr>
          <a:xfrm>
            <a:off x="4782820" y="484505"/>
            <a:ext cx="2626360" cy="646331"/>
          </a:xfrm>
          <a:prstGeom prst="rect">
            <a:avLst/>
          </a:prstGeom>
          <a:noFill/>
        </p:spPr>
        <p:txBody>
          <a:bodyPr wrap="square" rtlCol="0">
            <a:spAutoFit/>
          </a:bodyPr>
          <a:lstStyle/>
          <a:p>
            <a:pPr algn="ctr"/>
            <a:r>
              <a:rPr lang="zh-CN" altLang="en-US" sz="3600" dirty="0">
                <a:solidFill>
                  <a:srgbClr val="64BDBF"/>
                </a:solidFill>
                <a:latin typeface="Arial" panose="020B0604020202020204" pitchFamily="34" charset="0"/>
                <a:ea typeface="幼圆" panose="02010509060101010101" charset="-122"/>
                <a:cs typeface="思源黑体 CN Bold" panose="020B0800000000000000" charset="-122"/>
              </a:rPr>
              <a:t>职业前景</a:t>
            </a:r>
            <a:endParaRPr lang="zh-CN" altLang="en-US" sz="3600" dirty="0">
              <a:solidFill>
                <a:srgbClr val="FA90A7"/>
              </a:solidFill>
              <a:latin typeface="Arial" panose="020B0604020202020204" pitchFamily="34" charset="0"/>
              <a:ea typeface="幼圆" panose="02010509060101010101" charset="-122"/>
              <a:cs typeface="思源黑体 CN Bold" panose="020B0800000000000000" charset="-122"/>
            </a:endParaRPr>
          </a:p>
        </p:txBody>
      </p:sp>
      <p:sp>
        <p:nvSpPr>
          <p:cNvPr id="1048784" name="文本框 12"/>
          <p:cNvSpPr txBox="1"/>
          <p:nvPr/>
        </p:nvSpPr>
        <p:spPr>
          <a:xfrm>
            <a:off x="4396740" y="1129665"/>
            <a:ext cx="3322320" cy="256539"/>
          </a:xfrm>
          <a:prstGeom prst="rect">
            <a:avLst/>
          </a:prstGeom>
          <a:noFill/>
        </p:spPr>
        <p:txBody>
          <a:bodyPr wrap="square" rtlCol="0">
            <a:spAutoFit/>
          </a:bodyPr>
          <a:lstStyle/>
          <a:p>
            <a:pPr algn="dist"/>
            <a:r>
              <a:rPr lang="zh-CN" altLang="en-US" sz="1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rPr>
              <a:t>PLANNING SCHEME</a:t>
            </a:r>
          </a:p>
        </p:txBody>
      </p:sp>
      <p:cxnSp>
        <p:nvCxnSpPr>
          <p:cNvPr id="3145747" name="直接连接符 1"/>
          <p:cNvCxnSpPr>
            <a:cxnSpLocks/>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145748" name="直接连接符 2"/>
          <p:cNvCxnSpPr>
            <a:cxnSpLocks/>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93" name="组合 3"/>
          <p:cNvGrpSpPr/>
          <p:nvPr/>
        </p:nvGrpSpPr>
        <p:grpSpPr>
          <a:xfrm>
            <a:off x="1488440" y="2122170"/>
            <a:ext cx="9472930" cy="3938270"/>
            <a:chOff x="2419" y="2980"/>
            <a:chExt cx="14918" cy="6202"/>
          </a:xfrm>
        </p:grpSpPr>
        <p:sp>
          <p:nvSpPr>
            <p:cNvPr id="1048785" name="矩形 24"/>
            <p:cNvSpPr/>
            <p:nvPr/>
          </p:nvSpPr>
          <p:spPr>
            <a:xfrm>
              <a:off x="8353" y="2980"/>
              <a:ext cx="3118" cy="630"/>
            </a:xfrm>
            <a:prstGeom prst="rect">
              <a:avLst/>
            </a:prstGeom>
            <a:solidFill>
              <a:srgbClr val="64BDBF"/>
            </a:solidFill>
          </p:spPr>
          <p:txBody>
            <a:bodyPr wrap="none">
              <a:spAutoFit/>
            </a:bodyPr>
            <a:lstStyle/>
            <a:p>
              <a:pPr algn="l"/>
              <a:r>
                <a:rPr lang="zh-CN" altLang="en-US" sz="2000" dirty="0">
                  <a:solidFill>
                    <a:schemeClr val="bg1"/>
                  </a:solidFill>
                  <a:latin typeface="Arial" panose="020B0604020202020204" pitchFamily="34" charset="0"/>
                  <a:ea typeface="幼圆" panose="02010509060101010101" charset="-122"/>
                  <a:cs typeface="思源宋体" panose="02020400000000000000" charset="-122"/>
                </a:rPr>
                <a:t>高级会计师稀缺</a:t>
              </a:r>
            </a:p>
          </p:txBody>
        </p:sp>
        <p:sp>
          <p:nvSpPr>
            <p:cNvPr id="1048786" name="矩形 25"/>
            <p:cNvSpPr/>
            <p:nvPr/>
          </p:nvSpPr>
          <p:spPr>
            <a:xfrm>
              <a:off x="8353" y="3768"/>
              <a:ext cx="6120" cy="630"/>
            </a:xfrm>
            <a:prstGeom prst="rect">
              <a:avLst/>
            </a:prstGeom>
            <a:solidFill>
              <a:srgbClr val="FA90A7"/>
            </a:solidFill>
          </p:spPr>
          <p:txBody>
            <a:bodyPr wrap="square">
              <a:spAutoFit/>
            </a:bodyPr>
            <a:lstStyle/>
            <a:p>
              <a:pPr algn="l"/>
              <a:r>
                <a:rPr lang="zh-CN" altLang="en-US" sz="2000" dirty="0">
                  <a:solidFill>
                    <a:schemeClr val="bg1"/>
                  </a:solidFill>
                  <a:latin typeface="Arial" panose="020B0604020202020204" pitchFamily="34" charset="0"/>
                  <a:ea typeface="幼圆" panose="02010509060101010101" charset="-122"/>
                  <a:cs typeface="思源宋体" panose="02020400000000000000" charset="-122"/>
                </a:rPr>
                <a:t>会计师面临人才转型的需求</a:t>
              </a:r>
              <a:endParaRPr lang="en-US" altLang="zh-CN" sz="2000" dirty="0">
                <a:solidFill>
                  <a:schemeClr val="bg1"/>
                </a:solidFill>
                <a:latin typeface="Arial" panose="020B0604020202020204" pitchFamily="34" charset="0"/>
                <a:ea typeface="幼圆" panose="02010509060101010101" charset="-122"/>
                <a:cs typeface="思源宋体" panose="02020400000000000000" charset="-122"/>
              </a:endParaRPr>
            </a:p>
          </p:txBody>
        </p:sp>
        <p:sp>
          <p:nvSpPr>
            <p:cNvPr id="1048787" name="矩形 16"/>
            <p:cNvSpPr/>
            <p:nvPr/>
          </p:nvSpPr>
          <p:spPr>
            <a:xfrm>
              <a:off x="8238" y="4398"/>
              <a:ext cx="9099" cy="4784"/>
            </a:xfrm>
            <a:prstGeom prst="rect">
              <a:avLst/>
            </a:prstGeom>
          </p:spPr>
          <p:txBody>
            <a:bodyPr wrap="square">
              <a:spAutoFit/>
            </a:bodyPr>
            <a:lstStyle/>
            <a:p>
              <a:pPr algn="l"/>
              <a:r>
                <a:rPr lang="zh-CN" altLang="en-US" sz="1200" b="0" i="0" dirty="0">
                  <a:solidFill>
                    <a:srgbClr val="191B1F"/>
                  </a:solidFill>
                  <a:effectLst/>
                  <a:latin typeface="-apple-system"/>
                </a:rPr>
                <a:t>一方面普通会计人才严重饱和，另一方面</a:t>
              </a:r>
              <a:r>
                <a:rPr lang="zh-CN" altLang="en-US" sz="1200" b="0" i="0" dirty="0">
                  <a:solidFill>
                    <a:srgbClr val="09408E"/>
                  </a:solidFill>
                  <a:effectLst/>
                  <a:highlight>
                    <a:srgbClr val="FFFF00"/>
                  </a:highlight>
                  <a:latin typeface="-apple-system"/>
                </a:rPr>
                <a:t>高级会计师</a:t>
              </a:r>
              <a:r>
                <a:rPr lang="zh-CN" altLang="en-US" sz="1200" b="0" i="0" dirty="0">
                  <a:solidFill>
                    <a:srgbClr val="191B1F"/>
                  </a:solidFill>
                  <a:effectLst/>
                  <a:latin typeface="-apple-system"/>
                </a:rPr>
                <a:t>人才严重短缺，甚至需要从其他国家引进。面对这一现象，财政部近几年的政策也表示：在不久的将来，</a:t>
              </a:r>
              <a:r>
                <a:rPr lang="zh-CN" altLang="en-US" sz="1200" b="0" i="0" u="none" strike="noStrike" dirty="0">
                  <a:solidFill>
                    <a:srgbClr val="191B1F"/>
                  </a:solidFill>
                  <a:effectLst/>
                  <a:latin typeface="-apple-system"/>
                </a:rPr>
                <a:t>高端会计师</a:t>
              </a:r>
              <a:r>
                <a:rPr lang="zh-CN" altLang="en-US" sz="1200" b="0" i="0" dirty="0">
                  <a:solidFill>
                    <a:srgbClr val="191B1F"/>
                  </a:solidFill>
                  <a:effectLst/>
                  <a:latin typeface="-apple-system"/>
                </a:rPr>
                <a:t>将会成为我国会计的</a:t>
              </a:r>
              <a:r>
                <a:rPr lang="zh-CN" altLang="en-US" sz="1200" b="0" i="0" dirty="0">
                  <a:solidFill>
                    <a:srgbClr val="191B1F"/>
                  </a:solidFill>
                  <a:effectLst/>
                  <a:highlight>
                    <a:srgbClr val="FFFF00"/>
                  </a:highlight>
                  <a:latin typeface="-apple-system"/>
                </a:rPr>
                <a:t>重点培养对象</a:t>
              </a:r>
              <a:r>
                <a:rPr lang="zh-CN" altLang="en-US" sz="1200" b="0" i="0" dirty="0">
                  <a:solidFill>
                    <a:srgbClr val="191B1F"/>
                  </a:solidFill>
                  <a:effectLst/>
                  <a:latin typeface="-apple-system"/>
                </a:rPr>
                <a:t>。</a:t>
              </a:r>
            </a:p>
            <a:p>
              <a:pPr algn="l"/>
              <a:r>
                <a:rPr lang="zh-CN" altLang="en-US" sz="1200" b="0" i="0" dirty="0">
                  <a:solidFill>
                    <a:srgbClr val="191B1F"/>
                  </a:solidFill>
                  <a:effectLst/>
                  <a:latin typeface="-apple-system"/>
                </a:rPr>
                <a:t>我国经济全面对外开放以来，一直在不断改善国内投资环境，以促进经济高速稳定发展。会计行业应不断提高自身透明度，加强与国际接轨，方便在进行筹资、投资、经营</a:t>
              </a:r>
              <a:r>
                <a:rPr lang="zh-CN" altLang="en-US" sz="1200" b="0" i="0" dirty="0">
                  <a:solidFill>
                    <a:srgbClr val="191B1F"/>
                  </a:solidFill>
                  <a:effectLst/>
                  <a:highlight>
                    <a:srgbClr val="FFFF00"/>
                  </a:highlight>
                  <a:latin typeface="-apple-system"/>
                </a:rPr>
                <a:t>决策时能更好的理解和运用，避免决策失误</a:t>
              </a:r>
              <a:r>
                <a:rPr lang="zh-CN" altLang="en-US" sz="1200" b="0" i="0" dirty="0">
                  <a:solidFill>
                    <a:srgbClr val="191B1F"/>
                  </a:solidFill>
                  <a:effectLst/>
                  <a:latin typeface="-apple-system"/>
                </a:rPr>
                <a:t>。</a:t>
              </a:r>
            </a:p>
            <a:p>
              <a:pPr algn="l"/>
              <a:r>
                <a:rPr lang="zh-CN" altLang="en-US" sz="1200" b="0" i="0" dirty="0">
                  <a:solidFill>
                    <a:srgbClr val="191B1F"/>
                  </a:solidFill>
                  <a:effectLst/>
                  <a:latin typeface="-apple-system"/>
                </a:rPr>
                <a:t>这就要求各国会计在处理会计事项时，可以遵循某种通行规定去行规办事。因此，未来各国的会计行业都将会更加注重本国会计与国际惯例的接轨，相对应的，在将来，</a:t>
              </a:r>
              <a:r>
                <a:rPr lang="zh-CN" altLang="en-US" sz="1200" b="0" i="0" dirty="0">
                  <a:solidFill>
                    <a:srgbClr val="191B1F"/>
                  </a:solidFill>
                  <a:effectLst/>
                  <a:highlight>
                    <a:srgbClr val="FFFF00"/>
                  </a:highlight>
                  <a:latin typeface="-apple-system"/>
                </a:rPr>
                <a:t>国际型人才</a:t>
              </a:r>
              <a:r>
                <a:rPr lang="zh-CN" altLang="en-US" sz="1200" b="0" i="0" dirty="0">
                  <a:solidFill>
                    <a:srgbClr val="191B1F"/>
                  </a:solidFill>
                  <a:effectLst/>
                  <a:latin typeface="-apple-system"/>
                </a:rPr>
                <a:t>会成为这一行业的“香饽饽”。</a:t>
              </a:r>
            </a:p>
            <a:p>
              <a:pPr algn="l"/>
              <a:r>
                <a:rPr lang="zh-CN" altLang="en-US" sz="1200" b="0" i="0" dirty="0">
                  <a:solidFill>
                    <a:srgbClr val="191B1F"/>
                  </a:solidFill>
                  <a:effectLst/>
                  <a:latin typeface="-apple-system"/>
                </a:rPr>
                <a:t>与此同时，会计行业也有其自身的变革。随着人工智能，大数据在各行各业的广泛应用，未来基础财务核算岗位的需求将大大缩减，不仅毕业生就业压力进一步增加，在职人士也</a:t>
              </a:r>
              <a:r>
                <a:rPr lang="zh-CN" altLang="en-US" sz="1200" b="0" i="0" dirty="0">
                  <a:solidFill>
                    <a:srgbClr val="191B1F"/>
                  </a:solidFill>
                  <a:effectLst/>
                  <a:highlight>
                    <a:srgbClr val="FFFF00"/>
                  </a:highlight>
                  <a:latin typeface="-apple-system"/>
                </a:rPr>
                <a:t>面临被“机器”淘汰的风险</a:t>
              </a:r>
              <a:r>
                <a:rPr lang="zh-CN" altLang="en-US" sz="1200" b="0" i="0" dirty="0">
                  <a:solidFill>
                    <a:srgbClr val="191B1F"/>
                  </a:solidFill>
                  <a:effectLst/>
                  <a:latin typeface="-apple-system"/>
                </a:rPr>
                <a:t>。</a:t>
              </a:r>
            </a:p>
            <a:p>
              <a:pPr algn="l"/>
              <a:endParaRPr lang="en-US" altLang="zh-CN" sz="1200" b="0" i="0" dirty="0">
                <a:solidFill>
                  <a:srgbClr val="191B1F"/>
                </a:solidFill>
                <a:effectLst/>
                <a:latin typeface="-apple-system"/>
              </a:endParaRPr>
            </a:p>
            <a:p>
              <a:pPr algn="l"/>
              <a:r>
                <a:rPr lang="zh-CN" altLang="en-US" sz="1200" b="0" i="0" dirty="0">
                  <a:solidFill>
                    <a:srgbClr val="191B1F"/>
                  </a:solidFill>
                  <a:effectLst/>
                  <a:latin typeface="-apple-system"/>
                </a:rPr>
                <a:t>因此，人才转型势在必行。</a:t>
              </a:r>
            </a:p>
            <a:p>
              <a:pPr indent="0" algn="l" fontAlgn="auto">
                <a:lnSpc>
                  <a:spcPct val="150000"/>
                </a:lnSpc>
                <a:spcBef>
                  <a:spcPts val="600"/>
                </a:spcBef>
                <a:spcAft>
                  <a:spcPts val="600"/>
                </a:spcAft>
                <a:buClr>
                  <a:srgbClr val="5851BC"/>
                </a:buClr>
                <a:buNone/>
              </a:pPr>
              <a:endPar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pic>
          <p:nvPicPr>
            <p:cNvPr id="2097167" name="图片 17" descr="D:\千图网\文艺读书\IMG_2299.JPGIMG_2299"/>
            <p:cNvPicPr>
              <a:picLocks noChangeAspect="1"/>
            </p:cNvPicPr>
            <p:nvPr/>
          </p:nvPicPr>
          <p:blipFill>
            <a:blip r:embed="rId3"/>
            <a:stretch>
              <a:fillRect/>
            </a:stretch>
          </p:blipFill>
          <p:spPr>
            <a:xfrm>
              <a:off x="2419" y="2980"/>
              <a:ext cx="5368" cy="5368"/>
            </a:xfrm>
            <a:prstGeom prst="rect">
              <a:avLst/>
            </a:prstGeom>
          </p:spPr>
        </p:pic>
      </p:grpSp>
    </p:spTree>
    <p:custDataLst>
      <p:tags r:id="rId1"/>
    </p:custDataLst>
    <p:extLst>
      <p:ext uri="{BB962C8B-B14F-4D97-AF65-F5344CB8AC3E}">
        <p14:creationId xmlns:p14="http://schemas.microsoft.com/office/powerpoint/2010/main" val="784757527"/>
      </p:ext>
    </p:extLst>
  </p:cSld>
  <p:clrMapOvr>
    <a:masterClrMapping/>
  </p:clrMapOvr>
  <p:transition advTm="2000">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32" dur="500" fill="hold" nodeType="afterEffect">
                                  <p:stCondLst>
                                    <p:cond delay="0"/>
                                  </p:stCondLst>
                                  <p:childTnLst>
                                    <p:set>
                                      <p:cBhvr>
                                        <p:cTn id="6" dur="500" fill="hold">
                                          <p:stCondLst>
                                            <p:cond delay="0"/>
                                          </p:stCondLst>
                                        </p:cTn>
                                        <p:tgtEl>
                                          <p:spTgt spid="93"/>
                                        </p:tgtEl>
                                        <p:attrNameLst>
                                          <p:attrName>style.visibility</p:attrName>
                                        </p:attrNameLst>
                                      </p:cBhvr>
                                      <p:to>
                                        <p:strVal val="visible"/>
                                      </p:to>
                                    </p:set>
                                    <p:animEffect transition="in" filter="plus(out)">
                                      <p:cBhvr>
                                        <p:cTn id="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1"/>
          <p:cNvGrpSpPr/>
          <p:nvPr/>
        </p:nvGrpSpPr>
        <p:grpSpPr>
          <a:xfrm>
            <a:off x="1264285" y="1664335"/>
            <a:ext cx="9784080" cy="4117340"/>
            <a:chOff x="1991" y="2621"/>
            <a:chExt cx="15408" cy="6484"/>
          </a:xfrm>
        </p:grpSpPr>
        <p:grpSp>
          <p:nvGrpSpPr>
            <p:cNvPr id="51" name="组合 2"/>
            <p:cNvGrpSpPr/>
            <p:nvPr/>
          </p:nvGrpSpPr>
          <p:grpSpPr>
            <a:xfrm>
              <a:off x="1991" y="2621"/>
              <a:ext cx="15408" cy="6484"/>
              <a:chOff x="1976" y="2722"/>
              <a:chExt cx="15408" cy="6484"/>
            </a:xfrm>
          </p:grpSpPr>
          <p:grpSp>
            <p:nvGrpSpPr>
              <p:cNvPr id="52" name="组合 3"/>
              <p:cNvGrpSpPr/>
              <p:nvPr/>
            </p:nvGrpSpPr>
            <p:grpSpPr>
              <a:xfrm>
                <a:off x="8405" y="5179"/>
                <a:ext cx="5719" cy="704"/>
                <a:chOff x="8345" y="5659"/>
                <a:chExt cx="5719" cy="704"/>
              </a:xfrm>
            </p:grpSpPr>
            <p:sp>
              <p:nvSpPr>
                <p:cNvPr id="1048642" name="矩形 4"/>
                <p:cNvSpPr/>
                <p:nvPr/>
              </p:nvSpPr>
              <p:spPr>
                <a:xfrm>
                  <a:off x="8345" y="5659"/>
                  <a:ext cx="5719"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43" name="文本框 5"/>
                <p:cNvSpPr txBox="1"/>
                <p:nvPr/>
              </p:nvSpPr>
              <p:spPr>
                <a:xfrm>
                  <a:off x="8345" y="5746"/>
                  <a:ext cx="5719" cy="584"/>
                </a:xfrm>
                <a:prstGeom prst="rect">
                  <a:avLst/>
                </a:prstGeom>
                <a:noFill/>
              </p:spPr>
              <p:txBody>
                <a:bodyPr wrap="square" rtlCol="0">
                  <a:spAutoFit/>
                </a:bodyPr>
                <a:lstStyle/>
                <a:p>
                  <a:pPr algn="ctr"/>
                  <a:r>
                    <a:rPr lang="zh-CN" altLang="en-US" sz="1600">
                      <a:solidFill>
                        <a:schemeClr val="bg1"/>
                      </a:solidFill>
                      <a:latin typeface="Arial" panose="020B0604020202020204" pitchFamily="34" charset="0"/>
                      <a:ea typeface="幼圆" panose="02010509060101010101" charset="-122"/>
                      <a:cs typeface="思源宋体" panose="02020400000000000000" charset="-122"/>
                    </a:rPr>
                    <a:t>ENTER THE TITLE CONTENT HERE</a:t>
                  </a:r>
                </a:p>
              </p:txBody>
            </p:sp>
          </p:grpSp>
          <p:sp>
            <p:nvSpPr>
              <p:cNvPr id="1048644" name="文本框 7"/>
              <p:cNvSpPr txBox="1"/>
              <p:nvPr/>
            </p:nvSpPr>
            <p:spPr>
              <a:xfrm>
                <a:off x="8250" y="3618"/>
                <a:ext cx="5874" cy="1599"/>
              </a:xfrm>
              <a:prstGeom prst="rect">
                <a:avLst/>
              </a:prstGeom>
              <a:noFill/>
            </p:spPr>
            <p:txBody>
              <a:bodyPr wrap="square" rtlCol="0">
                <a:spAutoFit/>
              </a:bodyPr>
              <a:lstStyle>
                <a:defPPr>
                  <a:defRPr lang="zh-CN"/>
                </a:defPPr>
                <a:lvl1pPr algn="dist">
                  <a:defRPr sz="6000">
                    <a:solidFill>
                      <a:schemeClr val="tx1">
                        <a:lumMod val="75000"/>
                        <a:lumOff val="25000"/>
                      </a:schemeClr>
                    </a:solidFill>
                    <a:latin typeface="印品灵秀体（非商用）" panose="02000000000000000000" pitchFamily="2" charset="-122"/>
                    <a:ea typeface="印品灵秀体（非商用）" panose="02000000000000000000" pitchFamily="2" charset="-122"/>
                    <a:cs typeface="思源宋体" panose="02020400000000000000" charset="-122"/>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0000">
                        <a:lumMod val="75000"/>
                        <a:lumOff val="25000"/>
                      </a:srgbClr>
                    </a:solidFill>
                    <a:effectLst/>
                    <a:uLnTx/>
                    <a:uFillTx/>
                    <a:latin typeface="印品灵秀体（非商用）" panose="02000000000000000000" pitchFamily="2" charset="-122"/>
                    <a:ea typeface="印品灵秀体（非商用）" panose="02000000000000000000" pitchFamily="2" charset="-122"/>
                    <a:cs typeface="思源宋体" panose="02020400000000000000" charset="-122"/>
                  </a:rPr>
                  <a:t>自我评估</a:t>
                </a:r>
              </a:p>
            </p:txBody>
          </p:sp>
          <p:sp>
            <p:nvSpPr>
              <p:cNvPr id="1048645" name="文本框 12"/>
              <p:cNvSpPr txBox="1"/>
              <p:nvPr/>
            </p:nvSpPr>
            <p:spPr>
              <a:xfrm>
                <a:off x="8359" y="5943"/>
                <a:ext cx="9025" cy="528"/>
              </a:xfrm>
              <a:prstGeom prst="rect">
                <a:avLst/>
              </a:prstGeom>
              <a:noFill/>
            </p:spPr>
            <p:txBody>
              <a:bodyPr wrap="square" rtlCol="0">
                <a:spAutoFit/>
              </a:bodyPr>
              <a:lstStyle/>
              <a:p>
                <a:pPr>
                  <a:lnSpc>
                    <a:spcPct val="150000"/>
                  </a:lnSpc>
                  <a:spcBef>
                    <a:spcPct val="0"/>
                  </a:spcBef>
                  <a:spcAft>
                    <a:spcPct val="0"/>
                  </a:spcAft>
                </a:pPr>
                <a:endParaRPr lang="en-US" sz="12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646" name="文本框 13"/>
              <p:cNvSpPr txBox="1"/>
              <p:nvPr/>
            </p:nvSpPr>
            <p:spPr>
              <a:xfrm>
                <a:off x="1976" y="2722"/>
                <a:ext cx="5834" cy="6484"/>
              </a:xfrm>
              <a:prstGeom prst="rect">
                <a:avLst/>
              </a:prstGeom>
              <a:noFill/>
            </p:spPr>
            <p:txBody>
              <a:bodyPr wrap="square" rtlCol="0">
                <a:spAutoFit/>
              </a:bodyPr>
              <a:lstStyle/>
              <a:p>
                <a:pPr algn="ctr"/>
                <a:r>
                  <a:rPr lang="en-US" altLang="zh-CN" sz="23900" b="1" dirty="0">
                    <a:solidFill>
                      <a:srgbClr val="64BDBF"/>
                    </a:solidFill>
                    <a:latin typeface="Arial" panose="020B0604020202020204" pitchFamily="34" charset="0"/>
                    <a:ea typeface="幼圆" panose="02010509060101010101" charset="-122"/>
                    <a:cs typeface="思源宋体" panose="02020400000000000000" charset="-122"/>
                  </a:rPr>
                  <a:t>02</a:t>
                </a:r>
              </a:p>
            </p:txBody>
          </p:sp>
        </p:grpSp>
        <p:sp>
          <p:nvSpPr>
            <p:cNvPr id="1048647" name="矩形 16"/>
            <p:cNvSpPr/>
            <p:nvPr/>
          </p:nvSpPr>
          <p:spPr>
            <a:xfrm>
              <a:off x="2415" y="5078"/>
              <a:ext cx="4664"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48" name="文本框 17"/>
            <p:cNvSpPr txBox="1"/>
            <p:nvPr/>
          </p:nvSpPr>
          <p:spPr>
            <a:xfrm>
              <a:off x="2414" y="5125"/>
              <a:ext cx="4666" cy="884"/>
            </a:xfrm>
            <a:prstGeom prst="rect">
              <a:avLst/>
            </a:prstGeom>
            <a:noFill/>
          </p:spPr>
          <p:txBody>
            <a:bodyPr wrap="square" rtlCol="0">
              <a:spAutoFit/>
            </a:bodyPr>
            <a:lstStyle/>
            <a:p>
              <a:r>
                <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p>
          </p:txBody>
        </p:sp>
      </p:grpSp>
      <p:sp>
        <p:nvSpPr>
          <p:cNvPr id="5" name="文本框 4">
            <a:extLst>
              <a:ext uri="{FF2B5EF4-FFF2-40B4-BE49-F238E27FC236}">
                <a16:creationId xmlns:a16="http://schemas.microsoft.com/office/drawing/2014/main" id="{6CCF39B7-0F0A-6C96-FE55-FE68EB6A2069}"/>
              </a:ext>
            </a:extLst>
          </p:cNvPr>
          <p:cNvSpPr txBox="1"/>
          <p:nvPr/>
        </p:nvSpPr>
        <p:spPr>
          <a:xfrm>
            <a:off x="5346700" y="3709670"/>
            <a:ext cx="4506291"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err="1">
                <a:solidFill>
                  <a:srgbClr val="000000"/>
                </a:solidFill>
                <a:latin typeface="华文楷体" panose="02010600040101010101" pitchFamily="2" charset="-122"/>
                <a:ea typeface="华文楷体" panose="02010600040101010101" pitchFamily="2" charset="-122"/>
              </a:rPr>
              <a:t>大学生就业问题成为了社会各界关注的问题大学生就业难，就业方向不定</a:t>
            </a:r>
            <a:r>
              <a:rPr lang="en-US" altLang="zh-CN" sz="1400" dirty="0">
                <a:solidFill>
                  <a:srgbClr val="000000"/>
                </a:solidFill>
                <a:latin typeface="华文楷体" panose="02010600040101010101" pitchFamily="2" charset="-122"/>
                <a:ea typeface="华文楷体" panose="02010600040101010101" pitchFamily="2" charset="-122"/>
              </a:rPr>
              <a:t> ,</a:t>
            </a:r>
            <a:r>
              <a:rPr lang="en-US" altLang="zh-CN" sz="1400" dirty="0" err="1">
                <a:solidFill>
                  <a:srgbClr val="000000"/>
                </a:solidFill>
                <a:latin typeface="华文楷体" panose="02010600040101010101" pitchFamily="2" charset="-122"/>
                <a:ea typeface="华文楷体" panose="02010600040101010101" pitchFamily="2" charset="-122"/>
              </a:rPr>
              <a:t>主要体现在自我认识不够深，自我了解不够准确</a:t>
            </a:r>
            <a:endParaRPr lang="en-US" altLang="zh-CN" sz="1400" dirty="0">
              <a:solidFill>
                <a:srgbClr val="000000"/>
              </a:solidFill>
              <a:latin typeface="华文楷体" panose="02010600040101010101" pitchFamily="2" charset="-122"/>
              <a:ea typeface="华文楷体" panose="02010600040101010101" pitchFamily="2" charset="-122"/>
            </a:endParaRPr>
          </a:p>
        </p:txBody>
      </p:sp>
    </p:spTree>
    <p:custDataLst>
      <p:tags r:id="rId1"/>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dur="50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arn(inVertical)">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文本框 13"/>
          <p:cNvSpPr txBox="1"/>
          <p:nvPr/>
        </p:nvSpPr>
        <p:spPr>
          <a:xfrm>
            <a:off x="4782820" y="484505"/>
            <a:ext cx="2626360" cy="701040"/>
          </a:xfrm>
          <a:prstGeom prst="rect">
            <a:avLst/>
          </a:prstGeom>
          <a:noFill/>
        </p:spPr>
        <p:txBody>
          <a:bodyPr wrap="square" rtlCol="0">
            <a:spAutoFit/>
          </a:bodyPr>
          <a:lstStyle/>
          <a:p>
            <a:pPr algn="ctr"/>
            <a:r>
              <a:rPr lang="zh-CN" altLang="en-US" sz="3600">
                <a:solidFill>
                  <a:srgbClr val="64BDBF"/>
                </a:solidFill>
                <a:latin typeface="Arial" panose="020B0604020202020204" pitchFamily="34" charset="0"/>
                <a:ea typeface="幼圆" panose="02010509060101010101" charset="-122"/>
                <a:cs typeface="思源黑体 CN Bold" panose="020B0800000000000000" charset="-122"/>
              </a:rPr>
              <a:t>自我</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评估</a:t>
            </a:r>
          </a:p>
        </p:txBody>
      </p:sp>
      <p:sp>
        <p:nvSpPr>
          <p:cNvPr id="1048617" name="文本框 12"/>
          <p:cNvSpPr txBox="1"/>
          <p:nvPr/>
        </p:nvSpPr>
        <p:spPr>
          <a:xfrm>
            <a:off x="4396740" y="1129665"/>
            <a:ext cx="3322320" cy="256539"/>
          </a:xfrm>
          <a:prstGeom prst="rect">
            <a:avLst/>
          </a:prstGeom>
          <a:noFill/>
        </p:spPr>
        <p:txBody>
          <a:bodyPr wrap="square" rtlCol="0">
            <a:spAutoFit/>
          </a:bodyPr>
          <a:lstStyle/>
          <a:p>
            <a:pPr algn="dist"/>
            <a:r>
              <a:rPr lang="zh-CN" altLang="en-US" sz="1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rPr>
              <a:t>SELF ASSESSMENT</a:t>
            </a:r>
          </a:p>
        </p:txBody>
      </p:sp>
      <p:cxnSp>
        <p:nvCxnSpPr>
          <p:cNvPr id="3145728" name="直接连接符 1"/>
          <p:cNvCxnSpPr>
            <a:cxnSpLocks/>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145729" name="直接连接符 2"/>
          <p:cNvCxnSpPr>
            <a:cxnSpLocks/>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0" name="组合 4"/>
          <p:cNvGrpSpPr/>
          <p:nvPr/>
        </p:nvGrpSpPr>
        <p:grpSpPr>
          <a:xfrm>
            <a:off x="706120" y="2133600"/>
            <a:ext cx="10700385" cy="3721916"/>
            <a:chOff x="1112" y="3360"/>
            <a:chExt cx="16851" cy="5861"/>
          </a:xfrm>
        </p:grpSpPr>
        <p:grpSp>
          <p:nvGrpSpPr>
            <p:cNvPr id="41" name="组合 3"/>
            <p:cNvGrpSpPr/>
            <p:nvPr/>
          </p:nvGrpSpPr>
          <p:grpSpPr>
            <a:xfrm>
              <a:off x="8701" y="3360"/>
              <a:ext cx="9262" cy="5861"/>
              <a:chOff x="7761" y="3080"/>
              <a:chExt cx="9262" cy="5861"/>
            </a:xfrm>
          </p:grpSpPr>
          <p:grpSp>
            <p:nvGrpSpPr>
              <p:cNvPr id="42" name="组合 28"/>
              <p:cNvGrpSpPr/>
              <p:nvPr/>
            </p:nvGrpSpPr>
            <p:grpSpPr>
              <a:xfrm>
                <a:off x="7761" y="3080"/>
                <a:ext cx="9262" cy="1865"/>
                <a:chOff x="1058785" y="1935084"/>
                <a:chExt cx="5881244" cy="1185323"/>
              </a:xfrm>
            </p:grpSpPr>
            <p:sp>
              <p:nvSpPr>
                <p:cNvPr id="1048618" name="TextBox 76"/>
                <p:cNvSpPr txBox="1"/>
                <p:nvPr/>
              </p:nvSpPr>
              <p:spPr>
                <a:xfrm>
                  <a:off x="1143240" y="1935084"/>
                  <a:ext cx="2063115" cy="396556"/>
                </a:xfrm>
                <a:prstGeom prst="rect">
                  <a:avLst/>
                </a:prstGeom>
                <a:solidFill>
                  <a:srgbClr val="64BDBF"/>
                </a:solidFill>
                <a:ln>
                  <a:noFill/>
                </a:ln>
              </p:spPr>
              <p:txBody>
                <a:bodyPr wrap="square" rtlCol="0">
                  <a:spAutoFit/>
                </a:bodyPr>
                <a:lstStyle/>
                <a:p>
                  <a:pPr algn="ctr"/>
                  <a:r>
                    <a:rPr lang="zh-CN"/>
                    <a:t>职业兴趣</a:t>
                  </a:r>
                  <a:endParaRPr lang="zh-CN" altLang="en-US"/>
                </a:p>
              </p:txBody>
            </p:sp>
            <p:sp>
              <p:nvSpPr>
                <p:cNvPr id="1048619" name="文本框 30"/>
                <p:cNvSpPr txBox="1"/>
                <p:nvPr/>
              </p:nvSpPr>
              <p:spPr>
                <a:xfrm>
                  <a:off x="1058785" y="2304416"/>
                  <a:ext cx="5881244" cy="815991"/>
                </a:xfrm>
                <a:prstGeom prst="rect">
                  <a:avLst/>
                </a:prstGeom>
                <a:noFill/>
              </p:spPr>
              <p:txBody>
                <a:bodyPr wrap="square" rtlCol="0">
                  <a:spAutoFit/>
                </a:bodyPr>
                <a:lstStyle/>
                <a:p>
                  <a:pPr algn="l">
                    <a:lnSpc>
                      <a:spcPct val="150000"/>
                    </a:lnSpc>
                  </a:pPr>
                  <a:r>
                    <a:rPr lang="zh-CN" sz="1400"/>
                    <a:t>我喜欢从事高效有序性的工作，包括企事业单位或行政单位的职业经理人具体的执行工作或是行政工作，对于明确规定的任务可以很好完成。</a:t>
                  </a:r>
                  <a:endParaRPr lang="zh-CN" altLang="en-US"/>
                </a:p>
              </p:txBody>
            </p:sp>
          </p:grpSp>
          <p:grpSp>
            <p:nvGrpSpPr>
              <p:cNvPr id="43" name="组合 31"/>
              <p:cNvGrpSpPr/>
              <p:nvPr/>
            </p:nvGrpSpPr>
            <p:grpSpPr>
              <a:xfrm>
                <a:off x="7761" y="5079"/>
                <a:ext cx="9262" cy="1865"/>
                <a:chOff x="1058785" y="1935084"/>
                <a:chExt cx="5881244" cy="1185388"/>
              </a:xfrm>
            </p:grpSpPr>
            <p:sp>
              <p:nvSpPr>
                <p:cNvPr id="1048620" name="TextBox 76"/>
                <p:cNvSpPr txBox="1"/>
                <p:nvPr/>
              </p:nvSpPr>
              <p:spPr>
                <a:xfrm>
                  <a:off x="1143240" y="1935084"/>
                  <a:ext cx="2063115" cy="396588"/>
                </a:xfrm>
                <a:prstGeom prst="rect">
                  <a:avLst/>
                </a:prstGeom>
                <a:solidFill>
                  <a:srgbClr val="FA90A7"/>
                </a:solidFill>
                <a:ln>
                  <a:noFill/>
                </a:ln>
              </p:spPr>
              <p:txBody>
                <a:bodyPr wrap="square" rtlCol="0">
                  <a:spAutoFit/>
                </a:bodyPr>
                <a:lstStyle/>
                <a:p>
                  <a:pPr algn="ctr"/>
                  <a:r>
                    <a:rPr lang="zh-CN"/>
                    <a:t>个人特质</a:t>
                  </a:r>
                  <a:endParaRPr lang="zh-CN" altLang="en-US"/>
                </a:p>
              </p:txBody>
            </p:sp>
            <p:sp>
              <p:nvSpPr>
                <p:cNvPr id="1048621" name="文本框 35"/>
                <p:cNvSpPr txBox="1"/>
                <p:nvPr/>
              </p:nvSpPr>
              <p:spPr>
                <a:xfrm>
                  <a:off x="1058785" y="2304416"/>
                  <a:ext cx="5881244" cy="816056"/>
                </a:xfrm>
                <a:prstGeom prst="rect">
                  <a:avLst/>
                </a:prstGeom>
                <a:noFill/>
              </p:spPr>
              <p:txBody>
                <a:bodyPr wrap="square" rtlCol="0">
                  <a:spAutoFit/>
                </a:bodyPr>
                <a:lstStyle/>
                <a:p>
                  <a:pPr algn="l">
                    <a:lnSpc>
                      <a:spcPct val="150000"/>
                    </a:lnSpc>
                  </a:pPr>
                  <a:r>
                    <a:rPr lang="zh-CN" sz="1400"/>
                    <a:t>我负责任，对于工作的事情会一丝不苟，尽责任地完成。我为人待人和善，与人相处融洽，可以高效协调各种不同的人际关系，也会接受他人的观点。</a:t>
                  </a:r>
                  <a:endParaRPr lang="zh-CN" altLang="en-US" sz="1400"/>
                </a:p>
              </p:txBody>
            </p:sp>
          </p:grpSp>
          <p:grpSp>
            <p:nvGrpSpPr>
              <p:cNvPr id="44" name="组合 36"/>
              <p:cNvGrpSpPr/>
              <p:nvPr/>
            </p:nvGrpSpPr>
            <p:grpSpPr>
              <a:xfrm>
                <a:off x="7761" y="7077"/>
                <a:ext cx="9262" cy="1864"/>
                <a:chOff x="1058785" y="1935084"/>
                <a:chExt cx="5881244" cy="1186750"/>
              </a:xfrm>
            </p:grpSpPr>
            <p:sp>
              <p:nvSpPr>
                <p:cNvPr id="1048622" name="TextBox 76"/>
                <p:cNvSpPr txBox="1"/>
                <p:nvPr/>
              </p:nvSpPr>
              <p:spPr>
                <a:xfrm>
                  <a:off x="1143240" y="1935084"/>
                  <a:ext cx="2063115" cy="397250"/>
                </a:xfrm>
                <a:prstGeom prst="rect">
                  <a:avLst/>
                </a:prstGeom>
                <a:solidFill>
                  <a:srgbClr val="64BDBF"/>
                </a:solidFill>
                <a:ln>
                  <a:noFill/>
                </a:ln>
              </p:spPr>
              <p:txBody>
                <a:bodyPr wrap="square" rtlCol="0">
                  <a:spAutoFit/>
                </a:bodyPr>
                <a:lstStyle/>
                <a:p>
                  <a:pPr algn="ctr"/>
                  <a:r>
                    <a:rPr lang="zh-CN"/>
                    <a:t>个人能力</a:t>
                  </a:r>
                  <a:endParaRPr lang="zh-CN" altLang="en-US"/>
                </a:p>
              </p:txBody>
            </p:sp>
            <p:sp>
              <p:nvSpPr>
                <p:cNvPr id="1048623" name="文本框 38"/>
                <p:cNvSpPr txBox="1"/>
                <p:nvPr/>
              </p:nvSpPr>
              <p:spPr>
                <a:xfrm>
                  <a:off x="1058785" y="2304416"/>
                  <a:ext cx="5881244" cy="817418"/>
                </a:xfrm>
                <a:prstGeom prst="rect">
                  <a:avLst/>
                </a:prstGeom>
                <a:noFill/>
              </p:spPr>
              <p:txBody>
                <a:bodyPr wrap="square" rtlCol="0">
                  <a:spAutoFit/>
                </a:bodyPr>
                <a:lstStyle/>
                <a:p>
                  <a:pPr algn="l">
                    <a:lnSpc>
                      <a:spcPct val="150000"/>
                    </a:lnSpc>
                  </a:pPr>
                  <a:r>
                    <a:rPr lang="zh-CN" sz="1400"/>
                    <a:t>我有较强的推理能力，文字组织表达的能力，敏知能力，自主学习研究能力，会在学习和工作中不断完善自己的领导能力。</a:t>
                  </a:r>
                  <a:endParaRPr lang="zh-CN" altLang="en-US"/>
                </a:p>
              </p:txBody>
            </p:sp>
          </p:grpSp>
        </p:grpSp>
        <p:pic>
          <p:nvPicPr>
            <p:cNvPr id="2097156" name="图片 6" descr="D:\千图网\文艺读书\IMG_5111.jpgIMG_5111"/>
            <p:cNvPicPr>
              <a:picLocks noChangeAspect="1"/>
            </p:cNvPicPr>
            <p:nvPr/>
          </p:nvPicPr>
          <p:blipFill>
            <a:blip r:embed="rId3"/>
            <a:stretch>
              <a:fillRect/>
            </a:stretch>
          </p:blipFill>
          <p:spPr>
            <a:xfrm>
              <a:off x="1112" y="3386"/>
              <a:ext cx="7472" cy="5338"/>
            </a:xfrm>
            <a:prstGeom prst="rect">
              <a:avLst/>
            </a:prstGeom>
          </p:spPr>
        </p:pic>
      </p:grpSp>
    </p:spTree>
    <p:custDataLst>
      <p:tags r:id="rId1"/>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1" presetClass="entr" presetSubtype="2" dur="500" fill="hold" nodeType="afterEffect">
                                  <p:stCondLst>
                                    <p:cond delay="0"/>
                                  </p:stCondLst>
                                  <p:childTnLst>
                                    <p:set>
                                      <p:cBhvr>
                                        <p:cTn id="6" dur="500" fill="hold">
                                          <p:stCondLst>
                                            <p:cond delay="0"/>
                                          </p:stCondLst>
                                        </p:cTn>
                                        <p:tgtEl>
                                          <p:spTgt spid="40"/>
                                        </p:tgtEl>
                                        <p:attrNameLst>
                                          <p:attrName>style.visibility</p:attrName>
                                        </p:attrNameLst>
                                      </p:cBhvr>
                                      <p:to>
                                        <p:strVal val="visible"/>
                                      </p:to>
                                    </p:set>
                                    <p:animEffect transition="in" filter="wheel(2)">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文本框 13"/>
          <p:cNvSpPr txBox="1"/>
          <p:nvPr/>
        </p:nvSpPr>
        <p:spPr>
          <a:xfrm>
            <a:off x="4782820" y="484505"/>
            <a:ext cx="2626360" cy="701040"/>
          </a:xfrm>
          <a:prstGeom prst="rect">
            <a:avLst/>
          </a:prstGeom>
          <a:noFill/>
        </p:spPr>
        <p:txBody>
          <a:bodyPr wrap="square" rtlCol="0">
            <a:spAutoFit/>
          </a:bodyPr>
          <a:lstStyle/>
          <a:p>
            <a:pPr algn="ctr"/>
            <a:r>
              <a:rPr lang="zh-CN" altLang="en-US" sz="3600" dirty="0">
                <a:solidFill>
                  <a:srgbClr val="64BDBF"/>
                </a:solidFill>
                <a:latin typeface="Arial" panose="020B0604020202020204" pitchFamily="34" charset="0"/>
                <a:ea typeface="幼圆" panose="02010509060101010101" charset="-122"/>
                <a:cs typeface="思源黑体 CN Bold" panose="020B0800000000000000" charset="-122"/>
              </a:rPr>
              <a:t>自我</a:t>
            </a:r>
            <a:r>
              <a:rPr lang="zh-CN" altLang="en-US" sz="3600" dirty="0">
                <a:solidFill>
                  <a:srgbClr val="FA90A7"/>
                </a:solidFill>
                <a:latin typeface="Arial" panose="020B0604020202020204" pitchFamily="34" charset="0"/>
                <a:ea typeface="幼圆" panose="02010509060101010101" charset="-122"/>
                <a:cs typeface="思源黑体 CN Bold" panose="020B0800000000000000" charset="-122"/>
              </a:rPr>
              <a:t>评估</a:t>
            </a:r>
          </a:p>
        </p:txBody>
      </p:sp>
      <p:sp>
        <p:nvSpPr>
          <p:cNvPr id="1048625" name="文本框 12"/>
          <p:cNvSpPr txBox="1"/>
          <p:nvPr/>
        </p:nvSpPr>
        <p:spPr>
          <a:xfrm>
            <a:off x="4396740" y="1129665"/>
            <a:ext cx="3322320" cy="256539"/>
          </a:xfrm>
          <a:prstGeom prst="rect">
            <a:avLst/>
          </a:prstGeom>
          <a:noFill/>
        </p:spPr>
        <p:txBody>
          <a:bodyPr wrap="square" rtlCol="0">
            <a:spAutoFit/>
          </a:bodyPr>
          <a:lstStyle/>
          <a:p>
            <a:pPr algn="dist"/>
            <a:r>
              <a:rPr lang="zh-CN" altLang="en-US" sz="1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rPr>
              <a:t>SELF ASSESSMENT</a:t>
            </a:r>
          </a:p>
        </p:txBody>
      </p:sp>
      <p:cxnSp>
        <p:nvCxnSpPr>
          <p:cNvPr id="3145730" name="直接连接符 1"/>
          <p:cNvCxnSpPr>
            <a:cxnSpLocks/>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145731" name="直接连接符 2"/>
          <p:cNvCxnSpPr>
            <a:cxnSpLocks/>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6" name="组合 67"/>
          <p:cNvGrpSpPr/>
          <p:nvPr/>
        </p:nvGrpSpPr>
        <p:grpSpPr>
          <a:xfrm>
            <a:off x="1172845" y="1758950"/>
            <a:ext cx="10039985" cy="3733165"/>
            <a:chOff x="1847" y="2770"/>
            <a:chExt cx="15811" cy="5879"/>
          </a:xfrm>
        </p:grpSpPr>
        <p:grpSp>
          <p:nvGrpSpPr>
            <p:cNvPr id="47" name="组合 68"/>
            <p:cNvGrpSpPr/>
            <p:nvPr/>
          </p:nvGrpSpPr>
          <p:grpSpPr>
            <a:xfrm>
              <a:off x="7038" y="3570"/>
              <a:ext cx="5359" cy="4392"/>
              <a:chOff x="7050" y="2870"/>
              <a:chExt cx="6320" cy="5180"/>
            </a:xfrm>
          </p:grpSpPr>
          <p:sp>
            <p:nvSpPr>
              <p:cNvPr id="1048626" name="椭圆 69"/>
              <p:cNvSpPr/>
              <p:nvPr/>
            </p:nvSpPr>
            <p:spPr>
              <a:xfrm>
                <a:off x="9010" y="4230"/>
                <a:ext cx="2340" cy="2340"/>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27" name="圆角矩形 70"/>
              <p:cNvSpPr/>
              <p:nvPr/>
            </p:nvSpPr>
            <p:spPr>
              <a:xfrm>
                <a:off x="7570" y="3340"/>
                <a:ext cx="5160" cy="4360"/>
              </a:xfrm>
              <a:prstGeom prst="roundRect">
                <a:avLst/>
              </a:prstGeom>
              <a:no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28" name="椭圆 71"/>
              <p:cNvSpPr/>
              <p:nvPr/>
            </p:nvSpPr>
            <p:spPr>
              <a:xfrm>
                <a:off x="7050" y="2870"/>
                <a:ext cx="1480" cy="1480"/>
              </a:xfrm>
              <a:prstGeom prst="ellipse">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29" name="椭圆 72"/>
              <p:cNvSpPr/>
              <p:nvPr/>
            </p:nvSpPr>
            <p:spPr>
              <a:xfrm>
                <a:off x="7050" y="6570"/>
                <a:ext cx="1480" cy="1480"/>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30" name="椭圆 73"/>
              <p:cNvSpPr/>
              <p:nvPr/>
            </p:nvSpPr>
            <p:spPr>
              <a:xfrm>
                <a:off x="11890" y="2870"/>
                <a:ext cx="1480" cy="1480"/>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31" name="椭圆 74"/>
              <p:cNvSpPr/>
              <p:nvPr/>
            </p:nvSpPr>
            <p:spPr>
              <a:xfrm>
                <a:off x="11890" y="6570"/>
                <a:ext cx="1480" cy="1480"/>
              </a:xfrm>
              <a:prstGeom prst="ellipse">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grpSp>
        <p:sp>
          <p:nvSpPr>
            <p:cNvPr id="1048632" name="文本框 75"/>
            <p:cNvSpPr txBox="1"/>
            <p:nvPr/>
          </p:nvSpPr>
          <p:spPr>
            <a:xfrm>
              <a:off x="12832" y="3495"/>
              <a:ext cx="4826" cy="1584"/>
            </a:xfrm>
            <a:prstGeom prst="rect">
              <a:avLst/>
            </a:prstGeom>
            <a:noFill/>
            <a:ln>
              <a:noFill/>
            </a:ln>
          </p:spPr>
          <p:txBody>
            <a:bodyPr wrap="square" rtlCol="0">
              <a:spAutoFit/>
            </a:bodyPr>
            <a:lstStyle/>
            <a:p>
              <a:pPr algn="l">
                <a:lnSpc>
                  <a:spcPct val="150000"/>
                </a:lnSpc>
              </a:pPr>
              <a:r>
                <a:rPr lang="zh-CN"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对于人际交往和工作中的人情世故，我还不能完美的处理，情商仍不够高，说话处理方式可能不够委婉圆滑。</a:t>
              </a:r>
              <a:endPar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633" name="矩形 76"/>
            <p:cNvSpPr/>
            <p:nvPr/>
          </p:nvSpPr>
          <p:spPr>
            <a:xfrm>
              <a:off x="12832" y="2770"/>
              <a:ext cx="3504" cy="784"/>
            </a:xfrm>
            <a:prstGeom prst="rect">
              <a:avLst/>
            </a:prstGeom>
            <a:ln>
              <a:noFill/>
            </a:ln>
          </p:spPr>
          <p:txBody>
            <a:bodyPr wrap="square">
              <a:spAutoFit/>
            </a:bodyPr>
            <a:lstStyle/>
            <a:p>
              <a:pPr algn="dist"/>
              <a:r>
                <a:rPr lang="zh-CN" altLang="en-US" sz="2400" b="1" spc="6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rPr>
                <a:t>情商不够高</a:t>
              </a:r>
            </a:p>
          </p:txBody>
        </p:sp>
        <p:sp>
          <p:nvSpPr>
            <p:cNvPr id="1048634" name="文本框 77"/>
            <p:cNvSpPr txBox="1"/>
            <p:nvPr/>
          </p:nvSpPr>
          <p:spPr>
            <a:xfrm>
              <a:off x="12832" y="7065"/>
              <a:ext cx="4826" cy="1104"/>
            </a:xfrm>
            <a:prstGeom prst="rect">
              <a:avLst/>
            </a:prstGeom>
            <a:noFill/>
            <a:ln>
              <a:noFill/>
            </a:ln>
          </p:spPr>
          <p:txBody>
            <a:bodyPr wrap="square" rtlCol="0">
              <a:spAutoFit/>
            </a:bodyPr>
            <a:lstStyle/>
            <a:p>
              <a:pPr algn="l">
                <a:lnSpc>
                  <a:spcPct val="150000"/>
                </a:lnSpc>
              </a:pPr>
              <a:r>
                <a:rPr lang="zh-CN" altLang="zh-CN" sz="12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有些时候会太过于追求完美，在决策的时候有可能会遇到效率不高的问题。</a:t>
              </a:r>
              <a:endParaRPr lang="en-US" altLang="zh-CN" sz="12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635" name="矩形 78"/>
            <p:cNvSpPr/>
            <p:nvPr/>
          </p:nvSpPr>
          <p:spPr>
            <a:xfrm>
              <a:off x="12832" y="6340"/>
              <a:ext cx="4024" cy="784"/>
            </a:xfrm>
            <a:prstGeom prst="rect">
              <a:avLst/>
            </a:prstGeom>
            <a:ln>
              <a:noFill/>
            </a:ln>
          </p:spPr>
          <p:txBody>
            <a:bodyPr wrap="square">
              <a:spAutoFit/>
            </a:bodyPr>
            <a:lstStyle/>
            <a:p>
              <a:pPr algn="dist"/>
              <a:r>
                <a:rPr lang="zh-CN" altLang="en-US" sz="2400" b="1" spc="6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rPr>
                <a:t>过于追求完美</a:t>
              </a:r>
            </a:p>
          </p:txBody>
        </p:sp>
        <p:sp>
          <p:nvSpPr>
            <p:cNvPr id="1048636" name="文本框 79"/>
            <p:cNvSpPr txBox="1"/>
            <p:nvPr/>
          </p:nvSpPr>
          <p:spPr>
            <a:xfrm>
              <a:off x="1847" y="3495"/>
              <a:ext cx="4826" cy="1104"/>
            </a:xfrm>
            <a:prstGeom prst="rect">
              <a:avLst/>
            </a:prstGeom>
            <a:noFill/>
            <a:ln>
              <a:noFill/>
            </a:ln>
          </p:spPr>
          <p:txBody>
            <a:bodyPr wrap="square" rtlCol="0">
              <a:spAutoFit/>
            </a:bodyPr>
            <a:lstStyle/>
            <a:p>
              <a:pPr algn="r">
                <a:lnSpc>
                  <a:spcPct val="150000"/>
                </a:lnSpc>
              </a:pPr>
              <a:r>
                <a:rPr lang="zh-CN" altLang="zh-CN" sz="12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面对领导后上级布置的任务，我会自觉快速的完成，并确保完成的质量。</a:t>
              </a:r>
              <a:endParaRPr lang="en-US" altLang="zh-CN" sz="12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637" name="矩形 80"/>
            <p:cNvSpPr/>
            <p:nvPr/>
          </p:nvSpPr>
          <p:spPr>
            <a:xfrm>
              <a:off x="2821" y="2770"/>
              <a:ext cx="3504" cy="784"/>
            </a:xfrm>
            <a:prstGeom prst="rect">
              <a:avLst/>
            </a:prstGeom>
            <a:ln>
              <a:noFill/>
            </a:ln>
          </p:spPr>
          <p:txBody>
            <a:bodyPr wrap="square">
              <a:spAutoFit/>
            </a:bodyPr>
            <a:lstStyle/>
            <a:p>
              <a:pPr algn="dist"/>
              <a:r>
                <a:rPr lang="zh-CN" altLang="en-US" sz="2400" b="1" spc="6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rPr>
                <a:t>有责任心</a:t>
              </a:r>
            </a:p>
          </p:txBody>
        </p:sp>
        <p:sp>
          <p:nvSpPr>
            <p:cNvPr id="1048638" name="文本框 81"/>
            <p:cNvSpPr txBox="1"/>
            <p:nvPr/>
          </p:nvSpPr>
          <p:spPr>
            <a:xfrm>
              <a:off x="1847" y="7065"/>
              <a:ext cx="4826" cy="1584"/>
            </a:xfrm>
            <a:prstGeom prst="rect">
              <a:avLst/>
            </a:prstGeom>
            <a:noFill/>
            <a:ln>
              <a:noFill/>
            </a:ln>
          </p:spPr>
          <p:txBody>
            <a:bodyPr wrap="square" rtlCol="0">
              <a:spAutoFit/>
            </a:bodyPr>
            <a:lstStyle/>
            <a:p>
              <a:pPr algn="r">
                <a:lnSpc>
                  <a:spcPct val="150000"/>
                </a:lnSpc>
              </a:pPr>
              <a:r>
                <a:rPr lang="zh-CN" altLang="zh-CN" sz="12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我有着很强的集体意识和集体荣誉感，会以集体利益为先，有很强的团队协作意识和执行能力。</a:t>
              </a:r>
              <a:endParaRPr lang="en-US" altLang="zh-CN" sz="12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639" name="矩形 82"/>
            <p:cNvSpPr/>
            <p:nvPr/>
          </p:nvSpPr>
          <p:spPr>
            <a:xfrm>
              <a:off x="2821" y="6340"/>
              <a:ext cx="3504" cy="784"/>
            </a:xfrm>
            <a:prstGeom prst="rect">
              <a:avLst/>
            </a:prstGeom>
            <a:ln>
              <a:noFill/>
            </a:ln>
          </p:spPr>
          <p:txBody>
            <a:bodyPr wrap="square">
              <a:spAutoFit/>
            </a:bodyPr>
            <a:lstStyle/>
            <a:p>
              <a:pPr algn="dist"/>
              <a:r>
                <a:rPr lang="zh-CN" altLang="en-US" sz="2400" b="1" spc="6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rPr>
                <a:t>有集体意识</a:t>
              </a:r>
            </a:p>
          </p:txBody>
        </p:sp>
        <p:pic>
          <p:nvPicPr>
            <p:cNvPr id="2097157" name="图片 83" descr="303b343532333834333bb9a4d7f7"/>
            <p:cNvPicPr>
              <a:picLocks noChangeAspect="1"/>
            </p:cNvPicPr>
            <p:nvPr/>
          </p:nvPicPr>
          <p:blipFill>
            <a:blip r:embed="rId3"/>
            <a:stretch>
              <a:fillRect/>
            </a:stretch>
          </p:blipFill>
          <p:spPr>
            <a:xfrm>
              <a:off x="9169" y="5191"/>
              <a:ext cx="1047" cy="1047"/>
            </a:xfrm>
            <a:prstGeom prst="rect">
              <a:avLst/>
            </a:prstGeom>
          </p:spPr>
        </p:pic>
        <p:pic>
          <p:nvPicPr>
            <p:cNvPr id="2097158" name="图片 84" descr="303b343435303639373bb9a4d7f7bbe3b1a8"/>
            <p:cNvPicPr>
              <a:picLocks noChangeAspect="1"/>
            </p:cNvPicPr>
            <p:nvPr/>
          </p:nvPicPr>
          <p:blipFill>
            <a:blip r:embed="rId4"/>
            <a:stretch>
              <a:fillRect/>
            </a:stretch>
          </p:blipFill>
          <p:spPr>
            <a:xfrm>
              <a:off x="7216" y="3748"/>
              <a:ext cx="899" cy="899"/>
            </a:xfrm>
            <a:prstGeom prst="rect">
              <a:avLst/>
            </a:prstGeom>
          </p:spPr>
        </p:pic>
        <p:pic>
          <p:nvPicPr>
            <p:cNvPr id="2097159" name="图片 85" descr="303b343435303639363bc9f3bcc6b9a4d7f7"/>
            <p:cNvPicPr>
              <a:picLocks noChangeAspect="1"/>
            </p:cNvPicPr>
            <p:nvPr/>
          </p:nvPicPr>
          <p:blipFill>
            <a:blip r:embed="rId5"/>
            <a:stretch>
              <a:fillRect/>
            </a:stretch>
          </p:blipFill>
          <p:spPr>
            <a:xfrm>
              <a:off x="7216" y="6885"/>
              <a:ext cx="899" cy="899"/>
            </a:xfrm>
            <a:prstGeom prst="rect">
              <a:avLst/>
            </a:prstGeom>
          </p:spPr>
        </p:pic>
        <p:pic>
          <p:nvPicPr>
            <p:cNvPr id="2097160" name="图片 86" descr="303b343435303738313bd0fbb4abb9a4d7f7"/>
            <p:cNvPicPr>
              <a:picLocks noChangeAspect="1"/>
            </p:cNvPicPr>
            <p:nvPr/>
          </p:nvPicPr>
          <p:blipFill>
            <a:blip r:embed="rId6"/>
            <a:stretch>
              <a:fillRect/>
            </a:stretch>
          </p:blipFill>
          <p:spPr>
            <a:xfrm>
              <a:off x="11320" y="6885"/>
              <a:ext cx="899" cy="899"/>
            </a:xfrm>
            <a:prstGeom prst="rect">
              <a:avLst/>
            </a:prstGeom>
          </p:spPr>
        </p:pic>
        <p:pic>
          <p:nvPicPr>
            <p:cNvPr id="2097161" name="图片 87" descr="303b343435303838323bb9a4d7f7bdf8b6c8"/>
            <p:cNvPicPr>
              <a:picLocks noChangeAspect="1"/>
            </p:cNvPicPr>
            <p:nvPr/>
          </p:nvPicPr>
          <p:blipFill>
            <a:blip r:embed="rId7"/>
            <a:stretch>
              <a:fillRect/>
            </a:stretch>
          </p:blipFill>
          <p:spPr>
            <a:xfrm>
              <a:off x="11320" y="3748"/>
              <a:ext cx="899" cy="899"/>
            </a:xfrm>
            <a:prstGeom prst="rect">
              <a:avLst/>
            </a:prstGeom>
          </p:spPr>
        </p:pic>
      </p:grpSp>
      <p:sp>
        <p:nvSpPr>
          <p:cNvPr id="1048640" name="矩形: 圆角 1048639"/>
          <p:cNvSpPr/>
          <p:nvPr/>
        </p:nvSpPr>
        <p:spPr>
          <a:xfrm rot="21600000">
            <a:off x="5228221" y="1518406"/>
            <a:ext cx="1735557" cy="813150"/>
          </a:xfrm>
          <a:prstGeom prst="roundRect">
            <a:avLst/>
          </a:prstGeom>
          <a:solidFill>
            <a:srgbClr val="98CC00"/>
          </a:solidFill>
          <a:ln w="25400">
            <a:solidFill>
              <a:srgbClr val="92D04F"/>
            </a:solidFill>
          </a:ln>
        </p:spPr>
        <p:txBody>
          <a:bodyPr anchor="ctr"/>
          <a:lstStyle/>
          <a:p>
            <a:pPr algn="ctr"/>
            <a:r>
              <a:rPr lang="zh-CN" sz="3200">
                <a:solidFill>
                  <a:srgbClr val="D66565"/>
                </a:solidFill>
              </a:rPr>
              <a:t>优缺点</a:t>
            </a:r>
            <a:endParaRPr lang="zh-CN">
              <a:solidFill>
                <a:srgbClr val="D66565"/>
              </a:solidFill>
            </a:endParaRPr>
          </a:p>
        </p:txBody>
      </p:sp>
    </p:spTree>
    <p:custDataLst>
      <p:tags r:id="rId1"/>
    </p:custDataLst>
  </p:cSld>
  <p:clrMapOvr>
    <a:masterClrMapping/>
  </p:clrMapOvr>
  <p:transition advTm="2000">
    <p:zoom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32" dur="500" fill="hold" nodeType="afterEffect">
                                  <p:stCondLst>
                                    <p:cond delay="0"/>
                                  </p:stCondLst>
                                  <p:childTnLst>
                                    <p:set>
                                      <p:cBhvr>
                                        <p:cTn id="6" dur="500" fill="hold">
                                          <p:stCondLst>
                                            <p:cond delay="0"/>
                                          </p:stCondLst>
                                        </p:cTn>
                                        <p:tgtEl>
                                          <p:spTgt spid="46"/>
                                        </p:tgtEl>
                                        <p:attrNameLst>
                                          <p:attrName>style.visibility</p:attrName>
                                        </p:attrNameLst>
                                      </p:cBhvr>
                                      <p:to>
                                        <p:strVal val="visible"/>
                                      </p:to>
                                    </p:set>
                                    <p:animEffect transition="in" filter="plus(out)">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1"/>
          <p:cNvGrpSpPr/>
          <p:nvPr/>
        </p:nvGrpSpPr>
        <p:grpSpPr>
          <a:xfrm>
            <a:off x="1264285" y="1664335"/>
            <a:ext cx="9784080" cy="8143240"/>
            <a:chOff x="1991" y="2621"/>
            <a:chExt cx="15408" cy="12824"/>
          </a:xfrm>
        </p:grpSpPr>
        <p:grpSp>
          <p:nvGrpSpPr>
            <p:cNvPr id="60" name="组合 8"/>
            <p:cNvGrpSpPr/>
            <p:nvPr/>
          </p:nvGrpSpPr>
          <p:grpSpPr>
            <a:xfrm>
              <a:off x="1991" y="2621"/>
              <a:ext cx="15408" cy="12824"/>
              <a:chOff x="1976" y="2722"/>
              <a:chExt cx="15408" cy="12824"/>
            </a:xfrm>
          </p:grpSpPr>
          <p:grpSp>
            <p:nvGrpSpPr>
              <p:cNvPr id="61" name="组合 31"/>
              <p:cNvGrpSpPr/>
              <p:nvPr/>
            </p:nvGrpSpPr>
            <p:grpSpPr>
              <a:xfrm>
                <a:off x="8405" y="5179"/>
                <a:ext cx="5719" cy="704"/>
                <a:chOff x="8345" y="5659"/>
                <a:chExt cx="5719" cy="704"/>
              </a:xfrm>
            </p:grpSpPr>
            <p:sp>
              <p:nvSpPr>
                <p:cNvPr id="1048662" name="矩形 9"/>
                <p:cNvSpPr/>
                <p:nvPr/>
              </p:nvSpPr>
              <p:spPr>
                <a:xfrm>
                  <a:off x="8345" y="5659"/>
                  <a:ext cx="5719"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63" name="文本框 10"/>
                <p:cNvSpPr txBox="1"/>
                <p:nvPr/>
              </p:nvSpPr>
              <p:spPr>
                <a:xfrm>
                  <a:off x="8345" y="5746"/>
                  <a:ext cx="5719" cy="584"/>
                </a:xfrm>
                <a:prstGeom prst="rect">
                  <a:avLst/>
                </a:prstGeom>
                <a:noFill/>
              </p:spPr>
              <p:txBody>
                <a:bodyPr wrap="square" rtlCol="0">
                  <a:spAutoFit/>
                </a:bodyPr>
                <a:lstStyle/>
                <a:p>
                  <a:pPr algn="ctr"/>
                  <a:r>
                    <a:rPr lang="zh-CN" altLang="en-US" sz="1600">
                      <a:solidFill>
                        <a:schemeClr val="bg1"/>
                      </a:solidFill>
                      <a:latin typeface="Arial" panose="020B0604020202020204" pitchFamily="34" charset="0"/>
                      <a:ea typeface="幼圆" panose="02010509060101010101" charset="-122"/>
                      <a:cs typeface="思源宋体" panose="02020400000000000000" charset="-122"/>
                    </a:rPr>
                    <a:t>ENTER THE TITLE CONTENT HERE</a:t>
                  </a:r>
                </a:p>
              </p:txBody>
            </p:sp>
          </p:grpSp>
          <p:sp>
            <p:nvSpPr>
              <p:cNvPr id="1048664" name="文本框 38"/>
              <p:cNvSpPr txBox="1"/>
              <p:nvPr/>
            </p:nvSpPr>
            <p:spPr>
              <a:xfrm>
                <a:off x="8250" y="3683"/>
                <a:ext cx="5874" cy="1599"/>
              </a:xfrm>
              <a:prstGeom prst="rect">
                <a:avLst/>
              </a:prstGeom>
              <a:noFill/>
            </p:spPr>
            <p:txBody>
              <a:bodyPr wrap="square" rtlCol="0">
                <a:spAutoFit/>
              </a:bodyPr>
              <a:lstStyle>
                <a:defPPr>
                  <a:defRPr lang="zh-CN"/>
                </a:defPPr>
                <a:lvl1pPr algn="dist">
                  <a:defRPr sz="6000">
                    <a:solidFill>
                      <a:schemeClr val="tx1">
                        <a:lumMod val="75000"/>
                        <a:lumOff val="25000"/>
                      </a:schemeClr>
                    </a:solidFill>
                    <a:latin typeface="印品灵秀体（非商用）" panose="02000000000000000000" pitchFamily="2" charset="-122"/>
                    <a:ea typeface="印品灵秀体（非商用）" panose="02000000000000000000" pitchFamily="2" charset="-122"/>
                    <a:cs typeface="思源宋体" panose="02020400000000000000" charset="-122"/>
                  </a:defRPr>
                </a:lvl1pPr>
              </a:lstStyle>
              <a:p>
                <a:r>
                  <a:rPr lang="zh-CN" altLang="en-US" dirty="0"/>
                  <a:t>职业分析</a:t>
                </a:r>
              </a:p>
            </p:txBody>
          </p:sp>
          <p:sp>
            <p:nvSpPr>
              <p:cNvPr id="1048665" name="文本框 39"/>
              <p:cNvSpPr txBox="1"/>
              <p:nvPr/>
            </p:nvSpPr>
            <p:spPr>
              <a:xfrm>
                <a:off x="8359" y="5943"/>
                <a:ext cx="9025" cy="1503"/>
              </a:xfrm>
              <a:prstGeom prst="rect">
                <a:avLst/>
              </a:prstGeom>
              <a:noFill/>
            </p:spPr>
            <p:txBody>
              <a:bodyPr wrap="square" rtlCol="0">
                <a:spAutoFit/>
              </a:bodyPr>
              <a:lstStyle/>
              <a:p>
                <a:pPr>
                  <a:defRPr/>
                </a:pPr>
                <a:r>
                  <a:rPr lang="zh-CN" altLang="zh-CN" sz="1400" dirty="0">
                    <a:solidFill>
                      <a:srgbClr val="000000"/>
                    </a:solidFill>
                    <a:latin typeface="Cambria" panose="02040503050406030204" pitchFamily="18" charset="0"/>
                    <a:ea typeface="华文楷体" panose="02010600040101010101" pitchFamily="2" charset="-122"/>
                  </a:rPr>
                  <a:t>当代大学生怀揣着热情，单凭着兴趣爱好，一股脑的去投入到一个自己还不算了解的职业，最终无疾而终。</a:t>
                </a:r>
              </a:p>
              <a:p>
                <a:pPr>
                  <a:defRPr/>
                </a:pPr>
                <a:r>
                  <a:rPr lang="zh-CN" altLang="zh-CN" sz="1400" dirty="0">
                    <a:solidFill>
                      <a:srgbClr val="000000"/>
                    </a:solidFill>
                    <a:latin typeface="Cambria" panose="02040503050406030204" pitchFamily="18" charset="0"/>
                    <a:ea typeface="华文楷体" panose="02010600040101010101" pitchFamily="2" charset="-122"/>
                  </a:rPr>
                  <a:t>职业分析是当代大学生必不可少的一环，只有在科学正确的分析完职业才能更好的踏入职业的门槛。</a:t>
                </a:r>
              </a:p>
            </p:txBody>
          </p:sp>
          <p:sp>
            <p:nvSpPr>
              <p:cNvPr id="1048666" name="文本框 11"/>
              <p:cNvSpPr txBox="1"/>
              <p:nvPr/>
            </p:nvSpPr>
            <p:spPr>
              <a:xfrm>
                <a:off x="1976" y="2722"/>
                <a:ext cx="5834" cy="12824"/>
              </a:xfrm>
              <a:prstGeom prst="rect">
                <a:avLst/>
              </a:prstGeom>
              <a:noFill/>
            </p:spPr>
            <p:txBody>
              <a:bodyPr wrap="square" rtlCol="0">
                <a:spAutoFit/>
              </a:bodyPr>
              <a:lstStyle/>
              <a:p>
                <a:pPr algn="ctr"/>
                <a:r>
                  <a:rPr lang="en-US" altLang="zh-CN" sz="23900" b="1" dirty="0">
                    <a:solidFill>
                      <a:srgbClr val="64BDBF"/>
                    </a:solidFill>
                    <a:latin typeface="Arial" panose="020B0604020202020204" pitchFamily="34" charset="0"/>
                    <a:ea typeface="幼圆" panose="02010509060101010101" charset="-122"/>
                    <a:cs typeface="思源宋体" panose="02020400000000000000" charset="-122"/>
                  </a:rPr>
                  <a:t>03</a:t>
                </a:r>
              </a:p>
            </p:txBody>
          </p:sp>
        </p:grpSp>
        <p:sp>
          <p:nvSpPr>
            <p:cNvPr id="1048667" name="矩形 14"/>
            <p:cNvSpPr/>
            <p:nvPr/>
          </p:nvSpPr>
          <p:spPr>
            <a:xfrm>
              <a:off x="2415" y="5078"/>
              <a:ext cx="4759"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668" name="文本框 15"/>
            <p:cNvSpPr txBox="1"/>
            <p:nvPr/>
          </p:nvSpPr>
          <p:spPr>
            <a:xfrm>
              <a:off x="2414" y="5125"/>
              <a:ext cx="5037" cy="884"/>
            </a:xfrm>
            <a:prstGeom prst="rect">
              <a:avLst/>
            </a:prstGeom>
            <a:noFill/>
          </p:spPr>
          <p:txBody>
            <a:bodyPr wrap="square" rtlCol="0">
              <a:spAutoFit/>
            </a:bodyPr>
            <a:lstStyle/>
            <a:p>
              <a:pPr algn="dist">
                <a:buClrTx/>
                <a:buSzTx/>
                <a:buFontTx/>
              </a:pPr>
              <a:r>
                <a:rPr lang="en-US" altLang="zh-CN" sz="2800" dirty="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p>
          </p:txBody>
        </p:sp>
      </p:grpSp>
    </p:spTree>
    <p:custDataLst>
      <p:tags r:id="rId1"/>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dur="50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linds(horizontal)">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文本框 13"/>
          <p:cNvSpPr txBox="1"/>
          <p:nvPr/>
        </p:nvSpPr>
        <p:spPr>
          <a:xfrm>
            <a:off x="4782820" y="484505"/>
            <a:ext cx="2626360" cy="701040"/>
          </a:xfrm>
          <a:prstGeom prst="rect">
            <a:avLst/>
          </a:prstGeom>
          <a:noFill/>
        </p:spPr>
        <p:txBody>
          <a:bodyPr wrap="square" rtlCol="0">
            <a:spAutoFit/>
          </a:bodyPr>
          <a:lstStyle/>
          <a:p>
            <a:pPr algn="ctr"/>
            <a:r>
              <a:rPr lang="zh-CN" altLang="en-US" sz="3600">
                <a:solidFill>
                  <a:srgbClr val="64BDBF"/>
                </a:solidFill>
                <a:latin typeface="Arial" panose="020B0604020202020204" pitchFamily="34" charset="0"/>
                <a:ea typeface="幼圆" panose="02010509060101010101" charset="-122"/>
                <a:cs typeface="思源黑体 CN Bold" panose="020B0800000000000000" charset="-122"/>
              </a:rPr>
              <a:t>职业</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分析</a:t>
            </a:r>
          </a:p>
        </p:txBody>
      </p:sp>
      <p:sp>
        <p:nvSpPr>
          <p:cNvPr id="1048650" name="文本框 12"/>
          <p:cNvSpPr txBox="1"/>
          <p:nvPr/>
        </p:nvSpPr>
        <p:spPr>
          <a:xfrm>
            <a:off x="4396740" y="1129665"/>
            <a:ext cx="3322320" cy="256539"/>
          </a:xfrm>
          <a:prstGeom prst="rect">
            <a:avLst/>
          </a:prstGeom>
          <a:noFill/>
        </p:spPr>
        <p:txBody>
          <a:bodyPr wrap="square" rtlCol="0">
            <a:spAutoFit/>
          </a:bodyPr>
          <a:lstStyle/>
          <a:p>
            <a:pPr algn="dist"/>
            <a:r>
              <a:rPr lang="zh-CN" altLang="en-US" sz="1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JOB ANALYSIS</a:t>
            </a:r>
          </a:p>
        </p:txBody>
      </p:sp>
      <p:cxnSp>
        <p:nvCxnSpPr>
          <p:cNvPr id="3145732" name="直接连接符 1"/>
          <p:cNvCxnSpPr>
            <a:cxnSpLocks/>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145733" name="直接连接符 2"/>
          <p:cNvCxnSpPr>
            <a:cxnSpLocks/>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54" name="组合 30"/>
          <p:cNvGrpSpPr/>
          <p:nvPr/>
        </p:nvGrpSpPr>
        <p:grpSpPr>
          <a:xfrm>
            <a:off x="1176655" y="1964055"/>
            <a:ext cx="9928860" cy="4655820"/>
            <a:chOff x="2377" y="2843"/>
            <a:chExt cx="15636" cy="7332"/>
          </a:xfrm>
        </p:grpSpPr>
        <p:grpSp>
          <p:nvGrpSpPr>
            <p:cNvPr id="55" name="组合 31"/>
            <p:cNvGrpSpPr/>
            <p:nvPr/>
          </p:nvGrpSpPr>
          <p:grpSpPr>
            <a:xfrm>
              <a:off x="8223" y="2843"/>
              <a:ext cx="9789" cy="2037"/>
              <a:chOff x="5317957" y="1540260"/>
              <a:chExt cx="6215921" cy="1294828"/>
            </a:xfrm>
          </p:grpSpPr>
          <p:sp>
            <p:nvSpPr>
              <p:cNvPr id="1048651" name="椭圆 32"/>
              <p:cNvSpPr/>
              <p:nvPr/>
            </p:nvSpPr>
            <p:spPr>
              <a:xfrm>
                <a:off x="5317957" y="1620151"/>
                <a:ext cx="721895" cy="721895"/>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b="1">
                  <a:solidFill>
                    <a:srgbClr val="864B25"/>
                  </a:solidFill>
                  <a:latin typeface="思源宋体"/>
                  <a:ea typeface="思源宋体"/>
                  <a:cs typeface="思源宋体" panose="02020400000000000000" charset="-122"/>
                </a:endParaRPr>
              </a:p>
            </p:txBody>
          </p:sp>
          <p:sp>
            <p:nvSpPr>
              <p:cNvPr id="1048652" name="文本框 33"/>
              <p:cNvSpPr txBox="1"/>
              <p:nvPr/>
            </p:nvSpPr>
            <p:spPr>
              <a:xfrm>
                <a:off x="6223941" y="1540260"/>
                <a:ext cx="1861279" cy="434750"/>
              </a:xfrm>
              <a:prstGeom prst="rect">
                <a:avLst/>
              </a:prstGeom>
              <a:noFill/>
            </p:spPr>
            <p:txBody>
              <a:bodyPr wrap="square" rtlCol="0">
                <a:spAutoFit/>
              </a:bodyPr>
              <a:lstStyle/>
              <a:p>
                <a:r>
                  <a:rPr lang="zh-CN" altLang="en-US" sz="2000" b="1">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社会条件分析</a:t>
                </a:r>
                <a:endParaRPr lang="zh-CN" altLang="en-US"/>
              </a:p>
            </p:txBody>
          </p:sp>
          <p:sp>
            <p:nvSpPr>
              <p:cNvPr id="1048653" name="矩形 34"/>
              <p:cNvSpPr/>
              <p:nvPr/>
            </p:nvSpPr>
            <p:spPr>
              <a:xfrm>
                <a:off x="6223941" y="1828299"/>
                <a:ext cx="5309937" cy="1006789"/>
              </a:xfrm>
              <a:prstGeom prst="rect">
                <a:avLst/>
              </a:prstGeom>
            </p:spPr>
            <p:txBody>
              <a:bodyPr wrap="square">
                <a:spAutoFit/>
              </a:bodyPr>
              <a:lstStyle/>
              <a:p>
                <a:pPr algn="l">
                  <a:lnSpc>
                    <a:spcPct val="150000"/>
                  </a:lnSpc>
                </a:pPr>
                <a:r>
                  <a:rPr lang="zh-CN" altLang="en-US" sz="12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当代大学生越来越多，会计专业越来越趋于饱和，但是大学生对会计学的研究还不够透彻，而实践经验也不足，这是会计大学生就业的瓶颈，因此要不断提高自己的会计专业水平，多参加实习，提高自身实践能力和经验</a:t>
                </a:r>
              </a:p>
            </p:txBody>
          </p:sp>
        </p:grpSp>
        <p:cxnSp>
          <p:nvCxnSpPr>
            <p:cNvPr id="3145734" name="直接连接符 35"/>
            <p:cNvCxnSpPr>
              <a:cxnSpLocks/>
            </p:cNvCxnSpPr>
            <p:nvPr/>
          </p:nvCxnSpPr>
          <p:spPr>
            <a:xfrm flipH="1">
              <a:off x="8792" y="4106"/>
              <a:ext cx="0" cy="4673"/>
            </a:xfrm>
            <a:prstGeom prst="line">
              <a:avLst/>
            </a:prstGeom>
            <a:ln w="38100">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56" name="组合 36"/>
            <p:cNvGrpSpPr/>
            <p:nvPr/>
          </p:nvGrpSpPr>
          <p:grpSpPr>
            <a:xfrm>
              <a:off x="8224" y="5206"/>
              <a:ext cx="9789" cy="1647"/>
              <a:chOff x="5317957" y="1435485"/>
              <a:chExt cx="6215921" cy="1046060"/>
            </a:xfrm>
          </p:grpSpPr>
          <p:sp>
            <p:nvSpPr>
              <p:cNvPr id="1048654" name="椭圆 37"/>
              <p:cNvSpPr/>
              <p:nvPr/>
            </p:nvSpPr>
            <p:spPr>
              <a:xfrm>
                <a:off x="5317957" y="1620151"/>
                <a:ext cx="721895" cy="721895"/>
              </a:xfrm>
              <a:prstGeom prst="ellipse">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b="1">
                  <a:solidFill>
                    <a:srgbClr val="864B25"/>
                  </a:solidFill>
                  <a:latin typeface="思源宋体"/>
                  <a:ea typeface="思源宋体"/>
                  <a:cs typeface="思源宋体" panose="02020400000000000000" charset="-122"/>
                </a:endParaRPr>
              </a:p>
            </p:txBody>
          </p:sp>
          <p:sp>
            <p:nvSpPr>
              <p:cNvPr id="1048655" name="文本框 38"/>
              <p:cNvSpPr txBox="1"/>
              <p:nvPr/>
            </p:nvSpPr>
            <p:spPr>
              <a:xfrm>
                <a:off x="6223941" y="1435485"/>
                <a:ext cx="1861279" cy="434235"/>
              </a:xfrm>
              <a:prstGeom prst="rect">
                <a:avLst/>
              </a:prstGeom>
              <a:noFill/>
            </p:spPr>
            <p:txBody>
              <a:bodyPr wrap="square" rtlCol="0">
                <a:spAutoFit/>
              </a:bodyPr>
              <a:lstStyle/>
              <a:p>
                <a:r>
                  <a:rPr lang="zh-CN" altLang="en-US" sz="2000" b="1">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rPr>
                  <a:t>职业环境分析</a:t>
                </a:r>
                <a:endParaRPr lang="zh-CN" altLang="en-US"/>
              </a:p>
            </p:txBody>
          </p:sp>
          <p:sp>
            <p:nvSpPr>
              <p:cNvPr id="1048656" name="矩形 39"/>
              <p:cNvSpPr/>
              <p:nvPr/>
            </p:nvSpPr>
            <p:spPr>
              <a:xfrm>
                <a:off x="6223941" y="1780674"/>
                <a:ext cx="5309937" cy="700871"/>
              </a:xfrm>
              <a:prstGeom prst="rect">
                <a:avLst/>
              </a:prstGeom>
            </p:spPr>
            <p:txBody>
              <a:bodyPr wrap="square">
                <a:spAutoFit/>
              </a:bodyPr>
              <a:lstStyle/>
              <a:p>
                <a:pPr algn="l">
                  <a:lnSpc>
                    <a:spcPct val="150000"/>
                  </a:lnSpc>
                </a:pPr>
                <a:r>
                  <a:rPr lang="zh-CN" altLang="en-US" sz="12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随着时代和科技的快速发展，会计和其他行业，特别是</a:t>
                </a:r>
                <a:r>
                  <a:rPr lang="en-US" altLang="zh-CN" sz="12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ai</a:t>
                </a:r>
                <a:r>
                  <a:rPr lang="zh-CN" altLang="zh-CN" sz="12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领域交叉融合，衍生出一系列新型会计岗位，为会计人员提供了更多的就业机会。</a:t>
                </a:r>
                <a:endParaRPr lang="zh-CN" altLang="en-US" sz="12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grpSp>
        <p:grpSp>
          <p:nvGrpSpPr>
            <p:cNvPr id="57" name="组合 40"/>
            <p:cNvGrpSpPr/>
            <p:nvPr/>
          </p:nvGrpSpPr>
          <p:grpSpPr>
            <a:xfrm>
              <a:off x="8223" y="7568"/>
              <a:ext cx="9789" cy="2607"/>
              <a:chOff x="5317957" y="1435485"/>
              <a:chExt cx="6215921" cy="1655966"/>
            </a:xfrm>
          </p:grpSpPr>
          <p:sp>
            <p:nvSpPr>
              <p:cNvPr id="1048657" name="椭圆 41"/>
              <p:cNvSpPr/>
              <p:nvPr/>
            </p:nvSpPr>
            <p:spPr>
              <a:xfrm>
                <a:off x="5317957" y="1620151"/>
                <a:ext cx="721895" cy="721895"/>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b="1">
                  <a:solidFill>
                    <a:srgbClr val="864B25"/>
                  </a:solidFill>
                  <a:latin typeface="思源宋体"/>
                  <a:ea typeface="思源宋体"/>
                  <a:cs typeface="思源宋体" panose="02020400000000000000" charset="-122"/>
                </a:endParaRPr>
              </a:p>
            </p:txBody>
          </p:sp>
          <p:sp>
            <p:nvSpPr>
              <p:cNvPr id="1048658" name="文本框 42"/>
              <p:cNvSpPr txBox="1"/>
              <p:nvPr/>
            </p:nvSpPr>
            <p:spPr>
              <a:xfrm>
                <a:off x="6223941" y="1435485"/>
                <a:ext cx="1861279" cy="434386"/>
              </a:xfrm>
              <a:prstGeom prst="rect">
                <a:avLst/>
              </a:prstGeom>
              <a:noFill/>
            </p:spPr>
            <p:txBody>
              <a:bodyPr wrap="square" rtlCol="0">
                <a:spAutoFit/>
              </a:bodyPr>
              <a:lstStyle/>
              <a:p>
                <a:r>
                  <a:rPr lang="zh-CN" altLang="en-US" sz="2000" b="1">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rPr>
                  <a:t>学校环境分析</a:t>
                </a:r>
                <a:endParaRPr lang="zh-CN" altLang="en-US"/>
              </a:p>
            </p:txBody>
          </p:sp>
          <p:sp>
            <p:nvSpPr>
              <p:cNvPr id="1048659" name="矩形 58"/>
              <p:cNvSpPr/>
              <p:nvPr/>
            </p:nvSpPr>
            <p:spPr>
              <a:xfrm>
                <a:off x="6223941" y="1780674"/>
                <a:ext cx="5309937" cy="1310777"/>
              </a:xfrm>
              <a:prstGeom prst="rect">
                <a:avLst/>
              </a:prstGeom>
            </p:spPr>
            <p:txBody>
              <a:bodyPr wrap="square">
                <a:spAutoFit/>
              </a:bodyPr>
              <a:lstStyle/>
              <a:p>
                <a:pPr algn="l">
                  <a:lnSpc>
                    <a:spcPct val="150000"/>
                  </a:lnSpc>
                </a:pPr>
                <a:r>
                  <a:rPr lang="zh-CN" altLang="en-US" sz="12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广东工业大学管理学院是广东工业大学龙洞校区的核心学院。管理学科是学校最早获得的一级学科博士点之一（2006年），经过40多年持续建设和不懈努力，管理学科已发展成为学校人文社会学科的龙头，是广东省高水平大学重点建设学科，在广东省内乃至华南地区具有重要影响力</a:t>
                </a:r>
              </a:p>
            </p:txBody>
          </p:sp>
        </p:grpSp>
        <p:pic>
          <p:nvPicPr>
            <p:cNvPr id="2097163" name="图片 59" descr="D:\千图网\文艺读书\IMG_3473.jpgIMG_3473"/>
            <p:cNvPicPr>
              <a:picLocks noChangeAspect="1"/>
            </p:cNvPicPr>
            <p:nvPr/>
          </p:nvPicPr>
          <p:blipFill>
            <a:blip r:embed="rId3"/>
            <a:stretch>
              <a:fillRect/>
            </a:stretch>
          </p:blipFill>
          <p:spPr>
            <a:xfrm>
              <a:off x="2377" y="2865"/>
              <a:ext cx="4337" cy="6363"/>
            </a:xfrm>
            <a:prstGeom prst="roundRect">
              <a:avLst/>
            </a:prstGeom>
          </p:spPr>
        </p:pic>
        <p:sp>
          <p:nvSpPr>
            <p:cNvPr id="1048660" name="kennel_317432"/>
            <p:cNvSpPr>
              <a:spLocks noChangeAspect="1"/>
            </p:cNvSpPr>
            <p:nvPr/>
          </p:nvSpPr>
          <p:spPr bwMode="auto">
            <a:xfrm>
              <a:off x="8399" y="3172"/>
              <a:ext cx="784" cy="732"/>
            </a:xfrm>
            <a:custGeom>
              <a:avLst/>
              <a:gdLst>
                <a:gd name="connsiteX0" fmla="*/ 303778 w 607599"/>
                <a:gd name="connsiteY0" fmla="*/ 357806 h 567281"/>
                <a:gd name="connsiteX1" fmla="*/ 253668 w 607599"/>
                <a:gd name="connsiteY1" fmla="*/ 407842 h 567281"/>
                <a:gd name="connsiteX2" fmla="*/ 253668 w 607599"/>
                <a:gd name="connsiteY2" fmla="*/ 527732 h 567281"/>
                <a:gd name="connsiteX3" fmla="*/ 353887 w 607599"/>
                <a:gd name="connsiteY3" fmla="*/ 527732 h 567281"/>
                <a:gd name="connsiteX4" fmla="*/ 353887 w 607599"/>
                <a:gd name="connsiteY4" fmla="*/ 407842 h 567281"/>
                <a:gd name="connsiteX5" fmla="*/ 303778 w 607599"/>
                <a:gd name="connsiteY5" fmla="*/ 357806 h 567281"/>
                <a:gd name="connsiteX6" fmla="*/ 233911 w 607599"/>
                <a:gd name="connsiteY6" fmla="*/ 200553 h 567281"/>
                <a:gd name="connsiteX7" fmla="*/ 373734 w 607599"/>
                <a:gd name="connsiteY7" fmla="*/ 200553 h 567281"/>
                <a:gd name="connsiteX8" fmla="*/ 393581 w 607599"/>
                <a:gd name="connsiteY8" fmla="*/ 220302 h 567281"/>
                <a:gd name="connsiteX9" fmla="*/ 373734 w 607599"/>
                <a:gd name="connsiteY9" fmla="*/ 240140 h 567281"/>
                <a:gd name="connsiteX10" fmla="*/ 233911 w 607599"/>
                <a:gd name="connsiteY10" fmla="*/ 240140 h 567281"/>
                <a:gd name="connsiteX11" fmla="*/ 214063 w 607599"/>
                <a:gd name="connsiteY11" fmla="*/ 220302 h 567281"/>
                <a:gd name="connsiteX12" fmla="*/ 233911 w 607599"/>
                <a:gd name="connsiteY12" fmla="*/ 200553 h 567281"/>
                <a:gd name="connsiteX13" fmla="*/ 303778 w 607599"/>
                <a:gd name="connsiteY13" fmla="*/ 46392 h 567281"/>
                <a:gd name="connsiteX14" fmla="*/ 152915 w 607599"/>
                <a:gd name="connsiteY14" fmla="*/ 182191 h 567281"/>
                <a:gd name="connsiteX15" fmla="*/ 152915 w 607599"/>
                <a:gd name="connsiteY15" fmla="*/ 527732 h 567281"/>
                <a:gd name="connsiteX16" fmla="*/ 214061 w 607599"/>
                <a:gd name="connsiteY16" fmla="*/ 527732 h 567281"/>
                <a:gd name="connsiteX17" fmla="*/ 214061 w 607599"/>
                <a:gd name="connsiteY17" fmla="*/ 407842 h 567281"/>
                <a:gd name="connsiteX18" fmla="*/ 303778 w 607599"/>
                <a:gd name="connsiteY18" fmla="*/ 318257 h 567281"/>
                <a:gd name="connsiteX19" fmla="*/ 393583 w 607599"/>
                <a:gd name="connsiteY19" fmla="*/ 407842 h 567281"/>
                <a:gd name="connsiteX20" fmla="*/ 393583 w 607599"/>
                <a:gd name="connsiteY20" fmla="*/ 527732 h 567281"/>
                <a:gd name="connsiteX21" fmla="*/ 454729 w 607599"/>
                <a:gd name="connsiteY21" fmla="*/ 527732 h 567281"/>
                <a:gd name="connsiteX22" fmla="*/ 454729 w 607599"/>
                <a:gd name="connsiteY22" fmla="*/ 182191 h 567281"/>
                <a:gd name="connsiteX23" fmla="*/ 303811 w 607599"/>
                <a:gd name="connsiteY23" fmla="*/ 0 h 567281"/>
                <a:gd name="connsiteX24" fmla="*/ 317039 w 607599"/>
                <a:gd name="connsiteY24" fmla="*/ 5066 h 567281"/>
                <a:gd name="connsiteX25" fmla="*/ 601053 w 607599"/>
                <a:gd name="connsiteY25" fmla="*/ 260489 h 567281"/>
                <a:gd name="connsiteX26" fmla="*/ 602477 w 607599"/>
                <a:gd name="connsiteY26" fmla="*/ 288485 h 567281"/>
                <a:gd name="connsiteX27" fmla="*/ 574529 w 607599"/>
                <a:gd name="connsiteY27" fmla="*/ 289907 h 567281"/>
                <a:gd name="connsiteX28" fmla="*/ 494336 w 607599"/>
                <a:gd name="connsiteY28" fmla="*/ 217830 h 567281"/>
                <a:gd name="connsiteX29" fmla="*/ 494336 w 607599"/>
                <a:gd name="connsiteY29" fmla="*/ 547462 h 567281"/>
                <a:gd name="connsiteX30" fmla="*/ 474577 w 607599"/>
                <a:gd name="connsiteY30" fmla="*/ 567281 h 567281"/>
                <a:gd name="connsiteX31" fmla="*/ 133067 w 607599"/>
                <a:gd name="connsiteY31" fmla="*/ 567281 h 567281"/>
                <a:gd name="connsiteX32" fmla="*/ 113219 w 607599"/>
                <a:gd name="connsiteY32" fmla="*/ 547462 h 567281"/>
                <a:gd name="connsiteX33" fmla="*/ 113219 w 607599"/>
                <a:gd name="connsiteY33" fmla="*/ 217830 h 567281"/>
                <a:gd name="connsiteX34" fmla="*/ 33115 w 607599"/>
                <a:gd name="connsiteY34" fmla="*/ 289907 h 567281"/>
                <a:gd name="connsiteX35" fmla="*/ 5078 w 607599"/>
                <a:gd name="connsiteY35" fmla="*/ 288485 h 567281"/>
                <a:gd name="connsiteX36" fmla="*/ 6591 w 607599"/>
                <a:gd name="connsiteY36" fmla="*/ 260489 h 567281"/>
                <a:gd name="connsiteX37" fmla="*/ 290516 w 607599"/>
                <a:gd name="connsiteY37" fmla="*/ 5066 h 567281"/>
                <a:gd name="connsiteX38" fmla="*/ 303811 w 607599"/>
                <a:gd name="connsiteY38" fmla="*/ 0 h 567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7599" h="567281">
                  <a:moveTo>
                    <a:pt x="303778" y="357806"/>
                  </a:moveTo>
                  <a:cubicBezTo>
                    <a:pt x="276186" y="357806"/>
                    <a:pt x="253668" y="380291"/>
                    <a:pt x="253668" y="407842"/>
                  </a:cubicBezTo>
                  <a:lnTo>
                    <a:pt x="253668" y="527732"/>
                  </a:lnTo>
                  <a:lnTo>
                    <a:pt x="353887" y="527732"/>
                  </a:lnTo>
                  <a:lnTo>
                    <a:pt x="353887" y="407842"/>
                  </a:lnTo>
                  <a:cubicBezTo>
                    <a:pt x="353887" y="380291"/>
                    <a:pt x="331458" y="357806"/>
                    <a:pt x="303778" y="357806"/>
                  </a:cubicBezTo>
                  <a:close/>
                  <a:moveTo>
                    <a:pt x="233911" y="200553"/>
                  </a:moveTo>
                  <a:lnTo>
                    <a:pt x="373734" y="200553"/>
                  </a:lnTo>
                  <a:cubicBezTo>
                    <a:pt x="384681" y="200553"/>
                    <a:pt x="393581" y="209360"/>
                    <a:pt x="393581" y="220302"/>
                  </a:cubicBezTo>
                  <a:cubicBezTo>
                    <a:pt x="393581" y="231244"/>
                    <a:pt x="384681" y="240140"/>
                    <a:pt x="373734" y="240140"/>
                  </a:cubicBezTo>
                  <a:lnTo>
                    <a:pt x="233911" y="240140"/>
                  </a:lnTo>
                  <a:cubicBezTo>
                    <a:pt x="222963" y="240140"/>
                    <a:pt x="214063" y="231244"/>
                    <a:pt x="214063" y="220302"/>
                  </a:cubicBezTo>
                  <a:cubicBezTo>
                    <a:pt x="214063" y="209360"/>
                    <a:pt x="222963" y="200553"/>
                    <a:pt x="233911" y="200553"/>
                  </a:cubicBezTo>
                  <a:close/>
                  <a:moveTo>
                    <a:pt x="303778" y="46392"/>
                  </a:moveTo>
                  <a:lnTo>
                    <a:pt x="152915" y="182191"/>
                  </a:lnTo>
                  <a:lnTo>
                    <a:pt x="152915" y="527732"/>
                  </a:lnTo>
                  <a:lnTo>
                    <a:pt x="214061" y="527732"/>
                  </a:lnTo>
                  <a:lnTo>
                    <a:pt x="214061" y="407842"/>
                  </a:lnTo>
                  <a:cubicBezTo>
                    <a:pt x="214061" y="358428"/>
                    <a:pt x="254291" y="318257"/>
                    <a:pt x="303778" y="318257"/>
                  </a:cubicBezTo>
                  <a:cubicBezTo>
                    <a:pt x="353264" y="318257"/>
                    <a:pt x="393583" y="358428"/>
                    <a:pt x="393583" y="407842"/>
                  </a:cubicBezTo>
                  <a:lnTo>
                    <a:pt x="393583" y="527732"/>
                  </a:lnTo>
                  <a:lnTo>
                    <a:pt x="454729" y="527732"/>
                  </a:lnTo>
                  <a:lnTo>
                    <a:pt x="454729" y="182191"/>
                  </a:lnTo>
                  <a:close/>
                  <a:moveTo>
                    <a:pt x="303811" y="0"/>
                  </a:moveTo>
                  <a:cubicBezTo>
                    <a:pt x="308562" y="0"/>
                    <a:pt x="313301" y="1689"/>
                    <a:pt x="317039" y="5066"/>
                  </a:cubicBezTo>
                  <a:lnTo>
                    <a:pt x="601053" y="260489"/>
                  </a:lnTo>
                  <a:cubicBezTo>
                    <a:pt x="609152" y="267866"/>
                    <a:pt x="609864" y="280308"/>
                    <a:pt x="602477" y="288485"/>
                  </a:cubicBezTo>
                  <a:cubicBezTo>
                    <a:pt x="595178" y="296572"/>
                    <a:pt x="582629" y="297194"/>
                    <a:pt x="574529" y="289907"/>
                  </a:cubicBezTo>
                  <a:lnTo>
                    <a:pt x="494336" y="217830"/>
                  </a:lnTo>
                  <a:lnTo>
                    <a:pt x="494336" y="547462"/>
                  </a:lnTo>
                  <a:cubicBezTo>
                    <a:pt x="494336" y="558394"/>
                    <a:pt x="485525" y="567281"/>
                    <a:pt x="474577" y="567281"/>
                  </a:cubicBezTo>
                  <a:lnTo>
                    <a:pt x="133067" y="567281"/>
                  </a:lnTo>
                  <a:cubicBezTo>
                    <a:pt x="122119" y="567281"/>
                    <a:pt x="113219" y="558394"/>
                    <a:pt x="113219" y="547462"/>
                  </a:cubicBezTo>
                  <a:lnTo>
                    <a:pt x="113219" y="217830"/>
                  </a:lnTo>
                  <a:lnTo>
                    <a:pt x="33115" y="289907"/>
                  </a:lnTo>
                  <a:cubicBezTo>
                    <a:pt x="24926" y="297194"/>
                    <a:pt x="12466" y="296572"/>
                    <a:pt x="5078" y="288485"/>
                  </a:cubicBezTo>
                  <a:cubicBezTo>
                    <a:pt x="-2220" y="280308"/>
                    <a:pt x="-1597" y="267866"/>
                    <a:pt x="6591" y="260489"/>
                  </a:cubicBezTo>
                  <a:lnTo>
                    <a:pt x="290516" y="5066"/>
                  </a:lnTo>
                  <a:cubicBezTo>
                    <a:pt x="294299" y="1689"/>
                    <a:pt x="299060" y="0"/>
                    <a:pt x="303811" y="0"/>
                  </a:cubicBezTo>
                  <a:close/>
                </a:path>
              </a:pathLst>
            </a:custGeom>
            <a:solidFill>
              <a:schemeClr val="bg2"/>
            </a:solidFill>
            <a:ln>
              <a:noFill/>
            </a:ln>
          </p:spPr>
          <p:txBody>
            <a:bodyPr/>
            <a:lstStyle/>
            <a:p>
              <a:endParaRPr/>
            </a:p>
          </p:txBody>
        </p:sp>
        <p:sp>
          <p:nvSpPr>
            <p:cNvPr id="1048661" name="kennel_317432"/>
            <p:cNvSpPr>
              <a:spLocks noChangeAspect="1"/>
            </p:cNvSpPr>
            <p:nvPr/>
          </p:nvSpPr>
          <p:spPr bwMode="auto">
            <a:xfrm>
              <a:off x="8399" y="5764"/>
              <a:ext cx="784" cy="602"/>
            </a:xfrm>
            <a:custGeom>
              <a:avLst/>
              <a:gdLst>
                <a:gd name="connsiteX0" fmla="*/ 215557 w 607599"/>
                <a:gd name="connsiteY0" fmla="*/ 220298 h 466367"/>
                <a:gd name="connsiteX1" fmla="*/ 157174 w 607599"/>
                <a:gd name="connsiteY1" fmla="*/ 278594 h 466367"/>
                <a:gd name="connsiteX2" fmla="*/ 157174 w 607599"/>
                <a:gd name="connsiteY2" fmla="*/ 440507 h 466367"/>
                <a:gd name="connsiteX3" fmla="*/ 273941 w 607599"/>
                <a:gd name="connsiteY3" fmla="*/ 440507 h 466367"/>
                <a:gd name="connsiteX4" fmla="*/ 273941 w 607599"/>
                <a:gd name="connsiteY4" fmla="*/ 278594 h 466367"/>
                <a:gd name="connsiteX5" fmla="*/ 215557 w 607599"/>
                <a:gd name="connsiteY5" fmla="*/ 220298 h 466367"/>
                <a:gd name="connsiteX6" fmla="*/ 390708 w 607599"/>
                <a:gd name="connsiteY6" fmla="*/ 188395 h 466367"/>
                <a:gd name="connsiteX7" fmla="*/ 390708 w 607599"/>
                <a:gd name="connsiteY7" fmla="*/ 440507 h 466367"/>
                <a:gd name="connsiteX8" fmla="*/ 500978 w 607599"/>
                <a:gd name="connsiteY8" fmla="*/ 440507 h 466367"/>
                <a:gd name="connsiteX9" fmla="*/ 500978 w 607599"/>
                <a:gd name="connsiteY9" fmla="*/ 206880 h 466367"/>
                <a:gd name="connsiteX10" fmla="*/ 416162 w 607599"/>
                <a:gd name="connsiteY10" fmla="*/ 206880 h 466367"/>
                <a:gd name="connsiteX11" fmla="*/ 407529 w 607599"/>
                <a:gd name="connsiteY11" fmla="*/ 203503 h 466367"/>
                <a:gd name="connsiteX12" fmla="*/ 196339 w 607599"/>
                <a:gd name="connsiteY12" fmla="*/ 138097 h 466367"/>
                <a:gd name="connsiteX13" fmla="*/ 286903 w 607599"/>
                <a:gd name="connsiteY13" fmla="*/ 138097 h 466367"/>
                <a:gd name="connsiteX14" fmla="*/ 299802 w 607599"/>
                <a:gd name="connsiteY14" fmla="*/ 151055 h 466367"/>
                <a:gd name="connsiteX15" fmla="*/ 286903 w 607599"/>
                <a:gd name="connsiteY15" fmla="*/ 163924 h 466367"/>
                <a:gd name="connsiteX16" fmla="*/ 196339 w 607599"/>
                <a:gd name="connsiteY16" fmla="*/ 163924 h 466367"/>
                <a:gd name="connsiteX17" fmla="*/ 183440 w 607599"/>
                <a:gd name="connsiteY17" fmla="*/ 151055 h 466367"/>
                <a:gd name="connsiteX18" fmla="*/ 196339 w 607599"/>
                <a:gd name="connsiteY18" fmla="*/ 138097 h 466367"/>
                <a:gd name="connsiteX19" fmla="*/ 143353 w 607599"/>
                <a:gd name="connsiteY19" fmla="*/ 138097 h 466367"/>
                <a:gd name="connsiteX20" fmla="*/ 146380 w 607599"/>
                <a:gd name="connsiteY20" fmla="*/ 138097 h 466367"/>
                <a:gd name="connsiteX21" fmla="*/ 159377 w 607599"/>
                <a:gd name="connsiteY21" fmla="*/ 151055 h 466367"/>
                <a:gd name="connsiteX22" fmla="*/ 146380 w 607599"/>
                <a:gd name="connsiteY22" fmla="*/ 163924 h 466367"/>
                <a:gd name="connsiteX23" fmla="*/ 143353 w 607599"/>
                <a:gd name="connsiteY23" fmla="*/ 163924 h 466367"/>
                <a:gd name="connsiteX24" fmla="*/ 130445 w 607599"/>
                <a:gd name="connsiteY24" fmla="*/ 151055 h 466367"/>
                <a:gd name="connsiteX25" fmla="*/ 143353 w 607599"/>
                <a:gd name="connsiteY25" fmla="*/ 138097 h 466367"/>
                <a:gd name="connsiteX26" fmla="*/ 215468 w 607599"/>
                <a:gd name="connsiteY26" fmla="*/ 30392 h 466367"/>
                <a:gd name="connsiteX27" fmla="*/ 66305 w 607599"/>
                <a:gd name="connsiteY27" fmla="*/ 163424 h 466367"/>
                <a:gd name="connsiteX28" fmla="*/ 66305 w 607599"/>
                <a:gd name="connsiteY28" fmla="*/ 440507 h 466367"/>
                <a:gd name="connsiteX29" fmla="*/ 131186 w 607599"/>
                <a:gd name="connsiteY29" fmla="*/ 440507 h 466367"/>
                <a:gd name="connsiteX30" fmla="*/ 131186 w 607599"/>
                <a:gd name="connsiteY30" fmla="*/ 278594 h 466367"/>
                <a:gd name="connsiteX31" fmla="*/ 215557 w 607599"/>
                <a:gd name="connsiteY31" fmla="*/ 194349 h 466367"/>
                <a:gd name="connsiteX32" fmla="*/ 299840 w 607599"/>
                <a:gd name="connsiteY32" fmla="*/ 278594 h 466367"/>
                <a:gd name="connsiteX33" fmla="*/ 299840 w 607599"/>
                <a:gd name="connsiteY33" fmla="*/ 440507 h 466367"/>
                <a:gd name="connsiteX34" fmla="*/ 364720 w 607599"/>
                <a:gd name="connsiteY34" fmla="*/ 440507 h 466367"/>
                <a:gd name="connsiteX35" fmla="*/ 364720 w 607599"/>
                <a:gd name="connsiteY35" fmla="*/ 165024 h 466367"/>
                <a:gd name="connsiteX36" fmla="*/ 343182 w 607599"/>
                <a:gd name="connsiteY36" fmla="*/ 25949 h 466367"/>
                <a:gd name="connsiteX37" fmla="*/ 513260 w 607599"/>
                <a:gd name="connsiteY37" fmla="*/ 180931 h 466367"/>
                <a:gd name="connsiteX38" fmla="*/ 561141 w 607599"/>
                <a:gd name="connsiteY38" fmla="*/ 180931 h 466367"/>
                <a:gd name="connsiteX39" fmla="*/ 391064 w 607599"/>
                <a:gd name="connsiteY39" fmla="*/ 25949 h 466367"/>
                <a:gd name="connsiteX40" fmla="*/ 249288 w 607599"/>
                <a:gd name="connsiteY40" fmla="*/ 25949 h 466367"/>
                <a:gd name="connsiteX41" fmla="*/ 421146 w 607599"/>
                <a:gd name="connsiteY41" fmla="*/ 180931 h 466367"/>
                <a:gd name="connsiteX42" fmla="*/ 474723 w 607599"/>
                <a:gd name="connsiteY42" fmla="*/ 180931 h 466367"/>
                <a:gd name="connsiteX43" fmla="*/ 304646 w 607599"/>
                <a:gd name="connsiteY43" fmla="*/ 25949 h 466367"/>
                <a:gd name="connsiteX44" fmla="*/ 215557 w 607599"/>
                <a:gd name="connsiteY44" fmla="*/ 0 h 466367"/>
                <a:gd name="connsiteX45" fmla="*/ 396137 w 607599"/>
                <a:gd name="connsiteY45" fmla="*/ 0 h 466367"/>
                <a:gd name="connsiteX46" fmla="*/ 404859 w 607599"/>
                <a:gd name="connsiteY46" fmla="*/ 3377 h 466367"/>
                <a:gd name="connsiteX47" fmla="*/ 603327 w 607599"/>
                <a:gd name="connsiteY47" fmla="*/ 184396 h 466367"/>
                <a:gd name="connsiteX48" fmla="*/ 606709 w 607599"/>
                <a:gd name="connsiteY48" fmla="*/ 198615 h 466367"/>
                <a:gd name="connsiteX49" fmla="*/ 594605 w 607599"/>
                <a:gd name="connsiteY49" fmla="*/ 206880 h 466367"/>
                <a:gd name="connsiteX50" fmla="*/ 526966 w 607599"/>
                <a:gd name="connsiteY50" fmla="*/ 206880 h 466367"/>
                <a:gd name="connsiteX51" fmla="*/ 526966 w 607599"/>
                <a:gd name="connsiteY51" fmla="*/ 440507 h 466367"/>
                <a:gd name="connsiteX52" fmla="*/ 564879 w 607599"/>
                <a:gd name="connsiteY52" fmla="*/ 440507 h 466367"/>
                <a:gd name="connsiteX53" fmla="*/ 577784 w 607599"/>
                <a:gd name="connsiteY53" fmla="*/ 453482 h 466367"/>
                <a:gd name="connsiteX54" fmla="*/ 564879 w 607599"/>
                <a:gd name="connsiteY54" fmla="*/ 466367 h 466367"/>
                <a:gd name="connsiteX55" fmla="*/ 53401 w 607599"/>
                <a:gd name="connsiteY55" fmla="*/ 466367 h 466367"/>
                <a:gd name="connsiteX56" fmla="*/ 40407 w 607599"/>
                <a:gd name="connsiteY56" fmla="*/ 453482 h 466367"/>
                <a:gd name="connsiteX57" fmla="*/ 40407 w 607599"/>
                <a:gd name="connsiteY57" fmla="*/ 186618 h 466367"/>
                <a:gd name="connsiteX58" fmla="*/ 21628 w 607599"/>
                <a:gd name="connsiteY58" fmla="*/ 203325 h 466367"/>
                <a:gd name="connsiteX59" fmla="*/ 12995 w 607599"/>
                <a:gd name="connsiteY59" fmla="*/ 206613 h 466367"/>
                <a:gd name="connsiteX60" fmla="*/ 3294 w 607599"/>
                <a:gd name="connsiteY60" fmla="*/ 202347 h 466367"/>
                <a:gd name="connsiteX61" fmla="*/ 4362 w 607599"/>
                <a:gd name="connsiteY61" fmla="*/ 184041 h 466367"/>
                <a:gd name="connsiteX62" fmla="*/ 206924 w 607599"/>
                <a:gd name="connsiteY62" fmla="*/ 3288 h 466367"/>
                <a:gd name="connsiteX63" fmla="*/ 215557 w 607599"/>
                <a:gd name="connsiteY63" fmla="*/ 0 h 46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7599" h="466367">
                  <a:moveTo>
                    <a:pt x="215557" y="220298"/>
                  </a:moveTo>
                  <a:cubicBezTo>
                    <a:pt x="183339" y="220298"/>
                    <a:pt x="157174" y="246425"/>
                    <a:pt x="157174" y="278594"/>
                  </a:cubicBezTo>
                  <a:lnTo>
                    <a:pt x="157174" y="440507"/>
                  </a:lnTo>
                  <a:lnTo>
                    <a:pt x="273941" y="440507"/>
                  </a:lnTo>
                  <a:lnTo>
                    <a:pt x="273941" y="278594"/>
                  </a:lnTo>
                  <a:cubicBezTo>
                    <a:pt x="273941" y="246425"/>
                    <a:pt x="247775" y="220298"/>
                    <a:pt x="215557" y="220298"/>
                  </a:cubicBezTo>
                  <a:close/>
                  <a:moveTo>
                    <a:pt x="390708" y="188395"/>
                  </a:moveTo>
                  <a:lnTo>
                    <a:pt x="390708" y="440507"/>
                  </a:lnTo>
                  <a:lnTo>
                    <a:pt x="500978" y="440507"/>
                  </a:lnTo>
                  <a:lnTo>
                    <a:pt x="500978" y="206880"/>
                  </a:lnTo>
                  <a:lnTo>
                    <a:pt x="416162" y="206880"/>
                  </a:lnTo>
                  <a:cubicBezTo>
                    <a:pt x="412958" y="206880"/>
                    <a:pt x="409843" y="205724"/>
                    <a:pt x="407529" y="203503"/>
                  </a:cubicBezTo>
                  <a:close/>
                  <a:moveTo>
                    <a:pt x="196339" y="138097"/>
                  </a:moveTo>
                  <a:lnTo>
                    <a:pt x="286903" y="138097"/>
                  </a:lnTo>
                  <a:cubicBezTo>
                    <a:pt x="294019" y="138097"/>
                    <a:pt x="299802" y="143866"/>
                    <a:pt x="299802" y="151055"/>
                  </a:cubicBezTo>
                  <a:cubicBezTo>
                    <a:pt x="299802" y="158155"/>
                    <a:pt x="294019" y="163924"/>
                    <a:pt x="286903" y="163924"/>
                  </a:cubicBezTo>
                  <a:lnTo>
                    <a:pt x="196339" y="163924"/>
                  </a:lnTo>
                  <a:cubicBezTo>
                    <a:pt x="189223" y="163924"/>
                    <a:pt x="183440" y="158155"/>
                    <a:pt x="183440" y="151055"/>
                  </a:cubicBezTo>
                  <a:cubicBezTo>
                    <a:pt x="183440" y="143866"/>
                    <a:pt x="189223" y="138097"/>
                    <a:pt x="196339" y="138097"/>
                  </a:cubicBezTo>
                  <a:close/>
                  <a:moveTo>
                    <a:pt x="143353" y="138097"/>
                  </a:moveTo>
                  <a:lnTo>
                    <a:pt x="146380" y="138097"/>
                  </a:lnTo>
                  <a:cubicBezTo>
                    <a:pt x="153591" y="138097"/>
                    <a:pt x="159377" y="143866"/>
                    <a:pt x="159377" y="151055"/>
                  </a:cubicBezTo>
                  <a:cubicBezTo>
                    <a:pt x="159377" y="158155"/>
                    <a:pt x="153591" y="163924"/>
                    <a:pt x="146380" y="163924"/>
                  </a:cubicBezTo>
                  <a:lnTo>
                    <a:pt x="143353" y="163924"/>
                  </a:lnTo>
                  <a:cubicBezTo>
                    <a:pt x="136231" y="163924"/>
                    <a:pt x="130445" y="158155"/>
                    <a:pt x="130445" y="151055"/>
                  </a:cubicBezTo>
                  <a:cubicBezTo>
                    <a:pt x="130445" y="143866"/>
                    <a:pt x="136231" y="138097"/>
                    <a:pt x="143353" y="138097"/>
                  </a:cubicBezTo>
                  <a:close/>
                  <a:moveTo>
                    <a:pt x="215468" y="30392"/>
                  </a:moveTo>
                  <a:lnTo>
                    <a:pt x="66305" y="163424"/>
                  </a:lnTo>
                  <a:lnTo>
                    <a:pt x="66305" y="440507"/>
                  </a:lnTo>
                  <a:lnTo>
                    <a:pt x="131186" y="440507"/>
                  </a:lnTo>
                  <a:lnTo>
                    <a:pt x="131186" y="278594"/>
                  </a:lnTo>
                  <a:cubicBezTo>
                    <a:pt x="131186" y="232117"/>
                    <a:pt x="169011" y="194349"/>
                    <a:pt x="215557" y="194349"/>
                  </a:cubicBezTo>
                  <a:cubicBezTo>
                    <a:pt x="262015" y="194349"/>
                    <a:pt x="299840" y="232117"/>
                    <a:pt x="299840" y="278594"/>
                  </a:cubicBezTo>
                  <a:lnTo>
                    <a:pt x="299840" y="440507"/>
                  </a:lnTo>
                  <a:lnTo>
                    <a:pt x="364720" y="440507"/>
                  </a:lnTo>
                  <a:lnTo>
                    <a:pt x="364720" y="165024"/>
                  </a:lnTo>
                  <a:close/>
                  <a:moveTo>
                    <a:pt x="343182" y="25949"/>
                  </a:moveTo>
                  <a:lnTo>
                    <a:pt x="513260" y="180931"/>
                  </a:lnTo>
                  <a:lnTo>
                    <a:pt x="561141" y="180931"/>
                  </a:lnTo>
                  <a:lnTo>
                    <a:pt x="391064" y="25949"/>
                  </a:lnTo>
                  <a:close/>
                  <a:moveTo>
                    <a:pt x="249288" y="25949"/>
                  </a:moveTo>
                  <a:lnTo>
                    <a:pt x="421146" y="180931"/>
                  </a:lnTo>
                  <a:lnTo>
                    <a:pt x="474723" y="180931"/>
                  </a:lnTo>
                  <a:lnTo>
                    <a:pt x="304646" y="25949"/>
                  </a:lnTo>
                  <a:close/>
                  <a:moveTo>
                    <a:pt x="215557" y="0"/>
                  </a:moveTo>
                  <a:lnTo>
                    <a:pt x="396137" y="0"/>
                  </a:lnTo>
                  <a:cubicBezTo>
                    <a:pt x="399341" y="0"/>
                    <a:pt x="402456" y="1244"/>
                    <a:pt x="404859" y="3377"/>
                  </a:cubicBezTo>
                  <a:lnTo>
                    <a:pt x="603327" y="184396"/>
                  </a:lnTo>
                  <a:cubicBezTo>
                    <a:pt x="607332" y="187951"/>
                    <a:pt x="608667" y="193639"/>
                    <a:pt x="606709" y="198615"/>
                  </a:cubicBezTo>
                  <a:cubicBezTo>
                    <a:pt x="604751" y="203591"/>
                    <a:pt x="599945" y="206880"/>
                    <a:pt x="594605" y="206880"/>
                  </a:cubicBezTo>
                  <a:lnTo>
                    <a:pt x="526966" y="206880"/>
                  </a:lnTo>
                  <a:lnTo>
                    <a:pt x="526966" y="440507"/>
                  </a:lnTo>
                  <a:lnTo>
                    <a:pt x="564879" y="440507"/>
                  </a:lnTo>
                  <a:cubicBezTo>
                    <a:pt x="571999" y="440507"/>
                    <a:pt x="577784" y="446284"/>
                    <a:pt x="577784" y="453482"/>
                  </a:cubicBezTo>
                  <a:cubicBezTo>
                    <a:pt x="577784" y="460591"/>
                    <a:pt x="571999" y="466367"/>
                    <a:pt x="564879" y="466367"/>
                  </a:cubicBezTo>
                  <a:lnTo>
                    <a:pt x="53401" y="466367"/>
                  </a:lnTo>
                  <a:cubicBezTo>
                    <a:pt x="46192" y="466367"/>
                    <a:pt x="40407" y="460591"/>
                    <a:pt x="40407" y="453482"/>
                  </a:cubicBezTo>
                  <a:lnTo>
                    <a:pt x="40407" y="186618"/>
                  </a:lnTo>
                  <a:lnTo>
                    <a:pt x="21628" y="203325"/>
                  </a:lnTo>
                  <a:cubicBezTo>
                    <a:pt x="19136" y="205547"/>
                    <a:pt x="16021" y="206613"/>
                    <a:pt x="12995" y="206613"/>
                  </a:cubicBezTo>
                  <a:cubicBezTo>
                    <a:pt x="9435" y="206613"/>
                    <a:pt x="5875" y="205191"/>
                    <a:pt x="3294" y="202347"/>
                  </a:cubicBezTo>
                  <a:cubicBezTo>
                    <a:pt x="-1512" y="197015"/>
                    <a:pt x="-978" y="188840"/>
                    <a:pt x="4362" y="184041"/>
                  </a:cubicBezTo>
                  <a:lnTo>
                    <a:pt x="206924" y="3288"/>
                  </a:lnTo>
                  <a:cubicBezTo>
                    <a:pt x="209327" y="1155"/>
                    <a:pt x="212442" y="0"/>
                    <a:pt x="215557" y="0"/>
                  </a:cubicBezTo>
                  <a:close/>
                </a:path>
              </a:pathLst>
            </a:custGeom>
            <a:solidFill>
              <a:schemeClr val="bg2"/>
            </a:solidFill>
            <a:ln>
              <a:noFill/>
            </a:ln>
          </p:spPr>
          <p:txBody>
            <a:bodyPr/>
            <a:lstStyle/>
            <a:p>
              <a:endParaRPr lang="zh-CN" altLang="en-US">
                <a:latin typeface="思源宋体"/>
                <a:ea typeface="思源宋体"/>
                <a:cs typeface="思源宋体" panose="02020400000000000000" charset="-122"/>
              </a:endParaRPr>
            </a:p>
          </p:txBody>
        </p:sp>
        <p:pic>
          <p:nvPicPr>
            <p:cNvPr id="2097164" name="图片 62" descr="303b32313534303137323bb7bfd7d3"/>
            <p:cNvPicPr>
              <a:picLocks noChangeAspect="1"/>
            </p:cNvPicPr>
            <p:nvPr/>
          </p:nvPicPr>
          <p:blipFill>
            <a:blip r:embed="rId4"/>
            <a:stretch>
              <a:fillRect/>
            </a:stretch>
          </p:blipFill>
          <p:spPr>
            <a:xfrm>
              <a:off x="8443" y="8035"/>
              <a:ext cx="696" cy="696"/>
            </a:xfrm>
            <a:prstGeom prst="rect">
              <a:avLst/>
            </a:prstGeom>
          </p:spPr>
        </p:pic>
      </p:grpSp>
    </p:spTree>
    <p:custDataLst>
      <p:tags r:id="rId1"/>
    </p:custDataLst>
  </p:cSld>
  <p:clrMapOvr>
    <a:masterClrMapping/>
  </p:clrMapOvr>
  <p:transition advTm="2000">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 presetClass="entr" presetSubtype="16" dur="500" fill="hold" nodeType="afterEffect">
                                  <p:stCondLst>
                                    <p:cond delay="0"/>
                                  </p:stCondLst>
                                  <p:childTnLst>
                                    <p:set>
                                      <p:cBhvr>
                                        <p:cTn id="6" dur="500" fill="hold">
                                          <p:stCondLst>
                                            <p:cond delay="0"/>
                                          </p:stCondLst>
                                        </p:cTn>
                                        <p:tgtEl>
                                          <p:spTgt spid="54"/>
                                        </p:tgtEl>
                                        <p:attrNameLst>
                                          <p:attrName>style.visibility</p:attrName>
                                        </p:attrNameLst>
                                      </p:cBhvr>
                                      <p:to>
                                        <p:strVal val="visible"/>
                                      </p:to>
                                    </p:set>
                                    <p:animEffect transition="in" filter="box(in)">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组合 1"/>
          <p:cNvGrpSpPr/>
          <p:nvPr/>
        </p:nvGrpSpPr>
        <p:grpSpPr>
          <a:xfrm>
            <a:off x="1264285" y="1664335"/>
            <a:ext cx="9784080" cy="8143240"/>
            <a:chOff x="1991" y="2621"/>
            <a:chExt cx="15408" cy="12824"/>
          </a:xfrm>
        </p:grpSpPr>
        <p:grpSp>
          <p:nvGrpSpPr>
            <p:cNvPr id="90" name="组合 8"/>
            <p:cNvGrpSpPr/>
            <p:nvPr/>
          </p:nvGrpSpPr>
          <p:grpSpPr>
            <a:xfrm>
              <a:off x="1991" y="2621"/>
              <a:ext cx="15408" cy="12824"/>
              <a:chOff x="1976" y="2722"/>
              <a:chExt cx="15408" cy="12824"/>
            </a:xfrm>
          </p:grpSpPr>
          <p:grpSp>
            <p:nvGrpSpPr>
              <p:cNvPr id="91" name="组合 31"/>
              <p:cNvGrpSpPr/>
              <p:nvPr/>
            </p:nvGrpSpPr>
            <p:grpSpPr>
              <a:xfrm>
                <a:off x="8405" y="5179"/>
                <a:ext cx="5719" cy="704"/>
                <a:chOff x="8345" y="5659"/>
                <a:chExt cx="5719" cy="704"/>
              </a:xfrm>
            </p:grpSpPr>
            <p:sp>
              <p:nvSpPr>
                <p:cNvPr id="1048776" name="矩形 9"/>
                <p:cNvSpPr/>
                <p:nvPr/>
              </p:nvSpPr>
              <p:spPr>
                <a:xfrm>
                  <a:off x="8345" y="5659"/>
                  <a:ext cx="5719"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777" name="文本框 10"/>
                <p:cNvSpPr txBox="1"/>
                <p:nvPr/>
              </p:nvSpPr>
              <p:spPr>
                <a:xfrm>
                  <a:off x="8345" y="5746"/>
                  <a:ext cx="5719" cy="584"/>
                </a:xfrm>
                <a:prstGeom prst="rect">
                  <a:avLst/>
                </a:prstGeom>
                <a:noFill/>
              </p:spPr>
              <p:txBody>
                <a:bodyPr wrap="square" rtlCol="0">
                  <a:spAutoFit/>
                </a:bodyPr>
                <a:lstStyle/>
                <a:p>
                  <a:pPr algn="ctr"/>
                  <a:r>
                    <a:rPr lang="zh-CN" altLang="en-US" sz="1600">
                      <a:solidFill>
                        <a:schemeClr val="bg1"/>
                      </a:solidFill>
                      <a:latin typeface="Arial" panose="020B0604020202020204" pitchFamily="34" charset="0"/>
                      <a:ea typeface="幼圆" panose="02010509060101010101" charset="-122"/>
                      <a:cs typeface="思源宋体" panose="02020400000000000000" charset="-122"/>
                    </a:rPr>
                    <a:t>ENTER THE TITLE CONTENT HERE</a:t>
                  </a:r>
                </a:p>
              </p:txBody>
            </p:sp>
          </p:grpSp>
          <p:sp>
            <p:nvSpPr>
              <p:cNvPr id="1048778" name="文本框 38"/>
              <p:cNvSpPr txBox="1"/>
              <p:nvPr/>
            </p:nvSpPr>
            <p:spPr>
              <a:xfrm>
                <a:off x="8250" y="3722"/>
                <a:ext cx="5874" cy="1744"/>
              </a:xfrm>
              <a:prstGeom prst="rect">
                <a:avLst/>
              </a:prstGeom>
              <a:noFill/>
            </p:spPr>
            <p:txBody>
              <a:bodyPr wrap="square" rtlCol="0">
                <a:spAutoFit/>
              </a:bodyPr>
              <a:lstStyle>
                <a:defPPr>
                  <a:defRPr lang="zh-CN"/>
                </a:defPPr>
                <a:lvl1pPr algn="dist">
                  <a:defRPr sz="6000">
                    <a:solidFill>
                      <a:schemeClr val="tx1">
                        <a:lumMod val="75000"/>
                        <a:lumOff val="25000"/>
                      </a:schemeClr>
                    </a:solidFill>
                    <a:latin typeface="印品灵秀体（非商用）" panose="02000000000000000000" pitchFamily="2" charset="-122"/>
                    <a:ea typeface="印品灵秀体（非商用）" panose="02000000000000000000" pitchFamily="2" charset="-122"/>
                    <a:cs typeface="思源宋体" panose="02020400000000000000" charset="-122"/>
                  </a:defRPr>
                </a:lvl1pPr>
              </a:lstStyle>
              <a:p>
                <a:r>
                  <a:rPr lang="zh-CN" altLang="en-US" dirty="0"/>
                  <a:t>规划方案</a:t>
                </a:r>
              </a:p>
            </p:txBody>
          </p:sp>
          <p:sp>
            <p:nvSpPr>
              <p:cNvPr id="1048779" name="文本框 39"/>
              <p:cNvSpPr txBox="1"/>
              <p:nvPr/>
            </p:nvSpPr>
            <p:spPr>
              <a:xfrm>
                <a:off x="8359" y="5943"/>
                <a:ext cx="9025" cy="1624"/>
              </a:xfrm>
              <a:prstGeom prst="rect">
                <a:avLst/>
              </a:prstGeom>
              <a:noFill/>
            </p:spPr>
            <p:txBody>
              <a:bodyPr wrap="square" rtlCol="0">
                <a:spAutoFit/>
              </a:bodyPr>
              <a:lstStyle/>
              <a:p>
                <a:pPr>
                  <a:lnSpc>
                    <a:spcPct val="150000"/>
                  </a:lnSpc>
                  <a:spcBef>
                    <a:spcPct val="0"/>
                  </a:spcBef>
                  <a:spcAft>
                    <a:spcPct val="0"/>
                  </a:spcAft>
                </a:pPr>
                <a:r>
                  <a:rPr lang="zh-CN" altLang="en-US" sz="1400" dirty="0">
                    <a:solidFill>
                      <a:schemeClr val="tx1">
                        <a:lumMod val="50000"/>
                        <a:lumOff val="50000"/>
                      </a:schemeClr>
                    </a:solidFill>
                    <a:latin typeface="华文楷体" panose="02010600040101010101" pitchFamily="2" charset="-122"/>
                    <a:ea typeface="华文楷体" panose="02010600040101010101" pitchFamily="2" charset="-122"/>
                    <a:cs typeface="思源宋体" panose="02020400000000000000" charset="-122"/>
                    <a:sym typeface="+mn-ea"/>
                  </a:rPr>
                  <a:t>规划的实行是最重要的一环，倘若只是简单的制定完职业生涯规划，但没有具体的实行方案，那么再完备的的规划和职业分析，都是空谈，毫无意义。</a:t>
                </a:r>
                <a:endParaRPr lang="en-US" sz="1400" dirty="0">
                  <a:solidFill>
                    <a:schemeClr val="tx1">
                      <a:lumMod val="50000"/>
                      <a:lumOff val="50000"/>
                    </a:schemeClr>
                  </a:solidFill>
                  <a:latin typeface="华文楷体" panose="02010600040101010101" pitchFamily="2" charset="-122"/>
                  <a:ea typeface="华文楷体" panose="02010600040101010101" pitchFamily="2" charset="-122"/>
                  <a:cs typeface="思源宋体" panose="02020400000000000000" charset="-122"/>
                  <a:sym typeface="+mn-ea"/>
                </a:endParaRPr>
              </a:p>
            </p:txBody>
          </p:sp>
          <p:sp>
            <p:nvSpPr>
              <p:cNvPr id="1048780" name="文本框 11"/>
              <p:cNvSpPr txBox="1"/>
              <p:nvPr/>
            </p:nvSpPr>
            <p:spPr>
              <a:xfrm>
                <a:off x="1976" y="2722"/>
                <a:ext cx="5834" cy="12824"/>
              </a:xfrm>
              <a:prstGeom prst="rect">
                <a:avLst/>
              </a:prstGeom>
              <a:noFill/>
            </p:spPr>
            <p:txBody>
              <a:bodyPr wrap="square" rtlCol="0">
                <a:spAutoFit/>
              </a:bodyPr>
              <a:lstStyle/>
              <a:p>
                <a:pPr algn="ctr"/>
                <a:r>
                  <a:rPr lang="en-US" altLang="zh-CN" sz="23900" dirty="0">
                    <a:solidFill>
                      <a:srgbClr val="64BDBF"/>
                    </a:solidFill>
                    <a:latin typeface="Arial" panose="020B0604020202020204" pitchFamily="34" charset="0"/>
                    <a:ea typeface="幼圆" panose="02010509060101010101" charset="-122"/>
                    <a:cs typeface="思源宋体" panose="02020400000000000000" charset="-122"/>
                  </a:rPr>
                  <a:t>04</a:t>
                </a:r>
              </a:p>
            </p:txBody>
          </p:sp>
        </p:grpSp>
        <p:sp>
          <p:nvSpPr>
            <p:cNvPr id="1048781" name="矩形 14"/>
            <p:cNvSpPr/>
            <p:nvPr/>
          </p:nvSpPr>
          <p:spPr>
            <a:xfrm>
              <a:off x="2415" y="5078"/>
              <a:ext cx="4664"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1048782" name="文本框 15"/>
            <p:cNvSpPr txBox="1"/>
            <p:nvPr/>
          </p:nvSpPr>
          <p:spPr>
            <a:xfrm>
              <a:off x="2414" y="5125"/>
              <a:ext cx="4666" cy="884"/>
            </a:xfrm>
            <a:prstGeom prst="rect">
              <a:avLst/>
            </a:prstGeom>
            <a:noFill/>
          </p:spPr>
          <p:txBody>
            <a:bodyPr wrap="square" rtlCol="0">
              <a:spAutoFit/>
            </a:bodyPr>
            <a:lstStyle/>
            <a:p>
              <a:pPr algn="dist"/>
              <a:r>
                <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p>
          </p:txBody>
        </p:sp>
      </p:grpSp>
    </p:spTree>
    <p:custDataLst>
      <p:tags r:id="rId1"/>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dur="500" fill="hold"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barn(inVertical)">
                                      <p:cBhvr>
                                        <p:cTn id="7"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0" name="文本框 13"/>
          <p:cNvSpPr txBox="1"/>
          <p:nvPr/>
        </p:nvSpPr>
        <p:spPr>
          <a:xfrm>
            <a:off x="4782820" y="484505"/>
            <a:ext cx="2626360" cy="701040"/>
          </a:xfrm>
          <a:prstGeom prst="rect">
            <a:avLst/>
          </a:prstGeom>
          <a:noFill/>
        </p:spPr>
        <p:txBody>
          <a:bodyPr wrap="square" rtlCol="0">
            <a:spAutoFit/>
          </a:bodyPr>
          <a:lstStyle/>
          <a:p>
            <a:pPr algn="ctr"/>
            <a:r>
              <a:rPr lang="zh-CN" altLang="en-US" sz="3600" dirty="0">
                <a:solidFill>
                  <a:srgbClr val="64BDBF"/>
                </a:solidFill>
                <a:latin typeface="Arial" panose="020B0604020202020204" pitchFamily="34" charset="0"/>
                <a:ea typeface="幼圆" panose="02010509060101010101" charset="-122"/>
                <a:cs typeface="思源黑体 CN Bold" panose="020B0800000000000000" charset="-122"/>
              </a:rPr>
              <a:t>规划</a:t>
            </a:r>
            <a:r>
              <a:rPr lang="zh-CN" altLang="en-US" sz="3600" dirty="0">
                <a:solidFill>
                  <a:srgbClr val="FA90A7"/>
                </a:solidFill>
                <a:latin typeface="Arial" panose="020B0604020202020204" pitchFamily="34" charset="0"/>
                <a:ea typeface="幼圆" panose="02010509060101010101" charset="-122"/>
                <a:cs typeface="思源黑体 CN Bold" panose="020B0800000000000000" charset="-122"/>
              </a:rPr>
              <a:t>方案</a:t>
            </a:r>
          </a:p>
        </p:txBody>
      </p:sp>
      <p:sp>
        <p:nvSpPr>
          <p:cNvPr id="1048851" name="文本框 12"/>
          <p:cNvSpPr txBox="1"/>
          <p:nvPr/>
        </p:nvSpPr>
        <p:spPr>
          <a:xfrm>
            <a:off x="4396740" y="1129665"/>
            <a:ext cx="3322320" cy="256539"/>
          </a:xfrm>
          <a:prstGeom prst="rect">
            <a:avLst/>
          </a:prstGeom>
          <a:noFill/>
        </p:spPr>
        <p:txBody>
          <a:bodyPr wrap="square" rtlCol="0">
            <a:spAutoFit/>
          </a:bodyPr>
          <a:lstStyle/>
          <a:p>
            <a:pPr algn="dist"/>
            <a:r>
              <a:rPr lang="zh-CN" altLang="en-US" sz="1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rPr>
              <a:t>PLANNING SCHEME</a:t>
            </a:r>
          </a:p>
        </p:txBody>
      </p:sp>
      <p:cxnSp>
        <p:nvCxnSpPr>
          <p:cNvPr id="3145755" name="直接连接符 1"/>
          <p:cNvCxnSpPr>
            <a:cxnSpLocks/>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145756" name="直接连接符 2"/>
          <p:cNvCxnSpPr>
            <a:cxnSpLocks/>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109" name="组合 3"/>
          <p:cNvGrpSpPr/>
          <p:nvPr/>
        </p:nvGrpSpPr>
        <p:grpSpPr>
          <a:xfrm>
            <a:off x="582930" y="1274445"/>
            <a:ext cx="10993120" cy="5322570"/>
            <a:chOff x="868" y="2272"/>
            <a:chExt cx="17312" cy="8382"/>
          </a:xfrm>
        </p:grpSpPr>
        <p:sp>
          <p:nvSpPr>
            <p:cNvPr id="1048852" name="矩形标注 4"/>
            <p:cNvSpPr/>
            <p:nvPr/>
          </p:nvSpPr>
          <p:spPr>
            <a:xfrm>
              <a:off x="920" y="5818"/>
              <a:ext cx="8532" cy="1022"/>
            </a:xfrm>
            <a:prstGeom prst="wedgeRectCallout">
              <a:avLst>
                <a:gd name="adj1" fmla="val -6450"/>
                <a:gd name="adj2" fmla="val 79125"/>
              </a:avLst>
            </a:prstGeom>
            <a:solidFill>
              <a:srgbClr val="64BDB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0" fontAlgn="base" hangingPunct="0">
                <a:spcBef>
                  <a:spcPct val="0"/>
                </a:spcBef>
                <a:spcAft>
                  <a:spcPct val="0"/>
                </a:spcAft>
              </a:pPr>
              <a:endParaRPr lang="zh-CN" altLang="en-US" dirty="0">
                <a:solidFill>
                  <a:schemeClr val="tx1">
                    <a:lumMod val="75000"/>
                    <a:lumOff val="25000"/>
                  </a:schemeClr>
                </a:solidFill>
                <a:cs typeface="+mn-ea"/>
                <a:sym typeface="+mn-lt"/>
              </a:endParaRPr>
            </a:p>
          </p:txBody>
        </p:sp>
        <p:sp>
          <p:nvSpPr>
            <p:cNvPr id="1048853" name="矩形标注 5"/>
            <p:cNvSpPr/>
            <p:nvPr/>
          </p:nvSpPr>
          <p:spPr>
            <a:xfrm flipV="1">
              <a:off x="9648" y="5768"/>
              <a:ext cx="8532" cy="1053"/>
            </a:xfrm>
            <a:prstGeom prst="wedgeRectCallout">
              <a:avLst>
                <a:gd name="adj1" fmla="val -6450"/>
                <a:gd name="adj2" fmla="val 79125"/>
              </a:avLst>
            </a:prstGeom>
            <a:solidFill>
              <a:srgbClr val="FA90A7"/>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0" fontAlgn="base" hangingPunct="0">
                <a:spcBef>
                  <a:spcPct val="0"/>
                </a:spcBef>
                <a:spcAft>
                  <a:spcPct val="0"/>
                </a:spcAft>
              </a:pPr>
              <a:endParaRPr lang="zh-CN" altLang="en-US">
                <a:solidFill>
                  <a:schemeClr val="tx1">
                    <a:lumMod val="75000"/>
                    <a:lumOff val="25000"/>
                  </a:schemeClr>
                </a:solidFill>
                <a:cs typeface="+mn-ea"/>
                <a:sym typeface="+mn-lt"/>
              </a:endParaRPr>
            </a:p>
          </p:txBody>
        </p:sp>
        <p:sp>
          <p:nvSpPr>
            <p:cNvPr id="1048856" name="文本框 8"/>
            <p:cNvSpPr txBox="1"/>
            <p:nvPr/>
          </p:nvSpPr>
          <p:spPr>
            <a:xfrm flipH="1">
              <a:off x="3013" y="6014"/>
              <a:ext cx="4469" cy="630"/>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ct val="0"/>
                </a:spcBef>
                <a:spcAft>
                  <a:spcPct val="0"/>
                </a:spcAft>
                <a:buClrTx/>
                <a:buSzTx/>
                <a:buFontTx/>
                <a:buNone/>
              </a:pPr>
              <a:r>
                <a:rPr lang="zh-CN" altLang="en-US" sz="2000" b="1" dirty="0">
                  <a:solidFill>
                    <a:schemeClr val="bg1"/>
                  </a:solidFill>
                  <a:latin typeface="Arial" panose="020B0604020202020204" pitchFamily="34" charset="0"/>
                  <a:ea typeface="幼圆" panose="02010509060101010101" charset="-122"/>
                  <a:cs typeface="思源宋体" panose="02020400000000000000" charset="-122"/>
                  <a:sym typeface="+mn-lt"/>
                </a:rPr>
                <a:t>短期规划（大学期间）</a:t>
              </a:r>
              <a:endParaRPr kumimoji="0" lang="en-US" altLang="zh-CN" sz="2000" b="1" i="0" u="none" strike="noStrike" kern="1200" cap="none" spc="0" normalizeH="0" baseline="0" noProof="0" dirty="0">
                <a:ln>
                  <a:noFill/>
                </a:ln>
                <a:solidFill>
                  <a:schemeClr val="bg1"/>
                </a:solidFill>
                <a:effectLst/>
                <a:uLnTx/>
                <a:uFillTx/>
                <a:latin typeface="Arial" panose="020B0604020202020204" pitchFamily="34" charset="0"/>
                <a:ea typeface="幼圆" panose="02010509060101010101" charset="-122"/>
                <a:cs typeface="思源宋体" panose="02020400000000000000" charset="-122"/>
                <a:sym typeface="+mn-lt"/>
              </a:endParaRPr>
            </a:p>
          </p:txBody>
        </p:sp>
        <p:sp>
          <p:nvSpPr>
            <p:cNvPr id="1048857" name="Docer Falling Dust PPT demo 13"/>
            <p:cNvSpPr txBox="1"/>
            <p:nvPr/>
          </p:nvSpPr>
          <p:spPr>
            <a:xfrm>
              <a:off x="9648" y="3198"/>
              <a:ext cx="8021" cy="2274"/>
            </a:xfrm>
            <a:prstGeom prst="rect">
              <a:avLst/>
            </a:prstGeom>
            <a:noFill/>
          </p:spPr>
          <p:txBody>
            <a:bodyPr wrap="square" lIns="94002" tIns="47001" rIns="94002" bIns="47001" rtlCol="0">
              <a:spAutoFit/>
            </a:bodyPr>
            <a:lstStyle/>
            <a:p>
              <a:pPr marL="0" indent="0" algn="l">
                <a:lnSpc>
                  <a:spcPct val="150000"/>
                </a:lnSpc>
                <a:spcBef>
                  <a:spcPct val="0"/>
                </a:spcBef>
                <a:spcAft>
                  <a:spcPct val="0"/>
                </a:spcAft>
                <a:buNone/>
              </a:pPr>
              <a:r>
                <a:rPr lang="zh-CN" altLang="zh-CN" sz="1200" dirty="0">
                  <a:solidFill>
                    <a:schemeClr val="tx1">
                      <a:lumMod val="75000"/>
                      <a:lumOff val="25000"/>
                    </a:schemeClr>
                  </a:solidFill>
                  <a:latin typeface="Arial" panose="020B0604020202020204" pitchFamily="34" charset="0"/>
                  <a:ea typeface="幼圆" panose="02010509060101010101" charset="-122"/>
                </a:rPr>
                <a:t>大学毕业后，在两年内取得注册会计师资格证并规划在毕业时考上公务员，针对当下公务员岗位精简，招收人数逐年减少，但是财会领域的招收人数以及岗位仍然占据公务员的大头，所以对于考取公务员和企事业单位，会计学专业有着很大的优势。我会尽力考编上岸，如愿为一名财会公务员，然后不断积累经验，成为一名高级会计师和为民为国的公职人员。</a:t>
              </a:r>
              <a:endParaRPr lang="zh-CN" altLang="en-US" sz="1200" dirty="0">
                <a:solidFill>
                  <a:schemeClr val="tx1">
                    <a:lumMod val="75000"/>
                    <a:lumOff val="25000"/>
                  </a:schemeClr>
                </a:solidFill>
                <a:latin typeface="Arial" panose="020B0604020202020204" pitchFamily="34" charset="0"/>
                <a:ea typeface="幼圆" panose="02010509060101010101" charset="-122"/>
                <a:sym typeface="+mn-ea"/>
              </a:endParaRPr>
            </a:p>
          </p:txBody>
        </p:sp>
        <p:sp>
          <p:nvSpPr>
            <p:cNvPr id="1048858" name="Docer Falling Dust PPT demo 12"/>
            <p:cNvSpPr txBox="1"/>
            <p:nvPr/>
          </p:nvSpPr>
          <p:spPr>
            <a:xfrm>
              <a:off x="9648" y="2272"/>
              <a:ext cx="8532" cy="1022"/>
            </a:xfrm>
            <a:prstGeom prst="rect">
              <a:avLst/>
            </a:prstGeom>
            <a:noFill/>
          </p:spPr>
          <p:txBody>
            <a:bodyPr wrap="square" lIns="94002" tIns="47001" rIns="94002" bIns="47001" rtlCol="0">
              <a:spAutoFit/>
            </a:bodyPr>
            <a:lstStyle/>
            <a:p>
              <a:r>
                <a:rPr lang="zh-CN" altLang="zh-CN" sz="1800" dirty="0">
                  <a:solidFill>
                    <a:schemeClr val="accent5">
                      <a:lumMod val="75000"/>
                    </a:schemeClr>
                  </a:solidFill>
                  <a:effectLst/>
                  <a:latin typeface="Cambria" panose="02040503050406030204" pitchFamily="18" charset="0"/>
                  <a:ea typeface="宋体" panose="02010600030101010101" pitchFamily="2" charset="-122"/>
                  <a:cs typeface="宋体" panose="02010600030101010101" pitchFamily="2" charset="-122"/>
                </a:rPr>
                <a:t>总目标：在毕业后考取应届公务员选调生，并取得注册会计师资格证。</a:t>
              </a:r>
              <a:endParaRPr lang="zh-CN" altLang="en-US" sz="2400" b="1" dirty="0">
                <a:solidFill>
                  <a:schemeClr val="accent5">
                    <a:lumMod val="75000"/>
                  </a:schemeClr>
                </a:solidFill>
                <a:latin typeface="Arial" panose="020B0604020202020204" pitchFamily="34" charset="0"/>
                <a:ea typeface="幼圆" panose="02010509060101010101" charset="-122"/>
                <a:cs typeface="思源宋体" panose="02020400000000000000" charset="-122"/>
              </a:endParaRPr>
            </a:p>
          </p:txBody>
        </p:sp>
        <p:sp>
          <p:nvSpPr>
            <p:cNvPr id="1048859" name="Docer Falling Dust PPT demo 13"/>
            <p:cNvSpPr txBox="1"/>
            <p:nvPr/>
          </p:nvSpPr>
          <p:spPr>
            <a:xfrm>
              <a:off x="903" y="8178"/>
              <a:ext cx="7624" cy="2476"/>
            </a:xfrm>
            <a:prstGeom prst="rect">
              <a:avLst/>
            </a:prstGeom>
            <a:noFill/>
          </p:spPr>
          <p:txBody>
            <a:bodyPr wrap="square" lIns="94002" tIns="47001" rIns="94002" bIns="47001" rtlCol="0">
              <a:spAutoFit/>
            </a:bodyPr>
            <a:lstStyle/>
            <a:p>
              <a:pPr>
                <a:spcBef>
                  <a:spcPts val="900"/>
                </a:spcBef>
                <a:spcAft>
                  <a:spcPts val="900"/>
                </a:spcAft>
              </a:pPr>
              <a:r>
                <a:rPr lang="zh-CN" altLang="zh-CN" sz="1200" dirty="0">
                  <a:solidFill>
                    <a:schemeClr val="tx1">
                      <a:lumMod val="75000"/>
                      <a:lumOff val="25000"/>
                    </a:schemeClr>
                  </a:solidFill>
                  <a:latin typeface="Arial" panose="020B0604020202020204" pitchFamily="34" charset="0"/>
                  <a:ea typeface="幼圆" panose="02010509060101010101" charset="-122"/>
                </a:rPr>
                <a:t>在大学期间，我会认真学习专业课和选修课，并取得一个不错的成绩，争取取得校奖学金和国家奖学金，不断丰富自己的履历。不断提高英语水平，在大一就把英语四级和六级英语证书考下来，并根据当下的就业情况，我在大学要系统的进行编程的学习，将编程，</a:t>
              </a:r>
              <a:r>
                <a:rPr lang="en-US" altLang="zh-CN" sz="1200" dirty="0">
                  <a:solidFill>
                    <a:schemeClr val="tx1">
                      <a:lumMod val="75000"/>
                      <a:lumOff val="25000"/>
                    </a:schemeClr>
                  </a:solidFill>
                  <a:latin typeface="Arial" panose="020B0604020202020204" pitchFamily="34" charset="0"/>
                  <a:ea typeface="幼圆" panose="02010509060101010101" charset="-122"/>
                </a:rPr>
                <a:t>ai</a:t>
              </a:r>
              <a:r>
                <a:rPr lang="zh-CN" altLang="zh-CN" sz="1200" dirty="0">
                  <a:solidFill>
                    <a:schemeClr val="tx1">
                      <a:lumMod val="75000"/>
                      <a:lumOff val="25000"/>
                    </a:schemeClr>
                  </a:solidFill>
                  <a:latin typeface="Arial" panose="020B0604020202020204" pitchFamily="34" charset="0"/>
                  <a:ea typeface="幼圆" panose="02010509060101010101" charset="-122"/>
                </a:rPr>
                <a:t>和会计学融合，并逐步取得初级会计师资格证，中级会计师，高级会计师资格证。在学习之余，我会参加各种社会实践活动和创新创业活动，不断提升和锻炼自我，提前适应就业环境，并不断积累自己的人脉，日后成为自己的助力。</a:t>
              </a:r>
            </a:p>
          </p:txBody>
        </p:sp>
        <p:sp>
          <p:nvSpPr>
            <p:cNvPr id="1048860" name="Docer Falling Dust PPT demo 12"/>
            <p:cNvSpPr txBox="1"/>
            <p:nvPr/>
          </p:nvSpPr>
          <p:spPr>
            <a:xfrm>
              <a:off x="868" y="7156"/>
              <a:ext cx="8532" cy="1022"/>
            </a:xfrm>
            <a:prstGeom prst="rect">
              <a:avLst/>
            </a:prstGeom>
            <a:noFill/>
          </p:spPr>
          <p:txBody>
            <a:bodyPr wrap="square" lIns="94002" tIns="47001" rIns="94002" bIns="47001" rtlCol="0">
              <a:spAutoFit/>
            </a:bodyPr>
            <a:lstStyle/>
            <a:p>
              <a:r>
                <a:rPr lang="zh-CN" altLang="zh-CN" sz="1800" dirty="0">
                  <a:solidFill>
                    <a:schemeClr val="accent3">
                      <a:lumMod val="75000"/>
                    </a:schemeClr>
                  </a:solidFill>
                  <a:effectLst/>
                  <a:latin typeface="Cambria" panose="02040503050406030204" pitchFamily="18" charset="0"/>
                  <a:ea typeface="宋体" panose="02010600030101010101" pitchFamily="2" charset="-122"/>
                  <a:cs typeface="宋体" panose="02010600030101010101" pitchFamily="2" charset="-122"/>
                </a:rPr>
                <a:t>总目标：完成大学学习任务，顺利去的毕业证和学位证书，不断提高自身人际交往能力和专业能力。</a:t>
              </a:r>
              <a:r>
                <a:rPr lang="en-US" altLang="zh-CN" sz="1800" dirty="0">
                  <a:solidFill>
                    <a:schemeClr val="accent3">
                      <a:lumMod val="75000"/>
                    </a:schemeClr>
                  </a:solidFill>
                  <a:effectLst/>
                  <a:latin typeface="Cambria" panose="02040503050406030204" pitchFamily="18" charset="0"/>
                  <a:ea typeface="宋体" panose="02010600030101010101" pitchFamily="2" charset="-122"/>
                  <a:cs typeface="宋体" panose="02010600030101010101" pitchFamily="2" charset="-122"/>
                </a:rPr>
                <a:t> </a:t>
              </a:r>
              <a:endParaRPr lang="zh-CN" altLang="en-US" sz="2400" b="1" dirty="0">
                <a:solidFill>
                  <a:schemeClr val="accent3">
                    <a:lumMod val="75000"/>
                  </a:schemeClr>
                </a:solidFill>
                <a:latin typeface="Arial" panose="020B0604020202020204" pitchFamily="34" charset="0"/>
                <a:ea typeface="幼圆" panose="02010509060101010101" charset="-122"/>
                <a:cs typeface="思源宋体" panose="02020400000000000000" charset="-122"/>
              </a:endParaRPr>
            </a:p>
          </p:txBody>
        </p:sp>
        <p:sp>
          <p:nvSpPr>
            <p:cNvPr id="1048861" name="Docer Falling Dust PPT demo 13"/>
            <p:cNvSpPr txBox="1"/>
            <p:nvPr/>
          </p:nvSpPr>
          <p:spPr>
            <a:xfrm>
              <a:off x="9553" y="7649"/>
              <a:ext cx="4496" cy="532"/>
            </a:xfrm>
            <a:prstGeom prst="rect">
              <a:avLst/>
            </a:prstGeom>
            <a:noFill/>
          </p:spPr>
          <p:txBody>
            <a:bodyPr wrap="square" lIns="94002" tIns="47001" rIns="94002" bIns="47001" rtlCol="0">
              <a:spAutoFit/>
            </a:bodyPr>
            <a:lstStyle/>
            <a:p>
              <a:pPr marL="0" indent="0" algn="l">
                <a:lnSpc>
                  <a:spcPct val="150000"/>
                </a:lnSpc>
                <a:spcBef>
                  <a:spcPct val="0"/>
                </a:spcBef>
                <a:spcAft>
                  <a:spcPct val="0"/>
                </a:spcAft>
                <a:buNone/>
              </a:pPr>
              <a:endParaRPr lang="zh-CN" altLang="en-US" sz="12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862" name="Docer Falling Dust PPT demo 12"/>
            <p:cNvSpPr txBox="1"/>
            <p:nvPr/>
          </p:nvSpPr>
          <p:spPr>
            <a:xfrm>
              <a:off x="8992" y="9399"/>
              <a:ext cx="299" cy="731"/>
            </a:xfrm>
            <a:prstGeom prst="rect">
              <a:avLst/>
            </a:prstGeom>
            <a:noFill/>
          </p:spPr>
          <p:txBody>
            <a:bodyPr wrap="none" lIns="94002" tIns="47001" rIns="94002" bIns="47001" rtlCol="0">
              <a:spAutoFit/>
            </a:bodyPr>
            <a:lstStyle/>
            <a:p>
              <a:endParaRPr lang="zh-CN" altLang="en-US" sz="24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grpSp>
      <p:sp>
        <p:nvSpPr>
          <p:cNvPr id="1048867" name="文本框 32"/>
          <p:cNvSpPr txBox="1"/>
          <p:nvPr/>
        </p:nvSpPr>
        <p:spPr>
          <a:xfrm flipH="1">
            <a:off x="7525385" y="3648836"/>
            <a:ext cx="2882349" cy="400110"/>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ct val="0"/>
              </a:spcBef>
              <a:spcAft>
                <a:spcPct val="0"/>
              </a:spcAft>
              <a:buClrTx/>
              <a:buSzTx/>
              <a:buFontTx/>
              <a:buNone/>
            </a:pPr>
            <a:r>
              <a:rPr lang="zh-CN" altLang="en-US" sz="2000" b="1" dirty="0">
                <a:solidFill>
                  <a:schemeClr val="bg1"/>
                </a:solidFill>
                <a:latin typeface="Arial" panose="020B0604020202020204" pitchFamily="34" charset="0"/>
                <a:ea typeface="幼圆" panose="02010509060101010101" charset="-122"/>
                <a:cs typeface="思源宋体" panose="02020400000000000000" charset="-122"/>
                <a:sym typeface="+mn-lt"/>
              </a:rPr>
              <a:t>长期规划（大学毕业）</a:t>
            </a:r>
            <a:endParaRPr kumimoji="0" lang="en-US" altLang="zh-CN" sz="2000" b="1" i="0" u="none" strike="noStrike" kern="1200" cap="none" spc="0" normalizeH="0" baseline="0" noProof="0" dirty="0">
              <a:ln>
                <a:noFill/>
              </a:ln>
              <a:solidFill>
                <a:schemeClr val="bg1"/>
              </a:solidFill>
              <a:effectLst/>
              <a:uLnTx/>
              <a:uFillTx/>
              <a:latin typeface="Arial" panose="020B0604020202020204" pitchFamily="34" charset="0"/>
              <a:ea typeface="幼圆" panose="02010509060101010101" charset="-122"/>
              <a:cs typeface="思源宋体" panose="02020400000000000000" charset="-122"/>
              <a:sym typeface="+mn-lt"/>
            </a:endParaRPr>
          </a:p>
        </p:txBody>
      </p:sp>
      <p:sp>
        <p:nvSpPr>
          <p:cNvPr id="1048868"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ustDataLst>
      <p:tags r:id="rId1"/>
    </p:custDataLst>
  </p:cSld>
  <p:clrMapOvr>
    <a:masterClrMapping/>
  </p:clrMapOvr>
  <p:transition advTm="2000">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500" fill="hold" nodeType="after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wipe(left)">
                                      <p:cBhvr>
                                        <p:cTn id="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 name="组合 1"/>
          <p:cNvGrpSpPr/>
          <p:nvPr/>
        </p:nvGrpSpPr>
        <p:grpSpPr>
          <a:xfrm>
            <a:off x="0" y="635"/>
            <a:ext cx="12192635" cy="6854190"/>
            <a:chOff x="0" y="1"/>
            <a:chExt cx="19201" cy="10794"/>
          </a:xfrm>
        </p:grpSpPr>
        <p:pic>
          <p:nvPicPr>
            <p:cNvPr id="2097176" name="图片 5" descr="浅色柔色"/>
            <p:cNvPicPr>
              <a:picLocks noChangeAspect="1"/>
            </p:cNvPicPr>
            <p:nvPr/>
          </p:nvPicPr>
          <p:blipFill>
            <a:blip r:embed="rId3"/>
            <a:stretch>
              <a:fillRect/>
            </a:stretch>
          </p:blipFill>
          <p:spPr>
            <a:xfrm rot="16200000">
              <a:off x="4204" y="-4203"/>
              <a:ext cx="10794" cy="19201"/>
            </a:xfrm>
            <a:prstGeom prst="rect">
              <a:avLst/>
            </a:prstGeom>
          </p:spPr>
        </p:pic>
        <p:sp>
          <p:nvSpPr>
            <p:cNvPr id="1048871" name="文本框 13"/>
            <p:cNvSpPr txBox="1"/>
            <p:nvPr/>
          </p:nvSpPr>
          <p:spPr>
            <a:xfrm>
              <a:off x="2892" y="3797"/>
              <a:ext cx="13634" cy="1585"/>
            </a:xfrm>
            <a:prstGeom prst="rect">
              <a:avLst/>
            </a:prstGeom>
            <a:noFill/>
          </p:spPr>
          <p:txBody>
            <a:bodyPr wrap="square" rtlCol="0">
              <a:spAutoFit/>
            </a:bodyPr>
            <a:lstStyle/>
            <a:p>
              <a:pPr algn="ctr"/>
              <a:r>
                <a:rPr lang="zh-CN" altLang="en-US" sz="7200" dirty="0">
                  <a:solidFill>
                    <a:schemeClr val="tx1">
                      <a:lumMod val="85000"/>
                      <a:lumOff val="15000"/>
                    </a:schemeClr>
                  </a:solidFill>
                  <a:latin typeface="印品灵秀体（非商用）" panose="02000000000000000000" pitchFamily="2" charset="-122"/>
                  <a:ea typeface="印品灵秀体（非商用）" panose="02000000000000000000" pitchFamily="2" charset="-122"/>
                  <a:cs typeface="思源黑体 CN Bold" panose="020B0800000000000000" charset="-122"/>
                </a:rPr>
                <a:t>谢谢您的观赏聆听</a:t>
              </a:r>
            </a:p>
          </p:txBody>
        </p:sp>
        <p:sp>
          <p:nvSpPr>
            <p:cNvPr id="1048872" name="文本框 12"/>
            <p:cNvSpPr txBox="1"/>
            <p:nvPr/>
          </p:nvSpPr>
          <p:spPr>
            <a:xfrm>
              <a:off x="5734" y="2781"/>
              <a:ext cx="7238" cy="864"/>
            </a:xfrm>
            <a:prstGeom prst="rect">
              <a:avLst/>
            </a:prstGeom>
            <a:noFill/>
          </p:spPr>
          <p:txBody>
            <a:bodyPr wrap="square" rtlCol="0">
              <a:spAutoFit/>
            </a:bodyPr>
            <a:lstStyle/>
            <a:p>
              <a:pPr algn="dist"/>
              <a:r>
                <a:rPr lang="en-US" altLang="zh-CN" sz="3600" dirty="0">
                  <a:solidFill>
                    <a:srgbClr val="64BDBF"/>
                  </a:solidFill>
                  <a:latin typeface="Arial" panose="020B0604020202020204" pitchFamily="34" charset="0"/>
                  <a:ea typeface="幼圆" panose="02010509060101010101" charset="-122"/>
                  <a:cs typeface="思源宋体" panose="02020400000000000000" charset="-122"/>
                </a:rPr>
                <a:t>THANK</a:t>
              </a:r>
              <a:r>
                <a:rPr lang="en-US" altLang="zh-CN" sz="3600" dirty="0">
                  <a:solidFill>
                    <a:srgbClr val="ECC1D5"/>
                  </a:solidFill>
                  <a:latin typeface="Arial" panose="020B0604020202020204" pitchFamily="34" charset="0"/>
                  <a:ea typeface="幼圆" panose="02010509060101010101" charset="-122"/>
                  <a:cs typeface="思源宋体" panose="02020400000000000000" charset="-122"/>
                </a:rPr>
                <a:t> YOU </a:t>
              </a:r>
              <a:endParaRPr lang="en-US" altLang="zh-CN" sz="3600" dirty="0">
                <a:solidFill>
                  <a:srgbClr val="64BDBF"/>
                </a:solidFill>
                <a:latin typeface="Arial" panose="020B0604020202020204" pitchFamily="34" charset="0"/>
                <a:ea typeface="幼圆" panose="02010509060101010101" charset="-122"/>
                <a:cs typeface="思源宋体" panose="02020400000000000000" charset="-122"/>
              </a:endParaRPr>
            </a:p>
          </p:txBody>
        </p:sp>
        <p:sp>
          <p:nvSpPr>
            <p:cNvPr id="1048873" name="文本框 17"/>
            <p:cNvSpPr txBox="1"/>
            <p:nvPr/>
          </p:nvSpPr>
          <p:spPr>
            <a:xfrm>
              <a:off x="2890" y="5685"/>
              <a:ext cx="13634" cy="2055"/>
            </a:xfrm>
            <a:prstGeom prst="rect">
              <a:avLst/>
            </a:prstGeom>
            <a:noFill/>
          </p:spPr>
          <p:txBody>
            <a:bodyPr wrap="square" rtlCol="0">
              <a:spAutoFit/>
            </a:bodyPr>
            <a:lstStyle/>
            <a:p>
              <a:pPr algn="ctr">
                <a:lnSpc>
                  <a:spcPct val="150000"/>
                </a:lnSpc>
                <a:spcBef>
                  <a:spcPct val="0"/>
                </a:spcBef>
                <a:spcAft>
                  <a:spcPct val="0"/>
                </a:spcAft>
              </a:pPr>
              <a:r>
                <a:rPr lang="zh-CN" altLang="zh-CN" sz="1400" dirty="0">
                  <a:effectLst/>
                  <a:latin typeface="华文楷体" panose="02010600040101010101" pitchFamily="2" charset="-122"/>
                  <a:ea typeface="华文楷体" panose="02010600040101010101" pitchFamily="2" charset="-122"/>
                  <a:cs typeface="宋体" panose="02010600030101010101" pitchFamily="2" charset="-122"/>
                </a:rPr>
                <a:t>人不可以没有理想，也不可以没有目标。良好的开端是成功的一半。现在完成根据我目前实际情况的职业生涯规划书，不仅为我的生活学习更加明确的明标，也为我今后的就业准备了不可缺少的一份指导方案。我希望自己在工作方面做得出色，敬重自己的岗位，对自己负责，对国家负责，对社会负责。</a:t>
              </a:r>
            </a:p>
            <a:p>
              <a:pPr algn="ctr">
                <a:lnSpc>
                  <a:spcPct val="150000"/>
                </a:lnSpc>
                <a:spcBef>
                  <a:spcPct val="0"/>
                </a:spcBef>
                <a:spcAft>
                  <a:spcPct val="0"/>
                </a:spcAft>
              </a:pPr>
              <a:endParaRPr lang="en-US" altLang="en-US" sz="12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048874" name="文本框 16"/>
            <p:cNvSpPr txBox="1"/>
            <p:nvPr/>
          </p:nvSpPr>
          <p:spPr>
            <a:xfrm>
              <a:off x="17134" y="2704"/>
              <a:ext cx="506" cy="5387"/>
            </a:xfrm>
            <a:prstGeom prst="rect">
              <a:avLst/>
            </a:prstGeom>
            <a:noFill/>
          </p:spPr>
          <p:txBody>
            <a:bodyPr vert="eaVert" wrap="square" rtlCol="0">
              <a:spAutoFit/>
            </a:bodyPr>
            <a:lstStyle/>
            <a:p>
              <a:pPr algn="dist"/>
              <a:r>
                <a:rPr lang="en-US" altLang="zh-CN" sz="900">
                  <a:solidFill>
                    <a:srgbClr val="ECC1D5"/>
                  </a:solidFill>
                  <a:latin typeface="Arial" panose="020B0604020202020204" pitchFamily="34" charset="0"/>
                  <a:ea typeface="幼圆" panose="02010509060101010101" charset="-122"/>
                  <a:cs typeface="思源宋体" panose="02020400000000000000" charset="-122"/>
                  <a:sym typeface="+mn-ea"/>
                </a:rPr>
                <a:t>www.58.pic.com</a:t>
              </a:r>
            </a:p>
          </p:txBody>
        </p:sp>
      </p:grpSp>
    </p:spTree>
    <p:custDataLst>
      <p:tags r:id="rId1"/>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6" dur="500" fill="hold" nodeType="after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barn(inHorizontal)">
                                      <p:cBhvr>
                                        <p:cTn id="7"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第一PPT，www.1ppt.com">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思源宋体"/>
        <a:ea typeface="思源宋体"/>
        <a:cs typeface="Arial"/>
      </a:majorFont>
      <a:minorFont>
        <a:latin typeface="思源宋体"/>
        <a:ea typeface="思源宋体"/>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思源宋体"/>
        <a:cs typeface="Arial"/>
        <a:font script="Jpan" typeface="ＭＳ Ｐゴシック"/>
        <a:font script="Hang" typeface="맑은 고딕"/>
        <a:font script="Hans" typeface="思源宋体"/>
        <a:font script="Hant" typeface="新細明體"/>
        <a:font script="Arab" typeface="思源宋体"/>
        <a:font script="Hebr" typeface="思源宋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思源宋体"/>
        <a:cs typeface="Arial"/>
        <a:font script="Jpan" typeface="ＭＳ Ｐゴシック"/>
        <a:font script="Hang" typeface="맑은 고딕"/>
        <a:font script="Hans" typeface="思源宋体"/>
        <a:font script="Hant" typeface="新細明體"/>
        <a:font script="Arab" typeface="思源宋体"/>
        <a:font script="Hebr" typeface="思源宋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1288</Words>
  <Application>Microsoft Office PowerPoint</Application>
  <PresentationFormat>宽屏</PresentationFormat>
  <Paragraphs>87</Paragraphs>
  <Slides>12</Slides>
  <Notes>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vt:i4>
      </vt:variant>
    </vt:vector>
  </HeadingPairs>
  <TitlesOfParts>
    <vt:vector size="23" baseType="lpstr">
      <vt:lpstr>-apple-system</vt:lpstr>
      <vt:lpstr>华文楷体</vt:lpstr>
      <vt:lpstr>思源宋体</vt:lpstr>
      <vt:lpstr>微软雅黑</vt:lpstr>
      <vt:lpstr>印品灵秀体（非商用）</vt:lpstr>
      <vt:lpstr>字魂35号-经典雅黑</vt:lpstr>
      <vt:lpstr>Arial</vt:lpstr>
      <vt:lpstr>Cambria</vt:lpstr>
      <vt:lpstr>Wingdings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职业规划</dc:title>
  <dc:creator>第一PPT</dc:creator>
  <cp:lastModifiedBy>著星 梁</cp:lastModifiedBy>
  <cp:revision>2</cp:revision>
  <dcterms:created xsi:type="dcterms:W3CDTF">2019-06-14T10:08:00Z</dcterms:created>
  <dcterms:modified xsi:type="dcterms:W3CDTF">2024-10-24T02:35:51Z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ab740054d1e6414b8e9f4045566c82f1_23</vt:lpwstr>
  </property>
  <property fmtid="{D5CDD505-2E9C-101B-9397-08002B2CF9AE}" pid="3" name="KSOProductBuildVer">
    <vt:lpwstr>2052-12.1.0.17147</vt:lpwstr>
  </property>
  <property fmtid="{D5CDD505-2E9C-101B-9397-08002B2CF9AE}" pid="4" name="KSOSaveFontToCloudKey">
    <vt:lpwstr>212913176_cloud</vt:lpwstr>
  </property>
</Properties>
</file>